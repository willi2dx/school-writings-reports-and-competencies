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FF0000"/>
    <a:srgbClr val="745D00"/>
    <a:srgbClr val="FFF5CC"/>
    <a:srgbClr val="0070C0"/>
    <a:srgbClr val="006298"/>
    <a:srgbClr val="004A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67" autoAdjust="0"/>
    <p:restoredTop sz="94687" autoAdjust="0"/>
  </p:normalViewPr>
  <p:slideViewPr>
    <p:cSldViewPr snapToGrid="0">
      <p:cViewPr varScale="1">
        <p:scale>
          <a:sx n="79" d="100"/>
          <a:sy n="79" d="100"/>
        </p:scale>
        <p:origin x="108" y="3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2125663"/>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724400" y="3589338"/>
            <a:ext cx="2743200" cy="731520"/>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270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3310516"/>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6800" y="2249929"/>
            <a:ext cx="10058400" cy="731520"/>
          </a:xfrm>
        </p:spPr>
        <p:txBody>
          <a:bodyPr anchor="ctr">
            <a:noAutofit/>
          </a:bodyPr>
          <a:lstStyle>
            <a:lvl1pPr marL="0" indent="0" algn="ctr">
              <a:buNone/>
              <a:defRPr sz="5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rm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675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4043966" y="3671128"/>
            <a:ext cx="7309834" cy="914400"/>
          </a:xfrm>
        </p:spPr>
        <p:txBody>
          <a:bodyPr anchor="ctr">
            <a:noAutofit/>
          </a:bodyPr>
          <a:lstStyle>
            <a:lvl1pPr algn="l">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043966" y="2597660"/>
            <a:ext cx="3515933" cy="731520"/>
          </a:xfrm>
        </p:spPr>
        <p:txBody>
          <a:bodyPr anchor="ctr">
            <a:no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
        <p:nvSpPr>
          <p:cNvPr id="5" name="Content Placeholder 4"/>
          <p:cNvSpPr>
            <a:spLocks noGrp="1"/>
          </p:cNvSpPr>
          <p:nvPr>
            <p:ph sz="quarter" idx="11" hasCustomPrompt="1"/>
          </p:nvPr>
        </p:nvSpPr>
        <p:spPr>
          <a:xfrm>
            <a:off x="245144" y="231774"/>
            <a:ext cx="3346704" cy="4315968"/>
          </a:xfrm>
        </p:spPr>
        <p:txBody>
          <a:bodyPr>
            <a:noAutofit/>
          </a:bodyPr>
          <a:lstStyle>
            <a:lvl1pPr marL="0" indent="0">
              <a:buNone/>
              <a:defRPr/>
            </a:lvl1pPr>
          </a:lstStyle>
          <a:p>
            <a:pPr lvl="0"/>
            <a:r>
              <a:rPr lang="en-US" dirty="0"/>
              <a:t>Add picture here</a:t>
            </a:r>
          </a:p>
        </p:txBody>
      </p:sp>
    </p:spTree>
    <p:extLst>
      <p:ext uri="{BB962C8B-B14F-4D97-AF65-F5344CB8AC3E}">
        <p14:creationId xmlns:p14="http://schemas.microsoft.com/office/powerpoint/2010/main" val="265707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515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3806822"/>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97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2543597"/>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3769569"/>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838200" y="4995542"/>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25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1097280"/>
          </a:xfrm>
        </p:spPr>
        <p:txBody>
          <a:bodyPr>
            <a:noAutofit/>
          </a:bodyPr>
          <a:lstStyle>
            <a:lvl1pPr marL="365760" indent="-365760">
              <a:defRPr/>
            </a:lvl1pPr>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63246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3"/>
          </p:nvPr>
        </p:nvSpPr>
        <p:spPr>
          <a:xfrm>
            <a:off x="8382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63246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5"/>
          </p:nvPr>
        </p:nvSpPr>
        <p:spPr>
          <a:xfrm>
            <a:off x="8382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6"/>
          </p:nvPr>
        </p:nvSpPr>
        <p:spPr>
          <a:xfrm>
            <a:off x="63246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927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p:nvPr>
        </p:nvSpPr>
        <p:spPr>
          <a:xfrm>
            <a:off x="838200" y="2126360"/>
            <a:ext cx="10515600" cy="731520"/>
          </a:xfrm>
        </p:spPr>
        <p:txBody>
          <a:bodyPr>
            <a:noAutofit/>
          </a:bodyPr>
          <a:lstStyle>
            <a:lvl1pPr marL="228600" indent="-228600">
              <a:defRPr lang="en-US" sz="28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6" name="Content Placeholder 2"/>
          <p:cNvSpPr>
            <a:spLocks noGrp="1"/>
          </p:cNvSpPr>
          <p:nvPr>
            <p:ph idx="11"/>
          </p:nvPr>
        </p:nvSpPr>
        <p:spPr>
          <a:xfrm>
            <a:off x="838200" y="293509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7" name="Content Placeholder 2"/>
          <p:cNvSpPr>
            <a:spLocks noGrp="1"/>
          </p:cNvSpPr>
          <p:nvPr>
            <p:ph idx="12"/>
          </p:nvPr>
        </p:nvSpPr>
        <p:spPr>
          <a:xfrm>
            <a:off x="838200" y="3743830"/>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9" name="Content Placeholder 2"/>
          <p:cNvSpPr>
            <a:spLocks noGrp="1"/>
          </p:cNvSpPr>
          <p:nvPr>
            <p:ph idx="13"/>
          </p:nvPr>
        </p:nvSpPr>
        <p:spPr>
          <a:xfrm>
            <a:off x="838200" y="455256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0" name="Content Placeholder 2"/>
          <p:cNvSpPr>
            <a:spLocks noGrp="1"/>
          </p:cNvSpPr>
          <p:nvPr>
            <p:ph idx="14"/>
          </p:nvPr>
        </p:nvSpPr>
        <p:spPr>
          <a:xfrm>
            <a:off x="838200" y="5361302"/>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19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0736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548640"/>
          </a:xfrm>
        </p:spPr>
        <p:txBody>
          <a:bodyPr>
            <a:noAutofit/>
          </a:bodyPr>
          <a:lstStyle>
            <a:lvl1pPr marL="0" indent="0" algn="ctr">
              <a:buNone/>
              <a:defRPr sz="28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6324600" y="1317625"/>
            <a:ext cx="5029200" cy="548640"/>
          </a:xfrm>
        </p:spPr>
        <p:txBody>
          <a:bodyPr>
            <a:noAutofit/>
          </a:bodyPr>
          <a:lstStyle>
            <a:lvl1pPr marL="0" indent="0" algn="ctr">
              <a:buNone/>
              <a:defRPr sz="28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63246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897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hasCustomPrompt="1"/>
          </p:nvPr>
        </p:nvSpPr>
        <p:spPr>
          <a:xfrm>
            <a:off x="838200" y="1317625"/>
            <a:ext cx="10515600" cy="548640"/>
          </a:xfrm>
        </p:spPr>
        <p:txBody>
          <a:bodyPr>
            <a:noAutofit/>
          </a:bodyPr>
          <a:lstStyle>
            <a:lvl1pPr marL="0" indent="0" algn="l">
              <a:buNone/>
              <a:defRPr sz="2800" b="1">
                <a:solidFill>
                  <a:srgbClr val="006298"/>
                </a:solidFill>
              </a:defRPr>
            </a:lvl1pPr>
          </a:lstStyle>
          <a:p>
            <a:pPr lvl="0"/>
            <a:r>
              <a:rPr lang="en-US" dirty="0"/>
              <a:t>Section Header</a:t>
            </a:r>
          </a:p>
        </p:txBody>
      </p:sp>
      <p:sp>
        <p:nvSpPr>
          <p:cNvPr id="5" name="Content Placeholder 2"/>
          <p:cNvSpPr>
            <a:spLocks noGrp="1"/>
          </p:cNvSpPr>
          <p:nvPr>
            <p:ph idx="10"/>
          </p:nvPr>
        </p:nvSpPr>
        <p:spPr>
          <a:xfrm>
            <a:off x="838200" y="198818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hasCustomPrompt="1"/>
          </p:nvPr>
        </p:nvSpPr>
        <p:spPr>
          <a:xfrm>
            <a:off x="838200" y="3872137"/>
            <a:ext cx="10515600" cy="548640"/>
          </a:xfrm>
        </p:spPr>
        <p:txBody>
          <a:bodyPr>
            <a:noAutofit/>
          </a:bodyPr>
          <a:lstStyle>
            <a:lvl1pPr marL="0" indent="0" algn="l">
              <a:buNone/>
              <a:defRPr sz="2800" b="1">
                <a:solidFill>
                  <a:srgbClr val="006298"/>
                </a:solidFill>
              </a:defRPr>
            </a:lvl1pPr>
            <a:lvl2pPr>
              <a:defRPr sz="2400"/>
            </a:lvl2pPr>
            <a:lvl3pPr>
              <a:defRPr sz="2000"/>
            </a:lvl3pPr>
            <a:lvl4pPr>
              <a:defRPr sz="1800"/>
            </a:lvl4pPr>
            <a:lvl5pPr>
              <a:defRPr sz="1800"/>
            </a:lvl5pPr>
          </a:lstStyle>
          <a:p>
            <a:pPr lvl="0"/>
            <a:r>
              <a:rPr lang="en-US" dirty="0"/>
              <a:t>Section Header</a:t>
            </a:r>
          </a:p>
        </p:txBody>
      </p:sp>
      <p:sp>
        <p:nvSpPr>
          <p:cNvPr id="7" name="Content Placeholder 2"/>
          <p:cNvSpPr>
            <a:spLocks noGrp="1"/>
          </p:cNvSpPr>
          <p:nvPr>
            <p:ph idx="12"/>
          </p:nvPr>
        </p:nvSpPr>
        <p:spPr>
          <a:xfrm>
            <a:off x="838200" y="451802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34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3300984" cy="548640"/>
          </a:xfrm>
        </p:spPr>
        <p:txBody>
          <a:bodyPr>
            <a:noAutofit/>
          </a:bodyPr>
          <a:lstStyle>
            <a:lvl1pPr marL="0" indent="0" algn="ctr">
              <a:buNone/>
              <a:defRPr sz="20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4445508" y="1317625"/>
            <a:ext cx="3300984" cy="548640"/>
          </a:xfrm>
        </p:spPr>
        <p:txBody>
          <a:bodyPr>
            <a:noAutofit/>
          </a:bodyPr>
          <a:lstStyle>
            <a:lvl1pPr marL="0" indent="0" algn="ctr">
              <a:buNone/>
              <a:defRPr sz="20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4445508"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052816" y="1317625"/>
            <a:ext cx="3300984" cy="548640"/>
          </a:xfrm>
        </p:spPr>
        <p:txBody>
          <a:bodyPr>
            <a:noAutofit/>
          </a:bodyPr>
          <a:lstStyle>
            <a:lvl1pPr marL="0" indent="0" algn="ctr">
              <a:buNone/>
              <a:defRPr sz="2000" b="1">
                <a:solidFill>
                  <a:srgbClr val="006298"/>
                </a:solidFill>
              </a:defRPr>
            </a:lvl1pPr>
            <a:lvl2pPr>
              <a:defRPr sz="1800"/>
            </a:lvl2pPr>
            <a:lvl3pPr>
              <a:defRPr sz="1600"/>
            </a:lvl3pPr>
            <a:lvl4pPr>
              <a:defRPr sz="1400"/>
            </a:lvl4pPr>
            <a:lvl5pPr>
              <a:defRPr sz="1400"/>
            </a:lvl5pPr>
          </a:lstStyle>
          <a:p>
            <a:pPr lvl="0"/>
            <a:r>
              <a:rPr lang="en-US"/>
              <a:t>Edit Master text styles</a:t>
            </a:r>
          </a:p>
        </p:txBody>
      </p:sp>
      <p:sp>
        <p:nvSpPr>
          <p:cNvPr id="10" name="Content Placeholder 2"/>
          <p:cNvSpPr>
            <a:spLocks noGrp="1"/>
          </p:cNvSpPr>
          <p:nvPr>
            <p:ph idx="14"/>
          </p:nvPr>
        </p:nvSpPr>
        <p:spPr>
          <a:xfrm>
            <a:off x="8052816"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07345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4"/>
            <a:ext cx="10515600" cy="3399519"/>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hasCustomPrompt="1"/>
          </p:nvPr>
        </p:nvSpPr>
        <p:spPr>
          <a:xfrm>
            <a:off x="838200" y="5138056"/>
            <a:ext cx="10515600" cy="954765"/>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068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5" name="Content Placeholder 2"/>
          <p:cNvSpPr>
            <a:spLocks noGrp="1"/>
          </p:cNvSpPr>
          <p:nvPr>
            <p:ph idx="10" hasCustomPrompt="1"/>
          </p:nvPr>
        </p:nvSpPr>
        <p:spPr>
          <a:xfrm>
            <a:off x="7358743" y="4484914"/>
            <a:ext cx="3995056" cy="1607907"/>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Picture Placeholder 5"/>
          <p:cNvSpPr>
            <a:spLocks noGrp="1"/>
          </p:cNvSpPr>
          <p:nvPr>
            <p:ph type="pic" sz="quarter" idx="11"/>
          </p:nvPr>
        </p:nvSpPr>
        <p:spPr>
          <a:xfrm>
            <a:off x="838199" y="1538514"/>
            <a:ext cx="6201229" cy="4554311"/>
          </a:xfrm>
        </p:spPr>
        <p:txBody>
          <a:bodyPr>
            <a:noAutofit/>
          </a:bodyPr>
          <a:lstStyle>
            <a:lvl1pPr marL="0" indent="0">
              <a:buNone/>
              <a:defRPr/>
            </a:lvl1pPr>
          </a:lstStyle>
          <a:p>
            <a:r>
              <a:rPr lang="en-US" dirty="0"/>
              <a:t>Click icon to add picture</a:t>
            </a:r>
          </a:p>
        </p:txBody>
      </p:sp>
      <p:sp>
        <p:nvSpPr>
          <p:cNvPr id="7"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00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17625"/>
            <a:ext cx="10515600" cy="475488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1015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65" r:id="rId6"/>
    <p:sldLayoutId id="2147483667" r:id="rId7"/>
    <p:sldLayoutId id="2147483666" r:id="rId8"/>
    <p:sldLayoutId id="2147483663" r:id="rId9"/>
    <p:sldLayoutId id="2147483664" r:id="rId10"/>
    <p:sldLayoutId id="2147483668" r:id="rId11"/>
    <p:sldLayoutId id="2147483669" r:id="rId12"/>
    <p:sldLayoutId id="2147483670" r:id="rId13"/>
    <p:sldLayoutId id="2147483671" r:id="rId14"/>
  </p:sldLayoutIdLst>
  <p:txStyles>
    <p:titleStyle>
      <a:lvl1pPr algn="ctr" defTabSz="914400" rtl="0" eaLnBrk="1" latinLnBrk="0" hangingPunct="1">
        <a:lnSpc>
          <a:spcPct val="90000"/>
        </a:lnSpc>
        <a:spcBef>
          <a:spcPct val="0"/>
        </a:spcBef>
        <a:buNone/>
        <a:defRPr sz="3400" b="1" kern="1200">
          <a:solidFill>
            <a:srgbClr val="004A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spcAft>
          <a:spcPts val="6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Cost of Capital</a:t>
            </a:r>
          </a:p>
        </p:txBody>
      </p:sp>
      <p:sp>
        <p:nvSpPr>
          <p:cNvPr id="3" name="Subtitle 2"/>
          <p:cNvSpPr>
            <a:spLocks noGrp="1"/>
          </p:cNvSpPr>
          <p:nvPr>
            <p:ph type="subTitle" idx="1"/>
          </p:nvPr>
        </p:nvSpPr>
        <p:spPr/>
        <p:txBody>
          <a:bodyPr/>
          <a:lstStyle/>
          <a:p>
            <a:r>
              <a:rPr lang="en-US" dirty="0"/>
              <a:t>CHAPTER 9</a:t>
            </a:r>
          </a:p>
        </p:txBody>
      </p:sp>
      <p:sp>
        <p:nvSpPr>
          <p:cNvPr id="4" name="Text Placeholder 3"/>
          <p:cNvSpPr>
            <a:spLocks noGrp="1"/>
          </p:cNvSpPr>
          <p:nvPr>
            <p:ph type="body" sz="quarter" idx="10"/>
          </p:nvPr>
        </p:nvSpPr>
        <p:spPr/>
        <p:txBody>
          <a:bodyPr>
            <a:normAutofit fontScale="77500" lnSpcReduction="20000"/>
          </a:bodyPr>
          <a:lstStyle/>
          <a:p>
            <a:pPr>
              <a:lnSpc>
                <a:spcPct val="120000"/>
              </a:lnSpc>
            </a:pPr>
            <a:r>
              <a:rPr lang="en-US" dirty="0"/>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38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in Chapter</a:t>
            </a:r>
          </a:p>
        </p:txBody>
      </p:sp>
      <p:sp>
        <p:nvSpPr>
          <p:cNvPr id="3" name="Content Placeholder 2"/>
          <p:cNvSpPr>
            <a:spLocks noGrp="1"/>
          </p:cNvSpPr>
          <p:nvPr>
            <p:ph idx="1"/>
          </p:nvPr>
        </p:nvSpPr>
        <p:spPr/>
        <p:txBody>
          <a:bodyPr/>
          <a:lstStyle/>
          <a:p>
            <a:r>
              <a:rPr lang="en-US" dirty="0"/>
              <a:t>Cost of capital components</a:t>
            </a:r>
          </a:p>
          <a:p>
            <a:pPr lvl="1"/>
            <a:r>
              <a:rPr lang="en-US" dirty="0"/>
              <a:t>Debt</a:t>
            </a:r>
          </a:p>
          <a:p>
            <a:pPr lvl="1"/>
            <a:r>
              <a:rPr lang="en-US" dirty="0"/>
              <a:t>Preferred stock</a:t>
            </a:r>
          </a:p>
          <a:p>
            <a:pPr lvl="1"/>
            <a:r>
              <a:rPr lang="en-US" dirty="0"/>
              <a:t>Common equity</a:t>
            </a:r>
          </a:p>
          <a:p>
            <a:r>
              <a:rPr lang="en-US" dirty="0"/>
              <a:t>WACC</a:t>
            </a:r>
          </a:p>
          <a:p>
            <a:r>
              <a:rPr lang="en-US" dirty="0"/>
              <a:t>Factors that affect WACC</a:t>
            </a:r>
          </a:p>
          <a:p>
            <a:r>
              <a:rPr lang="en-US" dirty="0"/>
              <a:t>Adjusting cost of capital for risk</a:t>
            </a:r>
          </a:p>
        </p:txBody>
      </p:sp>
    </p:spTree>
    <p:extLst>
      <p:ext uri="{BB962C8B-B14F-4D97-AF65-F5344CB8AC3E}">
        <p14:creationId xmlns:p14="http://schemas.microsoft.com/office/powerpoint/2010/main" val="210091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Determinants of Intrinsic Value:</a:t>
            </a:r>
            <a:br>
              <a:rPr lang="en-US" dirty="0"/>
            </a:br>
            <a:r>
              <a:rPr lang="en-US" dirty="0"/>
              <a:t>The Weighted Average Cost of Capital</a:t>
            </a:r>
          </a:p>
        </p:txBody>
      </p:sp>
      <p:pic>
        <p:nvPicPr>
          <p:cNvPr id="1026" name="Picture 2" descr="A flowchart shows the net operating profit a¬fter taxes leads to negative required investment in operating capital. Then it leads to equals free cash flow (FCF) which further leads to value equals FCF subscript 1 divides (1 + W A C C) superscript 1 + FCF subscript 2 divides (1 + WACC) superscript 2 +---+ FCF subscript infinity divides (1 + WACC) superscript infinity. Bottom flow shows market interest rates, market risk aversion, firm’s debt/equity mix, and firm’s business risk leads to cost of debt and cost of equity. It further leads to weighted average cost of capital (WACC) with blue arrow mark pointing inward. It further leads to the value in the top flow. An arrow pointing from firm’s debt/equity mix to weighted average cost of capital (WAC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7115" y="1317625"/>
            <a:ext cx="7377769" cy="4754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772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types of long-term capital do firms use?</a:t>
            </a:r>
          </a:p>
        </p:txBody>
      </p:sp>
      <p:sp>
        <p:nvSpPr>
          <p:cNvPr id="3" name="Content Placeholder 2"/>
          <p:cNvSpPr>
            <a:spLocks noGrp="1"/>
          </p:cNvSpPr>
          <p:nvPr>
            <p:ph idx="1"/>
          </p:nvPr>
        </p:nvSpPr>
        <p:spPr/>
        <p:txBody>
          <a:bodyPr/>
          <a:lstStyle/>
          <a:p>
            <a:r>
              <a:rPr lang="en-US" dirty="0"/>
              <a:t>Long-term debt</a:t>
            </a:r>
          </a:p>
          <a:p>
            <a:pPr lvl="1"/>
            <a:r>
              <a:rPr lang="en-US" dirty="0"/>
              <a:t>Some firms also use permanent short-term debt</a:t>
            </a:r>
          </a:p>
          <a:p>
            <a:pPr lvl="1"/>
            <a:r>
              <a:rPr lang="en-US" dirty="0"/>
              <a:t>Other firms have temporary short-term debt for seasonal fluctuations in inventory, but this is usually not part of the capital structure</a:t>
            </a:r>
          </a:p>
          <a:p>
            <a:r>
              <a:rPr lang="en-US" dirty="0"/>
              <a:t>Preferred stock</a:t>
            </a:r>
          </a:p>
          <a:p>
            <a:r>
              <a:rPr lang="en-US" dirty="0"/>
              <a:t>Common equity</a:t>
            </a:r>
          </a:p>
        </p:txBody>
      </p:sp>
    </p:spTree>
    <p:extLst>
      <p:ext uri="{BB962C8B-B14F-4D97-AF65-F5344CB8AC3E}">
        <p14:creationId xmlns:p14="http://schemas.microsoft.com/office/powerpoint/2010/main" val="2872177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Components</a:t>
            </a:r>
          </a:p>
        </p:txBody>
      </p:sp>
      <p:sp>
        <p:nvSpPr>
          <p:cNvPr id="3" name="Content Placeholder 2"/>
          <p:cNvSpPr>
            <a:spLocks noGrp="1"/>
          </p:cNvSpPr>
          <p:nvPr>
            <p:ph idx="1"/>
          </p:nvPr>
        </p:nvSpPr>
        <p:spPr/>
        <p:txBody>
          <a:bodyPr/>
          <a:lstStyle/>
          <a:p>
            <a:r>
              <a:rPr lang="en-US" dirty="0"/>
              <a:t>Capital components are sources of funding that come from investors.</a:t>
            </a:r>
          </a:p>
          <a:p>
            <a:r>
              <a:rPr lang="en-US" dirty="0"/>
              <a:t>Accounts payable, accruals, and deferred taxes are not sources of funding that come from investors, so they are not included in the calculation of the cost of capital.</a:t>
            </a:r>
          </a:p>
          <a:p>
            <a:r>
              <a:rPr lang="en-US" dirty="0"/>
              <a:t>We do adjust for these items when calculating the cash flows of a project, but not when calculating the cost of capital.</a:t>
            </a:r>
          </a:p>
        </p:txBody>
      </p:sp>
    </p:spTree>
    <p:extLst>
      <p:ext uri="{BB962C8B-B14F-4D97-AF65-F5344CB8AC3E}">
        <p14:creationId xmlns:p14="http://schemas.microsoft.com/office/powerpoint/2010/main" val="1503370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Before-tax vs. After-tax Capital Costs</a:t>
            </a:r>
          </a:p>
        </p:txBody>
      </p:sp>
      <p:sp>
        <p:nvSpPr>
          <p:cNvPr id="3" name="Content Placeholder 2"/>
          <p:cNvSpPr>
            <a:spLocks noGrp="1"/>
          </p:cNvSpPr>
          <p:nvPr>
            <p:ph idx="1"/>
          </p:nvPr>
        </p:nvSpPr>
        <p:spPr/>
        <p:txBody>
          <a:bodyPr/>
          <a:lstStyle/>
          <a:p>
            <a:pPr>
              <a:lnSpc>
                <a:spcPct val="90000"/>
              </a:lnSpc>
            </a:pPr>
            <a:r>
              <a:rPr lang="en-US" dirty="0"/>
              <a:t>Tax effects associated with financing can be incorporated either in capital budgeting cash flows or in cost of capital.</a:t>
            </a:r>
          </a:p>
          <a:p>
            <a:pPr>
              <a:lnSpc>
                <a:spcPct val="90000"/>
              </a:lnSpc>
            </a:pPr>
            <a:r>
              <a:rPr lang="en-US" dirty="0"/>
              <a:t>Most firms incorporate tax effects in the cost of capital.  Therefore, focus on after-tax costs.</a:t>
            </a:r>
          </a:p>
          <a:p>
            <a:pPr>
              <a:lnSpc>
                <a:spcPct val="90000"/>
              </a:lnSpc>
            </a:pPr>
            <a:r>
              <a:rPr lang="en-US" dirty="0"/>
              <a:t>Only cost of debt is affected.</a:t>
            </a:r>
          </a:p>
        </p:txBody>
      </p:sp>
    </p:spTree>
    <p:extLst>
      <p:ext uri="{BB962C8B-B14F-4D97-AF65-F5344CB8AC3E}">
        <p14:creationId xmlns:p14="http://schemas.microsoft.com/office/powerpoint/2010/main" val="429079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 (Embedded) Costs vs. New (Marginal) Costs</a:t>
            </a:r>
          </a:p>
        </p:txBody>
      </p:sp>
      <p:sp>
        <p:nvSpPr>
          <p:cNvPr id="3" name="Content Placeholder 2"/>
          <p:cNvSpPr>
            <a:spLocks noGrp="1"/>
          </p:cNvSpPr>
          <p:nvPr>
            <p:ph idx="1"/>
          </p:nvPr>
        </p:nvSpPr>
        <p:spPr/>
        <p:txBody>
          <a:bodyPr/>
          <a:lstStyle/>
          <a:p>
            <a:r>
              <a:rPr lang="en-US" dirty="0"/>
              <a:t>The cost of capital is used primarily to make decisions which involve raising and investing new capital.  So, we should focus on marginal costs.</a:t>
            </a:r>
          </a:p>
        </p:txBody>
      </p:sp>
    </p:spTree>
    <p:extLst>
      <p:ext uri="{BB962C8B-B14F-4D97-AF65-F5344CB8AC3E}">
        <p14:creationId xmlns:p14="http://schemas.microsoft.com/office/powerpoint/2010/main" val="571209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of Debt</a:t>
            </a:r>
          </a:p>
        </p:txBody>
      </p:sp>
      <p:sp>
        <p:nvSpPr>
          <p:cNvPr id="3" name="Content Placeholder 2"/>
          <p:cNvSpPr>
            <a:spLocks noGrp="1"/>
          </p:cNvSpPr>
          <p:nvPr>
            <p:ph idx="1"/>
          </p:nvPr>
        </p:nvSpPr>
        <p:spPr/>
        <p:txBody>
          <a:bodyPr/>
          <a:lstStyle/>
          <a:p>
            <a:pPr>
              <a:lnSpc>
                <a:spcPct val="90000"/>
              </a:lnSpc>
            </a:pPr>
            <a:r>
              <a:rPr lang="en-US" dirty="0"/>
              <a:t>Method 1: Ask an investment banker what the coupon rate would be on new debt.</a:t>
            </a:r>
          </a:p>
          <a:p>
            <a:pPr>
              <a:lnSpc>
                <a:spcPct val="90000"/>
              </a:lnSpc>
            </a:pPr>
            <a:r>
              <a:rPr lang="en-US" dirty="0"/>
              <a:t>Method 2: Find the bond rating for the company and use the yield on other bonds with a similar rating.</a:t>
            </a:r>
          </a:p>
          <a:p>
            <a:pPr>
              <a:lnSpc>
                <a:spcPct val="90000"/>
              </a:lnSpc>
            </a:pPr>
            <a:r>
              <a:rPr lang="en-US" dirty="0"/>
              <a:t>Method 3: Find the yield on the company’s debt, if it has any.</a:t>
            </a:r>
          </a:p>
        </p:txBody>
      </p:sp>
    </p:spTree>
    <p:extLst>
      <p:ext uri="{BB962C8B-B14F-4D97-AF65-F5344CB8AC3E}">
        <p14:creationId xmlns:p14="http://schemas.microsoft.com/office/powerpoint/2010/main" val="120968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15-year, 12% semiannual bond sells for $1,153.72.  What’s </a:t>
            </a:r>
            <a:r>
              <a:rPr lang="en-US" dirty="0" err="1"/>
              <a:t>r</a:t>
            </a:r>
            <a:r>
              <a:rPr lang="en-US" baseline="-25000" dirty="0" err="1"/>
              <a:t>d</a:t>
            </a:r>
            <a:r>
              <a:rPr lang="en-US" dirty="0"/>
              <a:t>? </a:t>
            </a:r>
          </a:p>
        </p:txBody>
      </p:sp>
      <p:pic>
        <p:nvPicPr>
          <p:cNvPr id="1026" name="Picture 2" descr="A timeline graph shows r subscript d for 12 percent semiannual bond sells for dollars 1,153.72 as follows: 0 – negative 1,153.72; 1 – 60, 2 – 60; 30 – 60 plus 1,000. &#10;An illustration shows input and output values as follows: N – 3 inputs; I over Y R – 10 inputs; P V – negative 100 inputs; P M T – 0 input; and F V – 133.10 output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1966" y="1166996"/>
            <a:ext cx="9688068" cy="452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32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 Cost of Debt</a:t>
            </a:r>
          </a:p>
        </p:txBody>
      </p:sp>
      <p:sp>
        <p:nvSpPr>
          <p:cNvPr id="3" name="Content Placeholder 2"/>
          <p:cNvSpPr>
            <a:spLocks noGrp="1"/>
          </p:cNvSpPr>
          <p:nvPr>
            <p:ph idx="1"/>
          </p:nvPr>
        </p:nvSpPr>
        <p:spPr/>
        <p:txBody>
          <a:bodyPr/>
          <a:lstStyle/>
          <a:p>
            <a:r>
              <a:rPr lang="en-US" dirty="0"/>
              <a:t>Interest is tax deductible, so the after tax (AT) cost of debt is:</a:t>
            </a:r>
          </a:p>
          <a:p>
            <a:pPr marL="801688" lvl="1" indent="-344488">
              <a:buNone/>
            </a:pPr>
            <a:r>
              <a:rPr lang="en-US" dirty="0"/>
              <a:t>   </a:t>
            </a:r>
            <a:r>
              <a:rPr lang="en-US" dirty="0" err="1"/>
              <a:t>r</a:t>
            </a:r>
            <a:r>
              <a:rPr lang="en-US" baseline="-25000" dirty="0" err="1"/>
              <a:t>d</a:t>
            </a:r>
            <a:r>
              <a:rPr lang="en-US" baseline="-25000" dirty="0"/>
              <a:t> </a:t>
            </a:r>
            <a:r>
              <a:rPr lang="en-US" dirty="0"/>
              <a:t>AT = </a:t>
            </a:r>
            <a:r>
              <a:rPr lang="en-US" dirty="0" err="1"/>
              <a:t>r</a:t>
            </a:r>
            <a:r>
              <a:rPr lang="en-US" baseline="-25000" dirty="0" err="1"/>
              <a:t>d</a:t>
            </a:r>
            <a:r>
              <a:rPr lang="en-US" dirty="0"/>
              <a:t> BT(1 – T)</a:t>
            </a:r>
          </a:p>
          <a:p>
            <a:pPr marL="801688" lvl="1" indent="-344488">
              <a:buNone/>
            </a:pPr>
            <a:r>
              <a:rPr lang="en-US" dirty="0"/>
              <a:t>	</a:t>
            </a:r>
            <a:r>
              <a:rPr lang="en-US" dirty="0" err="1"/>
              <a:t>r</a:t>
            </a:r>
            <a:r>
              <a:rPr lang="en-US" baseline="-25000" dirty="0" err="1"/>
              <a:t>d</a:t>
            </a:r>
            <a:r>
              <a:rPr lang="en-US" baseline="-25000" dirty="0"/>
              <a:t> </a:t>
            </a:r>
            <a:r>
              <a:rPr lang="en-US" dirty="0"/>
              <a:t>AT = 10%(1 – 0.25) = 7.5%.</a:t>
            </a:r>
          </a:p>
          <a:p>
            <a:r>
              <a:rPr lang="en-US" dirty="0"/>
              <a:t>Use nominal rate.</a:t>
            </a:r>
          </a:p>
          <a:p>
            <a:r>
              <a:rPr lang="en-US" dirty="0"/>
              <a:t>Flotation costs small, so ignore.</a:t>
            </a:r>
          </a:p>
        </p:txBody>
      </p:sp>
    </p:spTree>
    <p:extLst>
      <p:ext uri="{BB962C8B-B14F-4D97-AF65-F5344CB8AC3E}">
        <p14:creationId xmlns:p14="http://schemas.microsoft.com/office/powerpoint/2010/main" val="2245514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of preferred stock: </a:t>
            </a:r>
            <a:r>
              <a:rPr lang="en-US" dirty="0" err="1"/>
              <a:t>P</a:t>
            </a:r>
            <a:r>
              <a:rPr lang="en-US" baseline="-25000" dirty="0" err="1"/>
              <a:t>ps</a:t>
            </a:r>
            <a:r>
              <a:rPr lang="en-US" dirty="0"/>
              <a:t> = $116.95; 10%Q; Par = $100; F = 5%</a:t>
            </a:r>
          </a:p>
        </p:txBody>
      </p:sp>
      <p:sp>
        <p:nvSpPr>
          <p:cNvPr id="5" name="Content Placeholder 2"/>
          <p:cNvSpPr>
            <a:spLocks noGrp="1"/>
          </p:cNvSpPr>
          <p:nvPr>
            <p:ph idx="1"/>
          </p:nvPr>
        </p:nvSpPr>
        <p:spPr>
          <a:xfrm>
            <a:off x="838200" y="1317625"/>
            <a:ext cx="10515600" cy="644179"/>
          </a:xfrm>
        </p:spPr>
        <p:txBody>
          <a:bodyPr/>
          <a:lstStyle/>
          <a:p>
            <a:r>
              <a:rPr lang="en-US" dirty="0"/>
              <a:t>Use this formula:</a:t>
            </a:r>
          </a:p>
        </p:txBody>
      </p:sp>
      <p:graphicFrame>
        <p:nvGraphicFramePr>
          <p:cNvPr id="8" name="Object 3" descr="An equation shows the cost of preferred stock. &#10;r subscript p s equals D subscript p s over P subscript p s multiplied by within parenthesis (1 minus F) equals 0.1 multiplied by within parenthesis (dollars 100) over dollars 116.95 multiplied by within parenthesis (1 minus 0.05)&#10;Equals dollars 10 over dollars 111.10 equals 0.090 equals 9.0 percent. "/>
          <p:cNvGraphicFramePr>
            <a:graphicFrameLocks noGrp="1" noChangeAspect="1"/>
          </p:cNvGraphicFramePr>
          <p:nvPr>
            <p:ph idx="10"/>
            <p:extLst>
              <p:ext uri="{D42A27DB-BD31-4B8C-83A1-F6EECF244321}">
                <p14:modId xmlns:p14="http://schemas.microsoft.com/office/powerpoint/2010/main" val="1214727282"/>
              </p:ext>
            </p:extLst>
          </p:nvPr>
        </p:nvGraphicFramePr>
        <p:xfrm>
          <a:off x="1369176" y="2410518"/>
          <a:ext cx="8079624" cy="3307448"/>
        </p:xfrm>
        <a:graphic>
          <a:graphicData uri="http://schemas.openxmlformats.org/presentationml/2006/ole">
            <mc:AlternateContent xmlns:mc="http://schemas.openxmlformats.org/markup-compatibility/2006">
              <mc:Choice xmlns:v="urn:schemas-microsoft-com:vml" Requires="v">
                <p:oleObj spid="_x0000_s2058" name="Equation" r:id="rId3" imgW="2171520" imgH="888840" progId="Equation.DSMT4">
                  <p:embed/>
                </p:oleObj>
              </mc:Choice>
              <mc:Fallback>
                <p:oleObj name="Equation" r:id="rId3" imgW="2171520" imgH="8888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9176" y="2410518"/>
                        <a:ext cx="8079624" cy="330744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869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Line of Preferred</a:t>
            </a:r>
          </a:p>
        </p:txBody>
      </p:sp>
      <p:pic>
        <p:nvPicPr>
          <p:cNvPr id="3074" name="Picture 2" descr="A timeline graph shows the timeline of preferred as follows: 0 – negative 111.1; 1 – 2.50; 2 – 2.50; infinity – 2.5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7616" y="1154118"/>
            <a:ext cx="9456769" cy="4549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054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a:t>
            </a:r>
          </a:p>
        </p:txBody>
      </p:sp>
      <p:sp>
        <p:nvSpPr>
          <p:cNvPr id="3" name="Content Placeholder 2"/>
          <p:cNvSpPr>
            <a:spLocks noGrp="1"/>
          </p:cNvSpPr>
          <p:nvPr>
            <p:ph idx="1"/>
          </p:nvPr>
        </p:nvSpPr>
        <p:spPr/>
        <p:txBody>
          <a:bodyPr/>
          <a:lstStyle/>
          <a:p>
            <a:r>
              <a:rPr lang="en-US" dirty="0"/>
              <a:t>Flotation costs for preferred are significant, so are reflected.  Use net price.</a:t>
            </a:r>
          </a:p>
          <a:p>
            <a:r>
              <a:rPr lang="en-US" dirty="0"/>
              <a:t>Preferred dividends are not deductible, so no tax adjustment.  Just </a:t>
            </a:r>
            <a:r>
              <a:rPr lang="en-US" dirty="0" err="1"/>
              <a:t>r</a:t>
            </a:r>
            <a:r>
              <a:rPr lang="en-US" baseline="-25000" dirty="0" err="1"/>
              <a:t>ps</a:t>
            </a:r>
            <a:r>
              <a:rPr lang="en-US" dirty="0"/>
              <a:t>.</a:t>
            </a:r>
          </a:p>
          <a:p>
            <a:r>
              <a:rPr lang="en-US" dirty="0"/>
              <a:t>Nominal </a:t>
            </a:r>
            <a:r>
              <a:rPr lang="en-US" dirty="0" err="1"/>
              <a:t>r</a:t>
            </a:r>
            <a:r>
              <a:rPr lang="en-US" baseline="-25000" dirty="0" err="1"/>
              <a:t>ps</a:t>
            </a:r>
            <a:r>
              <a:rPr lang="en-US" dirty="0"/>
              <a:t> is used.</a:t>
            </a:r>
          </a:p>
        </p:txBody>
      </p:sp>
    </p:spTree>
    <p:extLst>
      <p:ext uri="{BB962C8B-B14F-4D97-AF65-F5344CB8AC3E}">
        <p14:creationId xmlns:p14="http://schemas.microsoft.com/office/powerpoint/2010/main" val="4106942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preferred stock more or less risky to investors than debt?</a:t>
            </a:r>
          </a:p>
        </p:txBody>
      </p:sp>
      <p:sp>
        <p:nvSpPr>
          <p:cNvPr id="3" name="Content Placeholder 2"/>
          <p:cNvSpPr>
            <a:spLocks noGrp="1"/>
          </p:cNvSpPr>
          <p:nvPr>
            <p:ph idx="1"/>
          </p:nvPr>
        </p:nvSpPr>
        <p:spPr/>
        <p:txBody>
          <a:bodyPr/>
          <a:lstStyle/>
          <a:p>
            <a:r>
              <a:rPr lang="en-US" dirty="0"/>
              <a:t>More risky; company not required to pay preferred dividend.</a:t>
            </a:r>
          </a:p>
          <a:p>
            <a:r>
              <a:rPr lang="en-US" dirty="0"/>
              <a:t>However, firms want to pay preferred dividend.  Otherwise, (1) cannot pay common dividend, (2) difficult to raise additional funds, and (3) preferred stockholders may gain control of firm.</a:t>
            </a:r>
          </a:p>
        </p:txBody>
      </p:sp>
    </p:spTree>
    <p:extLst>
      <p:ext uri="{BB962C8B-B14F-4D97-AF65-F5344CB8AC3E}">
        <p14:creationId xmlns:p14="http://schemas.microsoft.com/office/powerpoint/2010/main" val="2275724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yield on preferred lower than </a:t>
            </a:r>
            <a:r>
              <a:rPr lang="en-US" dirty="0" err="1"/>
              <a:t>r</a:t>
            </a:r>
            <a:r>
              <a:rPr lang="en-US" baseline="-25000" dirty="0" err="1"/>
              <a:t>d</a:t>
            </a:r>
            <a:r>
              <a:rPr lang="en-US" dirty="0"/>
              <a:t>?</a:t>
            </a:r>
          </a:p>
        </p:txBody>
      </p:sp>
      <p:sp>
        <p:nvSpPr>
          <p:cNvPr id="3" name="Content Placeholder 2"/>
          <p:cNvSpPr>
            <a:spLocks noGrp="1"/>
          </p:cNvSpPr>
          <p:nvPr>
            <p:ph idx="1"/>
          </p:nvPr>
        </p:nvSpPr>
        <p:spPr/>
        <p:txBody>
          <a:bodyPr/>
          <a:lstStyle/>
          <a:p>
            <a:r>
              <a:rPr lang="en-US" dirty="0"/>
              <a:t>Corporations own most preferred stock, because 50% of preferred dividends are nontaxable to corporations.</a:t>
            </a:r>
          </a:p>
          <a:p>
            <a:r>
              <a:rPr lang="en-US" dirty="0"/>
              <a:t>Therefore, preferred often has a lower </a:t>
            </a:r>
            <a:br>
              <a:rPr lang="en-US" dirty="0"/>
            </a:br>
            <a:r>
              <a:rPr lang="en-US" dirty="0"/>
              <a:t>B-T yield than the B-T yield on debt.</a:t>
            </a:r>
          </a:p>
          <a:p>
            <a:r>
              <a:rPr lang="en-US" dirty="0"/>
              <a:t>The A-T yield to investors and A-T cost to the issuer are higher on preferred than on debt, which is consistent with the higher risk of preferred.</a:t>
            </a:r>
          </a:p>
        </p:txBody>
      </p:sp>
    </p:spTree>
    <p:extLst>
      <p:ext uri="{BB962C8B-B14F-4D97-AF65-F5344CB8AC3E}">
        <p14:creationId xmlns:p14="http://schemas.microsoft.com/office/powerpoint/2010/main" val="285104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r</a:t>
            </a:r>
            <a:r>
              <a:rPr lang="en-US" baseline="-25000" dirty="0" err="1"/>
              <a:t>ps</a:t>
            </a:r>
            <a:r>
              <a:rPr lang="en-US" dirty="0"/>
              <a:t> = 9%, </a:t>
            </a:r>
            <a:r>
              <a:rPr lang="en-US" dirty="0" err="1"/>
              <a:t>r</a:t>
            </a:r>
            <a:r>
              <a:rPr lang="en-US" baseline="-25000" dirty="0" err="1"/>
              <a:t>d</a:t>
            </a:r>
            <a:r>
              <a:rPr lang="en-US" dirty="0"/>
              <a:t> = 10%, T = 25%, Preferred exclusion = 50%</a:t>
            </a:r>
          </a:p>
        </p:txBody>
      </p:sp>
      <p:sp>
        <p:nvSpPr>
          <p:cNvPr id="3" name="Content Placeholder 2"/>
          <p:cNvSpPr>
            <a:spLocks noGrp="1"/>
          </p:cNvSpPr>
          <p:nvPr>
            <p:ph idx="1"/>
          </p:nvPr>
        </p:nvSpPr>
        <p:spPr/>
        <p:txBody>
          <a:bodyPr/>
          <a:lstStyle/>
          <a:p>
            <a:pPr marL="0" indent="0">
              <a:buNone/>
            </a:pPr>
            <a:r>
              <a:rPr lang="en-US" dirty="0" err="1"/>
              <a:t>r</a:t>
            </a:r>
            <a:r>
              <a:rPr lang="en-US" baseline="-25000" dirty="0" err="1"/>
              <a:t>ps</a:t>
            </a:r>
            <a:r>
              <a:rPr lang="en-US" baseline="-25000" dirty="0"/>
              <a:t>, AT</a:t>
            </a:r>
            <a:r>
              <a:rPr lang="en-US" dirty="0"/>
              <a:t> = </a:t>
            </a:r>
            <a:r>
              <a:rPr lang="en-US" dirty="0" err="1"/>
              <a:t>r</a:t>
            </a:r>
            <a:r>
              <a:rPr lang="en-US" baseline="-25000" dirty="0" err="1"/>
              <a:t>ps</a:t>
            </a:r>
            <a:r>
              <a:rPr lang="en-US" dirty="0"/>
              <a:t> – </a:t>
            </a:r>
            <a:r>
              <a:rPr lang="en-US" dirty="0" err="1"/>
              <a:t>r</a:t>
            </a:r>
            <a:r>
              <a:rPr lang="en-US" baseline="-25000" dirty="0" err="1"/>
              <a:t>ps</a:t>
            </a:r>
            <a:r>
              <a:rPr lang="en-US" dirty="0"/>
              <a:t>(1 – % Exclusion)(T)</a:t>
            </a:r>
          </a:p>
          <a:p>
            <a:pPr marL="0" indent="0">
              <a:buNone/>
            </a:pPr>
            <a:r>
              <a:rPr lang="en-US" dirty="0"/>
              <a:t>= 9% – 9%(1 – 0.50)(0.25) = 7.875%</a:t>
            </a:r>
          </a:p>
          <a:p>
            <a:pPr marL="0" indent="0">
              <a:buNone/>
            </a:pPr>
            <a:r>
              <a:rPr lang="en-US" dirty="0" err="1"/>
              <a:t>r</a:t>
            </a:r>
            <a:r>
              <a:rPr lang="en-US" baseline="-25000" dirty="0" err="1"/>
              <a:t>d</a:t>
            </a:r>
            <a:r>
              <a:rPr lang="en-US" baseline="-25000" dirty="0"/>
              <a:t>, AT</a:t>
            </a:r>
            <a:r>
              <a:rPr lang="en-US" dirty="0"/>
              <a:t> = 10% – 10%(0.25) = </a:t>
            </a:r>
            <a:r>
              <a:rPr lang="en-US" u="sng" dirty="0"/>
              <a:t>7.50</a:t>
            </a:r>
            <a:r>
              <a:rPr lang="en-US" dirty="0"/>
              <a:t>%</a:t>
            </a:r>
          </a:p>
          <a:p>
            <a:pPr marL="0" indent="0">
              <a:buNone/>
            </a:pPr>
            <a:r>
              <a:rPr lang="en-US" dirty="0"/>
              <a:t>A-T Risk Premium on Preferred = 0.375%</a:t>
            </a:r>
          </a:p>
        </p:txBody>
      </p:sp>
    </p:spTree>
    <p:extLst>
      <p:ext uri="{BB962C8B-B14F-4D97-AF65-F5344CB8AC3E}">
        <p14:creationId xmlns:p14="http://schemas.microsoft.com/office/powerpoint/2010/main" val="3427774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two ways that companies can raise common equity?</a:t>
            </a:r>
          </a:p>
        </p:txBody>
      </p:sp>
      <p:sp>
        <p:nvSpPr>
          <p:cNvPr id="3" name="Content Placeholder 2"/>
          <p:cNvSpPr>
            <a:spLocks noGrp="1"/>
          </p:cNvSpPr>
          <p:nvPr>
            <p:ph idx="1"/>
          </p:nvPr>
        </p:nvSpPr>
        <p:spPr/>
        <p:txBody>
          <a:bodyPr/>
          <a:lstStyle/>
          <a:p>
            <a:r>
              <a:rPr lang="en-US" dirty="0"/>
              <a:t>Directly, by issuing new shares of common stock.</a:t>
            </a:r>
          </a:p>
          <a:p>
            <a:r>
              <a:rPr lang="en-US" dirty="0"/>
              <a:t>Indirectly, by reinvesting earnings that are not paid out as dividends (i.e., retaining earnings).</a:t>
            </a:r>
          </a:p>
        </p:txBody>
      </p:sp>
    </p:spTree>
    <p:extLst>
      <p:ext uri="{BB962C8B-B14F-4D97-AF65-F5344CB8AC3E}">
        <p14:creationId xmlns:p14="http://schemas.microsoft.com/office/powerpoint/2010/main" val="1462598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there a cost for reinvested earnings?</a:t>
            </a:r>
          </a:p>
        </p:txBody>
      </p:sp>
      <p:sp>
        <p:nvSpPr>
          <p:cNvPr id="3" name="Content Placeholder 2"/>
          <p:cNvSpPr>
            <a:spLocks noGrp="1"/>
          </p:cNvSpPr>
          <p:nvPr>
            <p:ph idx="1"/>
          </p:nvPr>
        </p:nvSpPr>
        <p:spPr/>
        <p:txBody>
          <a:bodyPr/>
          <a:lstStyle/>
          <a:p>
            <a:r>
              <a:rPr lang="en-US" dirty="0"/>
              <a:t>Earnings can be reinvested or paid out as dividends.</a:t>
            </a:r>
          </a:p>
          <a:p>
            <a:r>
              <a:rPr lang="en-US" dirty="0"/>
              <a:t>Investors could buy other securities, earning a return.</a:t>
            </a:r>
          </a:p>
          <a:p>
            <a:r>
              <a:rPr lang="en-US" dirty="0"/>
              <a:t>Thus, there is an opportunity cost if earnings are reinvested.</a:t>
            </a:r>
          </a:p>
        </p:txBody>
      </p:sp>
    </p:spTree>
    <p:extLst>
      <p:ext uri="{BB962C8B-B14F-4D97-AF65-F5344CB8AC3E}">
        <p14:creationId xmlns:p14="http://schemas.microsoft.com/office/powerpoint/2010/main" val="1544291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for Reinvested Earnings</a:t>
            </a:r>
          </a:p>
        </p:txBody>
      </p:sp>
      <p:sp>
        <p:nvSpPr>
          <p:cNvPr id="3" name="Content Placeholder 2"/>
          <p:cNvSpPr>
            <a:spLocks noGrp="1"/>
          </p:cNvSpPr>
          <p:nvPr>
            <p:ph idx="1"/>
          </p:nvPr>
        </p:nvSpPr>
        <p:spPr/>
        <p:txBody>
          <a:bodyPr/>
          <a:lstStyle/>
          <a:p>
            <a:r>
              <a:rPr lang="en-US" dirty="0"/>
              <a:t>Opportunity cost:  The return stockholders could earn on alternative investments of equal risk.</a:t>
            </a:r>
          </a:p>
          <a:p>
            <a:r>
              <a:rPr lang="en-US" dirty="0"/>
              <a:t>They could buy similar stocks and earn </a:t>
            </a:r>
            <a:r>
              <a:rPr lang="en-US" dirty="0" err="1"/>
              <a:t>r</a:t>
            </a:r>
            <a:r>
              <a:rPr lang="en-US" baseline="-25000" dirty="0" err="1"/>
              <a:t>s</a:t>
            </a:r>
            <a:r>
              <a:rPr lang="en-US" dirty="0"/>
              <a:t>, or company could repurchase its own stock and earn </a:t>
            </a:r>
            <a:r>
              <a:rPr lang="en-US" dirty="0" err="1"/>
              <a:t>r</a:t>
            </a:r>
            <a:r>
              <a:rPr lang="en-US" baseline="-25000" dirty="0" err="1"/>
              <a:t>s</a:t>
            </a:r>
            <a:r>
              <a:rPr lang="en-US" dirty="0"/>
              <a:t>.  So, </a:t>
            </a:r>
            <a:r>
              <a:rPr lang="en-US" dirty="0" err="1"/>
              <a:t>r</a:t>
            </a:r>
            <a:r>
              <a:rPr lang="en-US" baseline="-25000" dirty="0" err="1"/>
              <a:t>s</a:t>
            </a:r>
            <a:r>
              <a:rPr lang="en-US" dirty="0"/>
              <a:t>, is the cost of reinvested earnings and it is the cost of common equity.</a:t>
            </a:r>
          </a:p>
        </p:txBody>
      </p:sp>
    </p:spTree>
    <p:extLst>
      <p:ext uri="{BB962C8B-B14F-4D97-AF65-F5344CB8AC3E}">
        <p14:creationId xmlns:p14="http://schemas.microsoft.com/office/powerpoint/2010/main" val="166392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ways to determine the cost of equity, </a:t>
            </a:r>
            <a:r>
              <a:rPr lang="en-US" dirty="0" err="1"/>
              <a:t>r</a:t>
            </a:r>
            <a:r>
              <a:rPr lang="en-US" baseline="-25000" dirty="0" err="1"/>
              <a:t>s</a:t>
            </a:r>
            <a:r>
              <a:rPr lang="en-US" dirty="0"/>
              <a:t>: </a:t>
            </a:r>
          </a:p>
        </p:txBody>
      </p:sp>
      <p:sp>
        <p:nvSpPr>
          <p:cNvPr id="3" name="Content Placeholder 2"/>
          <p:cNvSpPr>
            <a:spLocks noGrp="1"/>
          </p:cNvSpPr>
          <p:nvPr>
            <p:ph idx="1"/>
          </p:nvPr>
        </p:nvSpPr>
        <p:spPr/>
        <p:txBody>
          <a:bodyPr/>
          <a:lstStyle/>
          <a:p>
            <a:pPr marL="0" indent="0">
              <a:lnSpc>
                <a:spcPct val="140000"/>
              </a:lnSpc>
              <a:spcBef>
                <a:spcPct val="30000"/>
              </a:spcBef>
              <a:buNone/>
              <a:tabLst>
                <a:tab pos="519113" algn="l"/>
              </a:tabLst>
              <a:defRPr/>
            </a:pPr>
            <a:r>
              <a:rPr lang="en-US" dirty="0">
                <a:latin typeface="Tahoma" pitchFamily="34" charset="0"/>
              </a:rPr>
              <a:t>1.	CAPM:  </a:t>
            </a:r>
            <a:r>
              <a:rPr lang="en-US" dirty="0" err="1">
                <a:latin typeface="Tahoma" pitchFamily="34" charset="0"/>
              </a:rPr>
              <a:t>r</a:t>
            </a:r>
            <a:r>
              <a:rPr lang="en-US" baseline="-25000" dirty="0" err="1">
                <a:latin typeface="Tahoma" pitchFamily="34" charset="0"/>
              </a:rPr>
              <a:t>s</a:t>
            </a:r>
            <a:r>
              <a:rPr lang="en-US" dirty="0">
                <a:latin typeface="Tahoma" pitchFamily="34" charset="0"/>
              </a:rPr>
              <a:t> = </a:t>
            </a:r>
            <a:r>
              <a:rPr lang="en-US" dirty="0" err="1">
                <a:latin typeface="Tahoma" pitchFamily="34" charset="0"/>
              </a:rPr>
              <a:t>r</a:t>
            </a:r>
            <a:r>
              <a:rPr lang="en-US" baseline="-25000" dirty="0" err="1">
                <a:latin typeface="Tahoma" pitchFamily="34" charset="0"/>
              </a:rPr>
              <a:t>RF</a:t>
            </a:r>
            <a:r>
              <a:rPr lang="en-US" dirty="0">
                <a:latin typeface="Tahoma" pitchFamily="34" charset="0"/>
              </a:rPr>
              <a:t> + (</a:t>
            </a:r>
            <a:r>
              <a:rPr lang="en-US" dirty="0" err="1">
                <a:latin typeface="Tahoma" pitchFamily="34" charset="0"/>
              </a:rPr>
              <a:t>r</a:t>
            </a:r>
            <a:r>
              <a:rPr lang="en-US" baseline="-25000" dirty="0" err="1">
                <a:latin typeface="Tahoma" pitchFamily="34" charset="0"/>
              </a:rPr>
              <a:t>M</a:t>
            </a:r>
            <a:r>
              <a:rPr lang="en-US" dirty="0">
                <a:latin typeface="Tahoma" pitchFamily="34" charset="0"/>
              </a:rPr>
              <a:t> </a:t>
            </a:r>
            <a:r>
              <a:rPr lang="en-US" dirty="0"/>
              <a:t>–</a:t>
            </a:r>
            <a:r>
              <a:rPr lang="en-US" dirty="0">
                <a:latin typeface="Tahoma" pitchFamily="34" charset="0"/>
              </a:rPr>
              <a:t> </a:t>
            </a:r>
            <a:r>
              <a:rPr lang="en-US" dirty="0" err="1">
                <a:latin typeface="Tahoma" pitchFamily="34" charset="0"/>
              </a:rPr>
              <a:t>r</a:t>
            </a:r>
            <a:r>
              <a:rPr lang="en-US" baseline="-25000" dirty="0" err="1">
                <a:latin typeface="Tahoma" pitchFamily="34" charset="0"/>
              </a:rPr>
              <a:t>RF</a:t>
            </a:r>
            <a:r>
              <a:rPr lang="en-US" dirty="0">
                <a:latin typeface="Tahoma" pitchFamily="34" charset="0"/>
              </a:rPr>
              <a:t>)b</a:t>
            </a:r>
          </a:p>
          <a:p>
            <a:pPr marL="0" indent="0">
              <a:spcBef>
                <a:spcPct val="10000"/>
              </a:spcBef>
              <a:buNone/>
              <a:tabLst>
                <a:tab pos="519113" algn="l"/>
              </a:tabLst>
              <a:defRPr/>
            </a:pPr>
            <a:r>
              <a:rPr lang="en-US" dirty="0">
                <a:latin typeface="Tahoma" pitchFamily="34" charset="0"/>
              </a:rPr>
              <a:t>			    = </a:t>
            </a:r>
            <a:r>
              <a:rPr lang="en-US" dirty="0" err="1">
                <a:latin typeface="Tahoma" pitchFamily="34" charset="0"/>
              </a:rPr>
              <a:t>r</a:t>
            </a:r>
            <a:r>
              <a:rPr lang="en-US" baseline="-25000" dirty="0" err="1">
                <a:latin typeface="Tahoma" pitchFamily="34" charset="0"/>
              </a:rPr>
              <a:t>RF</a:t>
            </a:r>
            <a:r>
              <a:rPr lang="en-US" dirty="0">
                <a:latin typeface="Tahoma" pitchFamily="34" charset="0"/>
              </a:rPr>
              <a:t> + (RP</a:t>
            </a:r>
            <a:r>
              <a:rPr lang="en-US" baseline="-25000" dirty="0">
                <a:latin typeface="Tahoma" pitchFamily="34" charset="0"/>
              </a:rPr>
              <a:t>M</a:t>
            </a:r>
            <a:r>
              <a:rPr lang="en-US" dirty="0">
                <a:latin typeface="Tahoma" pitchFamily="34" charset="0"/>
              </a:rPr>
              <a:t>)b.</a:t>
            </a:r>
          </a:p>
          <a:p>
            <a:pPr marL="0" indent="0">
              <a:lnSpc>
                <a:spcPct val="140000"/>
              </a:lnSpc>
              <a:spcBef>
                <a:spcPct val="30000"/>
              </a:spcBef>
              <a:buNone/>
              <a:tabLst>
                <a:tab pos="519113" algn="l"/>
              </a:tabLst>
              <a:defRPr/>
            </a:pPr>
            <a:r>
              <a:rPr lang="en-US" dirty="0">
                <a:latin typeface="Tahoma" pitchFamily="34" charset="0"/>
              </a:rPr>
              <a:t>2.	DCF:  </a:t>
            </a:r>
            <a:r>
              <a:rPr lang="en-US" dirty="0" err="1">
                <a:latin typeface="Tahoma" pitchFamily="34" charset="0"/>
              </a:rPr>
              <a:t>r</a:t>
            </a:r>
            <a:r>
              <a:rPr lang="en-US" baseline="-25000" dirty="0" err="1">
                <a:latin typeface="Tahoma" pitchFamily="34" charset="0"/>
              </a:rPr>
              <a:t>s</a:t>
            </a:r>
            <a:r>
              <a:rPr lang="en-US" dirty="0">
                <a:latin typeface="Tahoma" pitchFamily="34" charset="0"/>
              </a:rPr>
              <a:t> = D</a:t>
            </a:r>
            <a:r>
              <a:rPr lang="en-US" baseline="-25000" dirty="0">
                <a:latin typeface="Tahoma" pitchFamily="34" charset="0"/>
              </a:rPr>
              <a:t>1</a:t>
            </a:r>
            <a:r>
              <a:rPr lang="en-US" dirty="0">
                <a:latin typeface="Tahoma" pitchFamily="34" charset="0"/>
              </a:rPr>
              <a:t>/P</a:t>
            </a:r>
            <a:r>
              <a:rPr lang="en-US" baseline="-25000" dirty="0">
                <a:latin typeface="Tahoma" pitchFamily="34" charset="0"/>
              </a:rPr>
              <a:t>0</a:t>
            </a:r>
            <a:r>
              <a:rPr lang="en-US" dirty="0">
                <a:latin typeface="Tahoma" pitchFamily="34" charset="0"/>
              </a:rPr>
              <a:t> + g.</a:t>
            </a:r>
          </a:p>
          <a:p>
            <a:pPr marL="0" indent="0">
              <a:spcBef>
                <a:spcPct val="30000"/>
              </a:spcBef>
              <a:buNone/>
              <a:tabLst>
                <a:tab pos="519113" algn="l"/>
              </a:tabLst>
              <a:defRPr/>
            </a:pPr>
            <a:r>
              <a:rPr lang="en-US" dirty="0">
                <a:latin typeface="Tahoma" pitchFamily="34" charset="0"/>
              </a:rPr>
              <a:t>3.	Own-Bond-Yield-Plus-Judgmental-Risk Premium:  </a:t>
            </a:r>
            <a:r>
              <a:rPr lang="en-US" dirty="0" err="1">
                <a:latin typeface="Tahoma" pitchFamily="34" charset="0"/>
              </a:rPr>
              <a:t>r</a:t>
            </a:r>
            <a:r>
              <a:rPr lang="en-US" baseline="-25000" dirty="0" err="1">
                <a:latin typeface="Tahoma" pitchFamily="34" charset="0"/>
              </a:rPr>
              <a:t>s</a:t>
            </a:r>
            <a:r>
              <a:rPr lang="en-US" dirty="0">
                <a:latin typeface="Tahoma" pitchFamily="34" charset="0"/>
              </a:rPr>
              <a:t> = </a:t>
            </a:r>
            <a:r>
              <a:rPr lang="en-US" dirty="0" err="1">
                <a:latin typeface="Tahoma" pitchFamily="34" charset="0"/>
              </a:rPr>
              <a:t>r</a:t>
            </a:r>
            <a:r>
              <a:rPr lang="en-US" baseline="-25000" dirty="0" err="1">
                <a:latin typeface="Tahoma" pitchFamily="34" charset="0"/>
              </a:rPr>
              <a:t>d</a:t>
            </a:r>
            <a:r>
              <a:rPr lang="en-US" dirty="0">
                <a:latin typeface="Tahoma" pitchFamily="34" charset="0"/>
              </a:rPr>
              <a:t> + Bond RP.</a:t>
            </a:r>
          </a:p>
        </p:txBody>
      </p:sp>
    </p:spTree>
    <p:extLst>
      <p:ext uri="{BB962C8B-B14F-4D97-AF65-F5344CB8AC3E}">
        <p14:creationId xmlns:p14="http://schemas.microsoft.com/office/powerpoint/2010/main" val="3634739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CAPM Cost of Equity:  </a:t>
            </a:r>
            <a:r>
              <a:rPr lang="en-US" dirty="0" err="1"/>
              <a:t>r</a:t>
            </a:r>
            <a:r>
              <a:rPr lang="en-US" baseline="-25000" dirty="0" err="1"/>
              <a:t>RF</a:t>
            </a:r>
            <a:r>
              <a:rPr lang="en-US" dirty="0"/>
              <a:t> = 5.6%, RP</a:t>
            </a:r>
            <a:r>
              <a:rPr lang="en-US" baseline="-25000" dirty="0"/>
              <a:t>M</a:t>
            </a:r>
            <a:r>
              <a:rPr lang="en-US" dirty="0"/>
              <a:t> = 6%,</a:t>
            </a:r>
            <a:br>
              <a:rPr lang="en-US" dirty="0"/>
            </a:br>
            <a:r>
              <a:rPr lang="en-US" dirty="0"/>
              <a:t>b = 1.2</a:t>
            </a:r>
          </a:p>
        </p:txBody>
      </p:sp>
      <p:sp>
        <p:nvSpPr>
          <p:cNvPr id="3" name="Content Placeholder 2"/>
          <p:cNvSpPr>
            <a:spLocks noGrp="1"/>
          </p:cNvSpPr>
          <p:nvPr>
            <p:ph idx="1"/>
          </p:nvPr>
        </p:nvSpPr>
        <p:spPr/>
        <p:txBody>
          <a:bodyPr/>
          <a:lstStyle/>
          <a:p>
            <a:pPr marL="0" indent="0">
              <a:lnSpc>
                <a:spcPct val="150000"/>
              </a:lnSpc>
              <a:buNone/>
            </a:pPr>
            <a:r>
              <a:rPr lang="en-US" dirty="0" err="1">
                <a:latin typeface="Tahoma" pitchFamily="34" charset="0"/>
              </a:rPr>
              <a:t>r</a:t>
            </a:r>
            <a:r>
              <a:rPr lang="en-US" baseline="-25000" dirty="0" err="1">
                <a:latin typeface="Tahoma" pitchFamily="34" charset="0"/>
              </a:rPr>
              <a:t>s</a:t>
            </a:r>
            <a:r>
              <a:rPr lang="en-US" dirty="0">
                <a:latin typeface="Tahoma" pitchFamily="34" charset="0"/>
              </a:rPr>
              <a:t> = </a:t>
            </a:r>
            <a:r>
              <a:rPr lang="en-US" dirty="0" err="1">
                <a:latin typeface="Tahoma" pitchFamily="34" charset="0"/>
              </a:rPr>
              <a:t>r</a:t>
            </a:r>
            <a:r>
              <a:rPr lang="en-US" baseline="-25000" dirty="0" err="1">
                <a:latin typeface="Tahoma" pitchFamily="34" charset="0"/>
              </a:rPr>
              <a:t>RF</a:t>
            </a:r>
            <a:r>
              <a:rPr lang="en-US" dirty="0">
                <a:latin typeface="Tahoma" pitchFamily="34" charset="0"/>
              </a:rPr>
              <a:t> + (RP</a:t>
            </a:r>
            <a:r>
              <a:rPr lang="en-US" baseline="-25000" dirty="0">
                <a:latin typeface="Tahoma" pitchFamily="34" charset="0"/>
              </a:rPr>
              <a:t>M </a:t>
            </a:r>
            <a:r>
              <a:rPr lang="en-US" dirty="0">
                <a:latin typeface="Tahoma" pitchFamily="34" charset="0"/>
              </a:rPr>
              <a:t>)b</a:t>
            </a:r>
          </a:p>
          <a:p>
            <a:pPr marL="384048" indent="0">
              <a:lnSpc>
                <a:spcPct val="150000"/>
              </a:lnSpc>
              <a:buNone/>
            </a:pPr>
            <a:r>
              <a:rPr lang="en-US" dirty="0">
                <a:latin typeface="Tahoma" pitchFamily="34" charset="0"/>
              </a:rPr>
              <a:t>= 5.6% + (6.0%)1.2 = 12.8%.</a:t>
            </a:r>
          </a:p>
        </p:txBody>
      </p:sp>
    </p:spTree>
    <p:extLst>
      <p:ext uri="{BB962C8B-B14F-4D97-AF65-F5344CB8AC3E}">
        <p14:creationId xmlns:p14="http://schemas.microsoft.com/office/powerpoint/2010/main" val="1705048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in Using CAPM (1 of 2)</a:t>
            </a:r>
          </a:p>
        </p:txBody>
      </p:sp>
      <p:sp>
        <p:nvSpPr>
          <p:cNvPr id="3" name="Content Placeholder 2"/>
          <p:cNvSpPr>
            <a:spLocks noGrp="1"/>
          </p:cNvSpPr>
          <p:nvPr>
            <p:ph idx="1"/>
          </p:nvPr>
        </p:nvSpPr>
        <p:spPr/>
        <p:txBody>
          <a:bodyPr/>
          <a:lstStyle/>
          <a:p>
            <a:r>
              <a:rPr lang="en-US" dirty="0"/>
              <a:t>Most analysts use the rate on a long-term</a:t>
            </a:r>
            <a:br>
              <a:rPr lang="en-US" dirty="0"/>
            </a:br>
            <a:r>
              <a:rPr lang="en-US" dirty="0"/>
              <a:t>(10 to 20 years) government bond as an estimate</a:t>
            </a:r>
            <a:br>
              <a:rPr lang="en-US" dirty="0"/>
            </a:br>
            <a:r>
              <a:rPr lang="en-US" dirty="0"/>
              <a:t>of </a:t>
            </a:r>
            <a:r>
              <a:rPr lang="en-US" dirty="0" err="1"/>
              <a:t>r</a:t>
            </a:r>
            <a:r>
              <a:rPr lang="en-US" baseline="-25000" dirty="0" err="1"/>
              <a:t>RF</a:t>
            </a:r>
            <a:r>
              <a:rPr lang="en-US" dirty="0"/>
              <a:t>.  </a:t>
            </a:r>
          </a:p>
        </p:txBody>
      </p:sp>
    </p:spTree>
    <p:extLst>
      <p:ext uri="{BB962C8B-B14F-4D97-AF65-F5344CB8AC3E}">
        <p14:creationId xmlns:p14="http://schemas.microsoft.com/office/powerpoint/2010/main" val="3434772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in Using CAPM (2 of 2)</a:t>
            </a:r>
          </a:p>
        </p:txBody>
      </p:sp>
      <p:sp>
        <p:nvSpPr>
          <p:cNvPr id="3" name="Content Placeholder 2"/>
          <p:cNvSpPr>
            <a:spLocks noGrp="1"/>
          </p:cNvSpPr>
          <p:nvPr>
            <p:ph idx="1"/>
          </p:nvPr>
        </p:nvSpPr>
        <p:spPr/>
        <p:txBody>
          <a:bodyPr/>
          <a:lstStyle/>
          <a:p>
            <a:r>
              <a:rPr lang="en-US" dirty="0"/>
              <a:t>Most analysts use a rate of 3.5% to 6% for the market risk premium (RP</a:t>
            </a:r>
            <a:r>
              <a:rPr lang="en-US" baseline="-25000" dirty="0"/>
              <a:t>M</a:t>
            </a:r>
            <a:r>
              <a:rPr lang="en-US" dirty="0"/>
              <a:t>)</a:t>
            </a:r>
          </a:p>
          <a:p>
            <a:r>
              <a:rPr lang="en-US" dirty="0"/>
              <a:t>Estimates of beta vary, and estimates are “noisy” (they have a wide confidence interval).</a:t>
            </a:r>
          </a:p>
        </p:txBody>
      </p:sp>
    </p:spTree>
    <p:extLst>
      <p:ext uri="{BB962C8B-B14F-4D97-AF65-F5344CB8AC3E}">
        <p14:creationId xmlns:p14="http://schemas.microsoft.com/office/powerpoint/2010/main" val="88415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Dividend Growth Cost of Equity, </a:t>
            </a:r>
            <a:r>
              <a:rPr lang="en-US" sz="3600" dirty="0" err="1"/>
              <a:t>r</a:t>
            </a:r>
            <a:r>
              <a:rPr lang="en-US" sz="3600" baseline="-25000" dirty="0" err="1"/>
              <a:t>s</a:t>
            </a:r>
            <a:r>
              <a:rPr lang="en-US" sz="3600" dirty="0"/>
              <a:t>: </a:t>
            </a:r>
            <a:br>
              <a:rPr lang="en-US" sz="3600" dirty="0"/>
            </a:br>
            <a:r>
              <a:rPr lang="en-US" sz="3600" dirty="0"/>
              <a:t>D</a:t>
            </a:r>
            <a:r>
              <a:rPr lang="en-US" sz="3600" baseline="-25000" dirty="0"/>
              <a:t>0</a:t>
            </a:r>
            <a:r>
              <a:rPr lang="en-US" sz="3600" dirty="0"/>
              <a:t> = $3.26; P</a:t>
            </a:r>
            <a:r>
              <a:rPr lang="en-US" sz="3600" baseline="-25000" dirty="0"/>
              <a:t>0</a:t>
            </a:r>
            <a:r>
              <a:rPr lang="en-US" sz="3600" dirty="0"/>
              <a:t> = $50; g = 5.8%</a:t>
            </a:r>
            <a:endParaRPr lang="en-US" dirty="0"/>
          </a:p>
        </p:txBody>
      </p:sp>
      <p:graphicFrame>
        <p:nvGraphicFramePr>
          <p:cNvPr id="5" name="Object 2" descr="An equation shows dividend growth cost of equity. &#10;r subscript s equals D subscript 1 over P subscript 0 plus g equals D subscript 0 multiplied by within parenthesis (1 plus g) over P subscript 0 plus g&#10;Equals dollars 3.12 multiplied by within parenthesis (1.058) over dollars 50 plus 0.058&#10;Equals 6.6 percent plus 5.8 percent &#10;Equals 12.4 percent.&#10;"/>
          <p:cNvGraphicFramePr>
            <a:graphicFrameLocks noGrp="1" noChangeAspect="1"/>
          </p:cNvGraphicFramePr>
          <p:nvPr>
            <p:ph idx="1"/>
            <p:extLst>
              <p:ext uri="{D42A27DB-BD31-4B8C-83A1-F6EECF244321}">
                <p14:modId xmlns:p14="http://schemas.microsoft.com/office/powerpoint/2010/main" val="4242422968"/>
              </p:ext>
            </p:extLst>
          </p:nvPr>
        </p:nvGraphicFramePr>
        <p:xfrm>
          <a:off x="3353608" y="1501094"/>
          <a:ext cx="5484784" cy="4387827"/>
        </p:xfrm>
        <a:graphic>
          <a:graphicData uri="http://schemas.openxmlformats.org/presentationml/2006/ole">
            <mc:AlternateContent xmlns:mc="http://schemas.openxmlformats.org/markup-compatibility/2006">
              <mc:Choice xmlns:v="urn:schemas-microsoft-com:vml" Requires="v">
                <p:oleObj spid="_x0000_s4105" name="Equation" r:id="rId3" imgW="1650960" imgH="1320480" progId="Equation.DSMT4">
                  <p:embed/>
                </p:oleObj>
              </mc:Choice>
              <mc:Fallback>
                <p:oleObj name="Equation" r:id="rId3" imgW="1650960" imgH="132048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608" y="1501094"/>
                        <a:ext cx="5484784" cy="438782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9903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Growth Rate</a:t>
            </a:r>
          </a:p>
        </p:txBody>
      </p:sp>
      <p:sp>
        <p:nvSpPr>
          <p:cNvPr id="3" name="Content Placeholder 2"/>
          <p:cNvSpPr>
            <a:spLocks noGrp="1"/>
          </p:cNvSpPr>
          <p:nvPr>
            <p:ph idx="1"/>
          </p:nvPr>
        </p:nvSpPr>
        <p:spPr/>
        <p:txBody>
          <a:bodyPr/>
          <a:lstStyle/>
          <a:p>
            <a:r>
              <a:rPr lang="en-US" dirty="0"/>
              <a:t>Use the historical growth rate if you believe the future will be like the past.</a:t>
            </a:r>
          </a:p>
          <a:p>
            <a:r>
              <a:rPr lang="en-US" dirty="0"/>
              <a:t>Obtain analysts’ estimates: Value Line, </a:t>
            </a:r>
            <a:r>
              <a:rPr lang="en-US" dirty="0" err="1"/>
              <a:t>Zacks</a:t>
            </a:r>
            <a:r>
              <a:rPr lang="en-US" dirty="0"/>
              <a:t>, </a:t>
            </a:r>
            <a:r>
              <a:rPr lang="en-US" dirty="0" err="1"/>
              <a:t>Yahoo!Finance</a:t>
            </a:r>
            <a:r>
              <a:rPr lang="en-US" dirty="0"/>
              <a:t>.</a:t>
            </a:r>
          </a:p>
          <a:p>
            <a:r>
              <a:rPr lang="en-US" dirty="0"/>
              <a:t>Use the earnings retention model, illustrated on next slide.</a:t>
            </a:r>
          </a:p>
        </p:txBody>
      </p:sp>
    </p:spTree>
    <p:extLst>
      <p:ext uri="{BB962C8B-B14F-4D97-AF65-F5344CB8AC3E}">
        <p14:creationId xmlns:p14="http://schemas.microsoft.com/office/powerpoint/2010/main" val="615580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Earnings Retention Model (1 of 2)</a:t>
            </a:r>
          </a:p>
        </p:txBody>
      </p:sp>
      <p:sp>
        <p:nvSpPr>
          <p:cNvPr id="3" name="Content Placeholder 2"/>
          <p:cNvSpPr>
            <a:spLocks noGrp="1"/>
          </p:cNvSpPr>
          <p:nvPr>
            <p:ph idx="1"/>
          </p:nvPr>
        </p:nvSpPr>
        <p:spPr/>
        <p:txBody>
          <a:bodyPr/>
          <a:lstStyle/>
          <a:p>
            <a:r>
              <a:rPr lang="en-US" dirty="0"/>
              <a:t>Suppose the company has been earning 15% on equity (ROE = 15%) and has been paying out 62% of its earnings.</a:t>
            </a:r>
          </a:p>
          <a:p>
            <a:r>
              <a:rPr lang="en-US" dirty="0"/>
              <a:t>If this situation is expected to continue, what’s the expected future g?</a:t>
            </a:r>
          </a:p>
        </p:txBody>
      </p:sp>
    </p:spTree>
    <p:extLst>
      <p:ext uri="{BB962C8B-B14F-4D97-AF65-F5344CB8AC3E}">
        <p14:creationId xmlns:p14="http://schemas.microsoft.com/office/powerpoint/2010/main" val="1606678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Earnings Retention Model (2 of 2)</a:t>
            </a:r>
          </a:p>
        </p:txBody>
      </p:sp>
      <p:sp>
        <p:nvSpPr>
          <p:cNvPr id="3" name="Content Placeholder 2"/>
          <p:cNvSpPr>
            <a:spLocks noGrp="1"/>
          </p:cNvSpPr>
          <p:nvPr>
            <p:ph idx="1"/>
          </p:nvPr>
        </p:nvSpPr>
        <p:spPr/>
        <p:txBody>
          <a:bodyPr/>
          <a:lstStyle/>
          <a:p>
            <a:r>
              <a:rPr lang="en-US" dirty="0"/>
              <a:t>Growth from earnings retention model:</a:t>
            </a:r>
            <a:br>
              <a:rPr lang="en-US" dirty="0"/>
            </a:br>
            <a:r>
              <a:rPr lang="en-US" dirty="0"/>
              <a:t>g = (Retention rate)(ROE) </a:t>
            </a:r>
            <a:br>
              <a:rPr lang="en-US" dirty="0"/>
            </a:br>
            <a:r>
              <a:rPr lang="en-US" dirty="0"/>
              <a:t>g = (1 – Payout rate)(ROE) </a:t>
            </a:r>
          </a:p>
          <a:p>
            <a:pPr>
              <a:buNone/>
            </a:pPr>
            <a:r>
              <a:rPr lang="en-US" dirty="0"/>
              <a:t>	g = (1 – 0.62)(15%) = 5.7%.</a:t>
            </a:r>
            <a:br>
              <a:rPr lang="en-US" dirty="0"/>
            </a:br>
            <a:br>
              <a:rPr lang="en-US" dirty="0"/>
            </a:br>
            <a:r>
              <a:rPr lang="en-US" dirty="0"/>
              <a:t>This is close to g = 5.8% given earlier.</a:t>
            </a:r>
          </a:p>
        </p:txBody>
      </p:sp>
    </p:spTree>
    <p:extLst>
      <p:ext uri="{BB962C8B-B14F-4D97-AF65-F5344CB8AC3E}">
        <p14:creationId xmlns:p14="http://schemas.microsoft.com/office/powerpoint/2010/main" val="3010327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Could the dividend growth approach be applied if g is not constant?</a:t>
            </a:r>
          </a:p>
        </p:txBody>
      </p:sp>
      <p:sp>
        <p:nvSpPr>
          <p:cNvPr id="3" name="Content Placeholder 2"/>
          <p:cNvSpPr>
            <a:spLocks noGrp="1"/>
          </p:cNvSpPr>
          <p:nvPr>
            <p:ph idx="1"/>
          </p:nvPr>
        </p:nvSpPr>
        <p:spPr/>
        <p:txBody>
          <a:bodyPr/>
          <a:lstStyle/>
          <a:p>
            <a:r>
              <a:rPr lang="en-US" dirty="0"/>
              <a:t>YES, </a:t>
            </a:r>
            <a:r>
              <a:rPr lang="en-US" dirty="0" err="1"/>
              <a:t>nonconstant</a:t>
            </a:r>
            <a:r>
              <a:rPr lang="en-US" dirty="0"/>
              <a:t> g stocks are expected to have constant g at some point, generally in 5 to 10 years.</a:t>
            </a:r>
          </a:p>
          <a:p>
            <a:r>
              <a:rPr lang="en-US" dirty="0"/>
              <a:t>But calculations get complicated.  See the </a:t>
            </a:r>
            <a:r>
              <a:rPr lang="en-US" i="1" dirty="0"/>
              <a:t>Ch09 Mini Case.xlsx </a:t>
            </a:r>
            <a:r>
              <a:rPr lang="en-US" dirty="0"/>
              <a:t>or see </a:t>
            </a:r>
            <a:r>
              <a:rPr lang="en-US" i="1" dirty="0"/>
              <a:t>Web 09B </a:t>
            </a:r>
            <a:r>
              <a:rPr lang="en-US" dirty="0"/>
              <a:t>worksheet in the file </a:t>
            </a:r>
            <a:r>
              <a:rPr lang="en-US" i="1" dirty="0"/>
              <a:t>Ch09 Tool Kit.xlsx</a:t>
            </a:r>
            <a:r>
              <a:rPr lang="en-US" dirty="0"/>
              <a:t>.</a:t>
            </a:r>
          </a:p>
        </p:txBody>
      </p:sp>
    </p:spTree>
    <p:extLst>
      <p:ext uri="{BB962C8B-B14F-4D97-AF65-F5344CB8AC3E}">
        <p14:creationId xmlns:p14="http://schemas.microsoft.com/office/powerpoint/2010/main" val="3248019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Own-Bond-Yield-Plus-Judgmental-Risk-Premium Method: </a:t>
            </a:r>
            <a:r>
              <a:rPr lang="en-US" sz="3600" dirty="0" err="1"/>
              <a:t>r</a:t>
            </a:r>
            <a:r>
              <a:rPr lang="en-US" sz="3600" baseline="-25000" dirty="0" err="1"/>
              <a:t>d</a:t>
            </a:r>
            <a:r>
              <a:rPr lang="en-US" sz="3600" dirty="0"/>
              <a:t> = 10%, RP = 3.2%</a:t>
            </a:r>
            <a:endParaRPr lang="en-US" dirty="0"/>
          </a:p>
        </p:txBody>
      </p:sp>
      <p:sp>
        <p:nvSpPr>
          <p:cNvPr id="3" name="Content Placeholder 2"/>
          <p:cNvSpPr>
            <a:spLocks noGrp="1"/>
          </p:cNvSpPr>
          <p:nvPr>
            <p:ph idx="1"/>
          </p:nvPr>
        </p:nvSpPr>
        <p:spPr/>
        <p:txBody>
          <a:bodyPr/>
          <a:lstStyle/>
          <a:p>
            <a:pPr>
              <a:lnSpc>
                <a:spcPct val="90000"/>
              </a:lnSpc>
            </a:pPr>
            <a:r>
              <a:rPr lang="en-US" dirty="0" err="1"/>
              <a:t>r</a:t>
            </a:r>
            <a:r>
              <a:rPr lang="en-US" baseline="-25000" dirty="0" err="1"/>
              <a:t>s</a:t>
            </a:r>
            <a:r>
              <a:rPr lang="en-US" dirty="0"/>
              <a:t>	= </a:t>
            </a:r>
            <a:r>
              <a:rPr lang="en-US" dirty="0" err="1"/>
              <a:t>r</a:t>
            </a:r>
            <a:r>
              <a:rPr lang="en-US" baseline="-25000" dirty="0" err="1"/>
              <a:t>d</a:t>
            </a:r>
            <a:r>
              <a:rPr lang="en-US" dirty="0"/>
              <a:t> + Judgmental risk premium</a:t>
            </a:r>
          </a:p>
          <a:p>
            <a:pPr>
              <a:lnSpc>
                <a:spcPct val="90000"/>
              </a:lnSpc>
            </a:pPr>
            <a:r>
              <a:rPr lang="en-US" dirty="0"/>
              <a:t> </a:t>
            </a:r>
            <a:r>
              <a:rPr lang="en-US" dirty="0" err="1"/>
              <a:t>r</a:t>
            </a:r>
            <a:r>
              <a:rPr lang="en-US" baseline="-25000" dirty="0" err="1"/>
              <a:t>s</a:t>
            </a:r>
            <a:r>
              <a:rPr lang="en-US" dirty="0"/>
              <a:t>	= 10.0% + 3.2% = 13.2%</a:t>
            </a:r>
          </a:p>
          <a:p>
            <a:pPr>
              <a:lnSpc>
                <a:spcPct val="90000"/>
              </a:lnSpc>
            </a:pPr>
            <a:endParaRPr lang="en-US" dirty="0"/>
          </a:p>
          <a:p>
            <a:pPr>
              <a:lnSpc>
                <a:spcPct val="90000"/>
              </a:lnSpc>
            </a:pPr>
            <a:r>
              <a:rPr lang="en-US" dirty="0"/>
              <a:t>This judgmental-risk premium </a:t>
            </a:r>
            <a:r>
              <a:rPr lang="en-US" sz="3600" dirty="0">
                <a:solidFill>
                  <a:schemeClr val="tx2"/>
                </a:solidFill>
                <a:sym typeface="Symbol" pitchFamily="18" charset="2"/>
              </a:rPr>
              <a:t></a:t>
            </a:r>
            <a:r>
              <a:rPr lang="en-US" dirty="0"/>
              <a:t> CAPM equity risk premium, RP</a:t>
            </a:r>
            <a:r>
              <a:rPr lang="en-US" baseline="-25000" dirty="0"/>
              <a:t>M</a:t>
            </a:r>
            <a:r>
              <a:rPr lang="en-US" dirty="0"/>
              <a:t>.</a:t>
            </a:r>
          </a:p>
          <a:p>
            <a:pPr>
              <a:lnSpc>
                <a:spcPct val="90000"/>
              </a:lnSpc>
            </a:pPr>
            <a:r>
              <a:rPr lang="en-US" dirty="0"/>
              <a:t>Produces ballpark estimate of </a:t>
            </a:r>
            <a:r>
              <a:rPr lang="en-US" dirty="0" err="1"/>
              <a:t>r</a:t>
            </a:r>
            <a:r>
              <a:rPr lang="en-US" baseline="-25000" dirty="0" err="1"/>
              <a:t>s</a:t>
            </a:r>
            <a:r>
              <a:rPr lang="en-US" dirty="0"/>
              <a:t>.  Useful check.=</a:t>
            </a:r>
          </a:p>
        </p:txBody>
      </p:sp>
    </p:spTree>
    <p:extLst>
      <p:ext uri="{BB962C8B-B14F-4D97-AF65-F5344CB8AC3E}">
        <p14:creationId xmlns:p14="http://schemas.microsoft.com/office/powerpoint/2010/main" val="2583640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What’s a reasonable final estimate of </a:t>
            </a:r>
            <a:r>
              <a:rPr lang="en-US" sz="3600" dirty="0" err="1"/>
              <a:t>r</a:t>
            </a:r>
            <a:r>
              <a:rPr lang="en-US" sz="3600" baseline="-25000" dirty="0" err="1"/>
              <a:t>s</a:t>
            </a:r>
            <a:r>
              <a:rPr lang="en-US" sz="3600" dirty="0"/>
              <a:t>?</a:t>
            </a:r>
            <a:endParaRPr lang="en-US" dirty="0"/>
          </a:p>
        </p:txBody>
      </p:sp>
      <p:graphicFrame>
        <p:nvGraphicFramePr>
          <p:cNvPr id="5" name="Table 2" descr="A table shows the methods C A P M, Dividend growth, r subscript d plus judgment, and average and the estimation of the methods 12.8 percent, 12.4 percent, 13.2 percent, and 12.8 percent. "/>
          <p:cNvGraphicFramePr>
            <a:graphicFrameLocks noGrp="1"/>
          </p:cNvGraphicFramePr>
          <p:nvPr>
            <p:ph idx="1"/>
            <p:extLst>
              <p:ext uri="{D42A27DB-BD31-4B8C-83A1-F6EECF244321}">
                <p14:modId xmlns:p14="http://schemas.microsoft.com/office/powerpoint/2010/main" val="2475302430"/>
              </p:ext>
            </p:extLst>
          </p:nvPr>
        </p:nvGraphicFramePr>
        <p:xfrm>
          <a:off x="3286125" y="1772443"/>
          <a:ext cx="5619750" cy="3313114"/>
        </p:xfrm>
        <a:graphic>
          <a:graphicData uri="http://schemas.openxmlformats.org/drawingml/2006/table">
            <a:tbl>
              <a:tblPr firstRow="1" bandRow="1"/>
              <a:tblGrid>
                <a:gridCol w="3084513">
                  <a:extLst>
                    <a:ext uri="{9D8B030D-6E8A-4147-A177-3AD203B41FA5}">
                      <a16:colId xmlns:a16="http://schemas.microsoft.com/office/drawing/2014/main" val="20000"/>
                    </a:ext>
                  </a:extLst>
                </a:gridCol>
                <a:gridCol w="2535237">
                  <a:extLst>
                    <a:ext uri="{9D8B030D-6E8A-4147-A177-3AD203B41FA5}">
                      <a16:colId xmlns:a16="http://schemas.microsoft.com/office/drawing/2014/main" val="20001"/>
                    </a:ext>
                  </a:extLst>
                </a:gridCol>
              </a:tblGrid>
              <a:tr h="66198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Method</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Estimate</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3575">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CAPM</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12.8%</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6198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Dividend growth</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12.4%</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63575">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a:t>
                      </a:r>
                      <a:r>
                        <a:rPr kumimoji="0" lang="en-US" sz="2800" b="0" i="0" u="none" strike="noStrike" cap="none" normalizeH="0" baseline="-25000" dirty="0">
                          <a:ln>
                            <a:noFill/>
                          </a:ln>
                          <a:solidFill>
                            <a:schemeClr val="tx1"/>
                          </a:solidFill>
                          <a:effectLst/>
                          <a:latin typeface="Arial" panose="020B0604020202020204" pitchFamily="34" charset="0"/>
                          <a:cs typeface="Arial" panose="020B0604020202020204" pitchFamily="34" charset="0"/>
                        </a:rPr>
                        <a:t>d</a:t>
                      </a: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judgment</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Arial" panose="020B0604020202020204" pitchFamily="34" charset="0"/>
                          <a:cs typeface="Arial" panose="020B0604020202020204" pitchFamily="34" charset="0"/>
                        </a:rPr>
                        <a:t>13.2%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66198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Average</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12.8%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17281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the Weights for the WACC</a:t>
            </a:r>
          </a:p>
        </p:txBody>
      </p:sp>
      <p:sp>
        <p:nvSpPr>
          <p:cNvPr id="3" name="Content Placeholder 2"/>
          <p:cNvSpPr>
            <a:spLocks noGrp="1"/>
          </p:cNvSpPr>
          <p:nvPr>
            <p:ph idx="1"/>
          </p:nvPr>
        </p:nvSpPr>
        <p:spPr/>
        <p:txBody>
          <a:bodyPr/>
          <a:lstStyle/>
          <a:p>
            <a:r>
              <a:rPr lang="en-US" dirty="0"/>
              <a:t>The weights are the percentages of the firm that will be financed by each component.</a:t>
            </a:r>
          </a:p>
          <a:p>
            <a:r>
              <a:rPr lang="en-US" dirty="0"/>
              <a:t>If possible, always use the target weights for the percentages of the firm that will be financed with the various types of capital. </a:t>
            </a:r>
          </a:p>
        </p:txBody>
      </p:sp>
    </p:spTree>
    <p:extLst>
      <p:ext uri="{BB962C8B-B14F-4D97-AF65-F5344CB8AC3E}">
        <p14:creationId xmlns:p14="http://schemas.microsoft.com/office/powerpoint/2010/main" val="2734329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Target Weights</a:t>
            </a:r>
          </a:p>
        </p:txBody>
      </p:sp>
      <p:sp>
        <p:nvSpPr>
          <p:cNvPr id="3" name="Content Placeholder 2"/>
          <p:cNvSpPr>
            <a:spLocks noGrp="1"/>
          </p:cNvSpPr>
          <p:nvPr>
            <p:ph idx="1"/>
          </p:nvPr>
        </p:nvSpPr>
        <p:spPr/>
        <p:txBody>
          <a:bodyPr/>
          <a:lstStyle/>
          <a:p>
            <a:pPr>
              <a:tabLst>
                <a:tab pos="1147763" algn="l"/>
                <a:tab pos="3827463" algn="l"/>
              </a:tabLst>
            </a:pPr>
            <a:r>
              <a:rPr lang="en-US" dirty="0" err="1"/>
              <a:t>w</a:t>
            </a:r>
            <a:r>
              <a:rPr lang="en-US" baseline="-25000" dirty="0" err="1"/>
              <a:t>d</a:t>
            </a:r>
            <a:r>
              <a:rPr lang="en-US" baseline="-25000" dirty="0"/>
              <a:t> </a:t>
            </a:r>
            <a:r>
              <a:rPr lang="en-US" dirty="0"/>
              <a:t>= 30%</a:t>
            </a:r>
          </a:p>
          <a:p>
            <a:pPr>
              <a:tabLst>
                <a:tab pos="1147763" algn="l"/>
                <a:tab pos="3827463" algn="l"/>
              </a:tabLst>
            </a:pPr>
            <a:r>
              <a:rPr lang="en-US" dirty="0" err="1"/>
              <a:t>w</a:t>
            </a:r>
            <a:r>
              <a:rPr lang="en-US" baseline="-25000" dirty="0" err="1"/>
              <a:t>ps</a:t>
            </a:r>
            <a:r>
              <a:rPr lang="en-US" baseline="-25000" dirty="0"/>
              <a:t> </a:t>
            </a:r>
            <a:r>
              <a:rPr lang="en-US" dirty="0"/>
              <a:t>= 10%</a:t>
            </a:r>
          </a:p>
          <a:p>
            <a:pPr>
              <a:tabLst>
                <a:tab pos="1147763" algn="l"/>
                <a:tab pos="3827463" algn="l"/>
              </a:tabLst>
            </a:pPr>
            <a:r>
              <a:rPr lang="en-US" dirty="0" err="1"/>
              <a:t>w</a:t>
            </a:r>
            <a:r>
              <a:rPr lang="en-US" baseline="-25000" dirty="0" err="1"/>
              <a:t>s</a:t>
            </a:r>
            <a:r>
              <a:rPr lang="en-US" baseline="-25000" dirty="0"/>
              <a:t> </a:t>
            </a:r>
            <a:r>
              <a:rPr lang="en-US" dirty="0"/>
              <a:t>= 60%</a:t>
            </a:r>
          </a:p>
        </p:txBody>
      </p:sp>
    </p:spTree>
    <p:extLst>
      <p:ext uri="{BB962C8B-B14F-4D97-AF65-F5344CB8AC3E}">
        <p14:creationId xmlns:p14="http://schemas.microsoft.com/office/powerpoint/2010/main" val="3102850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(1 of 6)</a:t>
            </a:r>
          </a:p>
        </p:txBody>
      </p:sp>
      <p:sp>
        <p:nvSpPr>
          <p:cNvPr id="3" name="Content Placeholder 2"/>
          <p:cNvSpPr>
            <a:spLocks noGrp="1"/>
          </p:cNvSpPr>
          <p:nvPr>
            <p:ph idx="1"/>
          </p:nvPr>
        </p:nvSpPr>
        <p:spPr/>
        <p:txBody>
          <a:bodyPr/>
          <a:lstStyle/>
          <a:p>
            <a:r>
              <a:rPr lang="en-US" dirty="0"/>
              <a:t>If you don’t know the targets, it is better to estimate the weights using current market values than current book values.</a:t>
            </a:r>
          </a:p>
          <a:p>
            <a:r>
              <a:rPr lang="en-US" dirty="0"/>
              <a:t>Calculate the market value of debt if you have the information.</a:t>
            </a:r>
          </a:p>
          <a:p>
            <a:r>
              <a:rPr lang="en-US" dirty="0"/>
              <a:t>If you don’t know the market value of debt, then it is usually reasonable to use the book values of debt, especially if the debt is short-term.</a:t>
            </a:r>
          </a:p>
        </p:txBody>
      </p:sp>
    </p:spTree>
    <p:extLst>
      <p:ext uri="{BB962C8B-B14F-4D97-AF65-F5344CB8AC3E}">
        <p14:creationId xmlns:p14="http://schemas.microsoft.com/office/powerpoint/2010/main" val="3834395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(2 of 6)</a:t>
            </a:r>
          </a:p>
        </p:txBody>
      </p:sp>
      <p:sp>
        <p:nvSpPr>
          <p:cNvPr id="3" name="Content Placeholder 2"/>
          <p:cNvSpPr>
            <a:spLocks noGrp="1"/>
          </p:cNvSpPr>
          <p:nvPr>
            <p:ph idx="1"/>
          </p:nvPr>
        </p:nvSpPr>
        <p:spPr/>
        <p:txBody>
          <a:bodyPr/>
          <a:lstStyle/>
          <a:p>
            <a:r>
              <a:rPr lang="en-US" sz="3600" dirty="0"/>
              <a:t>Debt</a:t>
            </a:r>
          </a:p>
          <a:p>
            <a:pPr lvl="1"/>
            <a:r>
              <a:rPr lang="en-US" sz="3200" dirty="0"/>
              <a:t>Price = $1,153.72</a:t>
            </a:r>
          </a:p>
          <a:p>
            <a:pPr lvl="1"/>
            <a:r>
              <a:rPr lang="en-US" sz="3200" dirty="0"/>
              <a:t>70,000 bonds</a:t>
            </a:r>
          </a:p>
          <a:p>
            <a:r>
              <a:rPr lang="en-US" sz="3600" dirty="0"/>
              <a:t>Market value of debt:</a:t>
            </a:r>
          </a:p>
          <a:p>
            <a:pPr lvl="1"/>
            <a:r>
              <a:rPr lang="en-US" sz="3200" dirty="0"/>
              <a:t>$1,153.72(70,000) = $80,760,400.</a:t>
            </a:r>
          </a:p>
          <a:p>
            <a:pPr lvl="1"/>
            <a:r>
              <a:rPr lang="en-US" sz="3200" dirty="0"/>
              <a:t>Approximately equal to $80.76 million.</a:t>
            </a:r>
          </a:p>
        </p:txBody>
      </p:sp>
    </p:spTree>
    <p:extLst>
      <p:ext uri="{BB962C8B-B14F-4D97-AF65-F5344CB8AC3E}">
        <p14:creationId xmlns:p14="http://schemas.microsoft.com/office/powerpoint/2010/main" val="766447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(3 of 6)</a:t>
            </a:r>
          </a:p>
        </p:txBody>
      </p:sp>
      <p:sp>
        <p:nvSpPr>
          <p:cNvPr id="3" name="Content Placeholder 2"/>
          <p:cNvSpPr>
            <a:spLocks noGrp="1"/>
          </p:cNvSpPr>
          <p:nvPr>
            <p:ph idx="1"/>
          </p:nvPr>
        </p:nvSpPr>
        <p:spPr/>
        <p:txBody>
          <a:bodyPr/>
          <a:lstStyle/>
          <a:p>
            <a:r>
              <a:rPr lang="en-US" sz="3600" dirty="0"/>
              <a:t>Preferred stock</a:t>
            </a:r>
          </a:p>
          <a:p>
            <a:pPr lvl="1"/>
            <a:r>
              <a:rPr lang="en-US" sz="3200" dirty="0"/>
              <a:t>Price = $116.95</a:t>
            </a:r>
          </a:p>
          <a:p>
            <a:pPr lvl="1"/>
            <a:r>
              <a:rPr lang="en-US" sz="3200" dirty="0"/>
              <a:t>200,000 shares</a:t>
            </a:r>
          </a:p>
          <a:p>
            <a:r>
              <a:rPr lang="en-US" sz="3600" dirty="0"/>
              <a:t>Market value of preferred stock:</a:t>
            </a:r>
          </a:p>
          <a:p>
            <a:pPr lvl="1"/>
            <a:r>
              <a:rPr lang="en-US" sz="3200" dirty="0"/>
              <a:t>$116.95(200,000) = $23,390,000.</a:t>
            </a:r>
          </a:p>
          <a:p>
            <a:pPr lvl="1"/>
            <a:r>
              <a:rPr lang="en-US" sz="3200" dirty="0"/>
              <a:t>Equal to $23.90 million.</a:t>
            </a:r>
          </a:p>
        </p:txBody>
      </p:sp>
    </p:spTree>
    <p:extLst>
      <p:ext uri="{BB962C8B-B14F-4D97-AF65-F5344CB8AC3E}">
        <p14:creationId xmlns:p14="http://schemas.microsoft.com/office/powerpoint/2010/main" val="2159684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(4 of 6)</a:t>
            </a:r>
          </a:p>
        </p:txBody>
      </p:sp>
      <p:sp>
        <p:nvSpPr>
          <p:cNvPr id="3" name="Content Placeholder 2"/>
          <p:cNvSpPr>
            <a:spLocks noGrp="1"/>
          </p:cNvSpPr>
          <p:nvPr>
            <p:ph idx="1"/>
          </p:nvPr>
        </p:nvSpPr>
        <p:spPr/>
        <p:txBody>
          <a:bodyPr/>
          <a:lstStyle/>
          <a:p>
            <a:r>
              <a:rPr lang="en-US" dirty="0"/>
              <a:t>Common stock</a:t>
            </a:r>
          </a:p>
          <a:p>
            <a:pPr lvl="1"/>
            <a:r>
              <a:rPr lang="en-US" dirty="0"/>
              <a:t>Price = $50.00</a:t>
            </a:r>
          </a:p>
          <a:p>
            <a:pPr lvl="1"/>
            <a:r>
              <a:rPr lang="en-US" dirty="0"/>
              <a:t>3 million shares</a:t>
            </a:r>
          </a:p>
          <a:p>
            <a:r>
              <a:rPr lang="en-US" dirty="0"/>
              <a:t>Market value of preferred stock:</a:t>
            </a:r>
          </a:p>
          <a:p>
            <a:pPr lvl="1"/>
            <a:r>
              <a:rPr lang="en-US" dirty="0"/>
              <a:t>$50.00(3) = $150 million.</a:t>
            </a:r>
          </a:p>
        </p:txBody>
      </p:sp>
    </p:spTree>
    <p:extLst>
      <p:ext uri="{BB962C8B-B14F-4D97-AF65-F5344CB8AC3E}">
        <p14:creationId xmlns:p14="http://schemas.microsoft.com/office/powerpoint/2010/main" val="1867847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(5 of 6)</a:t>
            </a:r>
          </a:p>
        </p:txBody>
      </p:sp>
      <p:sp>
        <p:nvSpPr>
          <p:cNvPr id="3" name="Content Placeholder 2"/>
          <p:cNvSpPr>
            <a:spLocks noGrp="1"/>
          </p:cNvSpPr>
          <p:nvPr>
            <p:ph idx="1"/>
          </p:nvPr>
        </p:nvSpPr>
        <p:spPr/>
        <p:txBody>
          <a:bodyPr/>
          <a:lstStyle/>
          <a:p>
            <a:r>
              <a:rPr lang="en-US" dirty="0"/>
              <a:t>Market value:</a:t>
            </a:r>
          </a:p>
          <a:p>
            <a:pPr lvl="1"/>
            <a:r>
              <a:rPr lang="en-US" dirty="0"/>
              <a:t>Debt = $80.76 million</a:t>
            </a:r>
          </a:p>
          <a:p>
            <a:pPr lvl="1"/>
            <a:r>
              <a:rPr lang="en-US" dirty="0"/>
              <a:t>Preferred = $23.30 million</a:t>
            </a:r>
          </a:p>
          <a:p>
            <a:pPr lvl="1"/>
            <a:r>
              <a:rPr lang="en-US" dirty="0"/>
              <a:t>Common = $150 million</a:t>
            </a:r>
          </a:p>
          <a:p>
            <a:r>
              <a:rPr lang="en-US" dirty="0"/>
              <a:t>Total value = $254.60 million</a:t>
            </a:r>
          </a:p>
        </p:txBody>
      </p:sp>
    </p:spTree>
    <p:extLst>
      <p:ext uri="{BB962C8B-B14F-4D97-AF65-F5344CB8AC3E}">
        <p14:creationId xmlns:p14="http://schemas.microsoft.com/office/powerpoint/2010/main" val="2749774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 for the Capital Structure</a:t>
            </a:r>
            <a:br>
              <a:rPr lang="en-US" dirty="0"/>
            </a:br>
            <a:r>
              <a:rPr lang="en-US" dirty="0"/>
              <a:t>(6 of 6)</a:t>
            </a:r>
          </a:p>
        </p:txBody>
      </p:sp>
      <p:sp>
        <p:nvSpPr>
          <p:cNvPr id="3" name="Content Placeholder 2"/>
          <p:cNvSpPr>
            <a:spLocks noGrp="1"/>
          </p:cNvSpPr>
          <p:nvPr>
            <p:ph idx="1"/>
          </p:nvPr>
        </p:nvSpPr>
        <p:spPr/>
        <p:txBody>
          <a:bodyPr/>
          <a:lstStyle/>
          <a:p>
            <a:r>
              <a:rPr lang="en-US" dirty="0"/>
              <a:t>Market value weights:</a:t>
            </a:r>
          </a:p>
          <a:p>
            <a:pPr lvl="1"/>
            <a:r>
              <a:rPr lang="en-US" dirty="0"/>
              <a:t>Debt = $80.76/$254.60 =  31.79%</a:t>
            </a:r>
          </a:p>
          <a:p>
            <a:pPr lvl="1"/>
            <a:r>
              <a:rPr lang="en-US" dirty="0"/>
              <a:t>Pref. = $23.30/$254.60 = 9.17%</a:t>
            </a:r>
          </a:p>
          <a:p>
            <a:pPr lvl="1"/>
            <a:r>
              <a:rPr lang="en-US" dirty="0"/>
              <a:t>Common = $150/$254.60 = 59.04%</a:t>
            </a:r>
          </a:p>
          <a:p>
            <a:r>
              <a:rPr lang="en-US" dirty="0"/>
              <a:t>The market value weights are very close to the target weights.</a:t>
            </a:r>
          </a:p>
        </p:txBody>
      </p:sp>
    </p:spTree>
    <p:extLst>
      <p:ext uri="{BB962C8B-B14F-4D97-AF65-F5344CB8AC3E}">
        <p14:creationId xmlns:p14="http://schemas.microsoft.com/office/powerpoint/2010/main" val="1624817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the WACC using the target weights?</a:t>
            </a:r>
          </a:p>
        </p:txBody>
      </p:sp>
      <p:sp>
        <p:nvSpPr>
          <p:cNvPr id="3" name="Content Placeholder 2"/>
          <p:cNvSpPr>
            <a:spLocks noGrp="1"/>
          </p:cNvSpPr>
          <p:nvPr>
            <p:ph idx="1"/>
          </p:nvPr>
        </p:nvSpPr>
        <p:spPr/>
        <p:txBody>
          <a:bodyPr/>
          <a:lstStyle/>
          <a:p>
            <a:pPr marL="1658938" indent="-1658938">
              <a:buNone/>
              <a:tabLst>
                <a:tab pos="1254125" algn="l"/>
              </a:tabLst>
            </a:pPr>
            <a:r>
              <a:rPr lang="en-US" dirty="0"/>
              <a:t>WACC	= </a:t>
            </a:r>
            <a:r>
              <a:rPr lang="en-US" dirty="0" err="1"/>
              <a:t>w</a:t>
            </a:r>
            <a:r>
              <a:rPr lang="en-US" baseline="-25000" dirty="0" err="1"/>
              <a:t>d</a:t>
            </a:r>
            <a:r>
              <a:rPr lang="en-US" dirty="0" err="1"/>
              <a:t>r</a:t>
            </a:r>
            <a:r>
              <a:rPr lang="en-US" baseline="-25000" dirty="0" err="1"/>
              <a:t>d</a:t>
            </a:r>
            <a:r>
              <a:rPr lang="en-US" dirty="0"/>
              <a:t>(1 – T) + </a:t>
            </a:r>
            <a:r>
              <a:rPr lang="en-US" dirty="0" err="1"/>
              <a:t>w</a:t>
            </a:r>
            <a:r>
              <a:rPr lang="en-US" baseline="-25000" dirty="0" err="1"/>
              <a:t>ps</a:t>
            </a:r>
            <a:r>
              <a:rPr lang="en-US" dirty="0" err="1"/>
              <a:t>r</a:t>
            </a:r>
            <a:r>
              <a:rPr lang="en-US" baseline="-25000" dirty="0" err="1"/>
              <a:t>ps</a:t>
            </a:r>
            <a:r>
              <a:rPr lang="en-US" dirty="0"/>
              <a:t> + </a:t>
            </a:r>
            <a:r>
              <a:rPr lang="en-US" dirty="0" err="1"/>
              <a:t>w</a:t>
            </a:r>
            <a:r>
              <a:rPr lang="en-US" baseline="-25000" dirty="0" err="1"/>
              <a:t>s</a:t>
            </a:r>
            <a:r>
              <a:rPr lang="en-US" dirty="0" err="1"/>
              <a:t>r</a:t>
            </a:r>
            <a:r>
              <a:rPr lang="en-US" baseline="-25000" dirty="0" err="1"/>
              <a:t>s</a:t>
            </a:r>
            <a:endParaRPr lang="en-US" baseline="-25000" dirty="0"/>
          </a:p>
          <a:p>
            <a:pPr marL="1658938" indent="-1658938">
              <a:buNone/>
              <a:tabLst>
                <a:tab pos="1254125" algn="l"/>
              </a:tabLst>
            </a:pPr>
            <a:r>
              <a:rPr lang="en-US" dirty="0"/>
              <a:t>WACC	= 0.3(10%)(1 </a:t>
            </a:r>
            <a:r>
              <a:rPr lang="en-US" dirty="0">
                <a:cs typeface="Tahoma" pitchFamily="34" charset="0"/>
              </a:rPr>
              <a:t>− </a:t>
            </a:r>
            <a:r>
              <a:rPr lang="en-US" dirty="0"/>
              <a:t>0.25) + 0.1(9%)</a:t>
            </a:r>
          </a:p>
          <a:p>
            <a:pPr marL="1658938" indent="-1658938">
              <a:buNone/>
              <a:tabLst>
                <a:tab pos="1254125" algn="l"/>
              </a:tabLst>
            </a:pPr>
            <a:r>
              <a:rPr lang="en-US" dirty="0"/>
              <a:t>		+ 0.6(12.8%)</a:t>
            </a:r>
          </a:p>
          <a:p>
            <a:pPr marL="1658938" indent="-1658938">
              <a:buNone/>
              <a:tabLst>
                <a:tab pos="1254125" algn="l"/>
              </a:tabLst>
            </a:pPr>
            <a:r>
              <a:rPr lang="en-US" dirty="0"/>
              <a:t>WACC	= 10.83% </a:t>
            </a:r>
          </a:p>
        </p:txBody>
      </p:sp>
    </p:spTree>
    <p:extLst>
      <p:ext uri="{BB962C8B-B14F-4D97-AF65-F5344CB8AC3E}">
        <p14:creationId xmlns:p14="http://schemas.microsoft.com/office/powerpoint/2010/main" val="2778679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factors influence a company’s WACC?</a:t>
            </a:r>
          </a:p>
        </p:txBody>
      </p:sp>
      <p:sp>
        <p:nvSpPr>
          <p:cNvPr id="3" name="Content Placeholder 2"/>
          <p:cNvSpPr>
            <a:spLocks noGrp="1"/>
          </p:cNvSpPr>
          <p:nvPr>
            <p:ph idx="1"/>
          </p:nvPr>
        </p:nvSpPr>
        <p:spPr/>
        <p:txBody>
          <a:bodyPr/>
          <a:lstStyle/>
          <a:p>
            <a:pPr>
              <a:spcAft>
                <a:spcPts val="0"/>
              </a:spcAft>
            </a:pPr>
            <a:r>
              <a:rPr lang="en-US" dirty="0"/>
              <a:t>Uncontrollable factors:</a:t>
            </a:r>
          </a:p>
          <a:p>
            <a:pPr lvl="1">
              <a:spcAft>
                <a:spcPts val="0"/>
              </a:spcAft>
            </a:pPr>
            <a:r>
              <a:rPr lang="en-US" dirty="0"/>
              <a:t>Market conditions, especially interest rates.</a:t>
            </a:r>
          </a:p>
          <a:p>
            <a:pPr lvl="1">
              <a:spcAft>
                <a:spcPts val="0"/>
              </a:spcAft>
            </a:pPr>
            <a:r>
              <a:rPr lang="en-US" dirty="0"/>
              <a:t>The market risk premium.</a:t>
            </a:r>
          </a:p>
          <a:p>
            <a:pPr lvl="1">
              <a:spcAft>
                <a:spcPts val="0"/>
              </a:spcAft>
            </a:pPr>
            <a:r>
              <a:rPr lang="en-US" dirty="0"/>
              <a:t>Tax rates.</a:t>
            </a:r>
          </a:p>
          <a:p>
            <a:pPr>
              <a:spcAft>
                <a:spcPts val="0"/>
              </a:spcAft>
            </a:pPr>
            <a:r>
              <a:rPr lang="en-US" dirty="0"/>
              <a:t>Controllable factors:</a:t>
            </a:r>
          </a:p>
          <a:p>
            <a:pPr lvl="1">
              <a:spcAft>
                <a:spcPts val="0"/>
              </a:spcAft>
            </a:pPr>
            <a:r>
              <a:rPr lang="en-US" dirty="0"/>
              <a:t>Capital structure policy.</a:t>
            </a:r>
          </a:p>
          <a:p>
            <a:pPr lvl="1">
              <a:spcAft>
                <a:spcPts val="0"/>
              </a:spcAft>
            </a:pPr>
            <a:r>
              <a:rPr lang="en-US" dirty="0"/>
              <a:t>Dividend policy.</a:t>
            </a:r>
          </a:p>
          <a:p>
            <a:pPr lvl="1">
              <a:spcAft>
                <a:spcPts val="0"/>
              </a:spcAft>
            </a:pPr>
            <a:r>
              <a:rPr lang="en-US" dirty="0"/>
              <a:t>Investment policy.  Firms with riskier projects generally have a higher cost of equity.</a:t>
            </a:r>
          </a:p>
        </p:txBody>
      </p:sp>
    </p:spTree>
    <p:extLst>
      <p:ext uri="{BB962C8B-B14F-4D97-AF65-F5344CB8AC3E}">
        <p14:creationId xmlns:p14="http://schemas.microsoft.com/office/powerpoint/2010/main" val="2128762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the firm’s WACC correct for each of its divisions?</a:t>
            </a:r>
          </a:p>
        </p:txBody>
      </p:sp>
      <p:sp>
        <p:nvSpPr>
          <p:cNvPr id="3" name="Content Placeholder 2"/>
          <p:cNvSpPr>
            <a:spLocks noGrp="1"/>
          </p:cNvSpPr>
          <p:nvPr>
            <p:ph idx="1"/>
          </p:nvPr>
        </p:nvSpPr>
        <p:spPr/>
        <p:txBody>
          <a:bodyPr/>
          <a:lstStyle/>
          <a:p>
            <a:r>
              <a:rPr lang="en-US" dirty="0"/>
              <a:t>NO!  The composite WACC reflects the risk of an average project undertaken by the firm.</a:t>
            </a:r>
          </a:p>
          <a:p>
            <a:r>
              <a:rPr lang="en-US" dirty="0"/>
              <a:t>Different divisions may have different risks.  The division’s WACC should be adjusted to reflect the division’s risk and capital structure.</a:t>
            </a:r>
          </a:p>
        </p:txBody>
      </p:sp>
    </p:spTree>
    <p:extLst>
      <p:ext uri="{BB962C8B-B14F-4D97-AF65-F5344CB8AC3E}">
        <p14:creationId xmlns:p14="http://schemas.microsoft.com/office/powerpoint/2010/main" val="1515399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Risk-Adjusted Divisional Cost of Capital</a:t>
            </a:r>
          </a:p>
        </p:txBody>
      </p:sp>
      <p:sp>
        <p:nvSpPr>
          <p:cNvPr id="3" name="Content Placeholder 2"/>
          <p:cNvSpPr>
            <a:spLocks noGrp="1"/>
          </p:cNvSpPr>
          <p:nvPr>
            <p:ph idx="1"/>
          </p:nvPr>
        </p:nvSpPr>
        <p:spPr/>
        <p:txBody>
          <a:bodyPr/>
          <a:lstStyle/>
          <a:p>
            <a:r>
              <a:rPr lang="en-US" dirty="0"/>
              <a:t>Estimate the cost of capital that the division would have if it were a stand-alone firm.  </a:t>
            </a:r>
          </a:p>
          <a:p>
            <a:r>
              <a:rPr lang="en-US" dirty="0"/>
              <a:t>This requires estimating the division’s beta, cost of debt, and capital structure.</a:t>
            </a:r>
          </a:p>
        </p:txBody>
      </p:sp>
    </p:spTree>
    <p:extLst>
      <p:ext uri="{BB962C8B-B14F-4D97-AF65-F5344CB8AC3E}">
        <p14:creationId xmlns:p14="http://schemas.microsoft.com/office/powerpoint/2010/main" val="1555251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Pure Play Method for Estimating Beta for a Division or a Project</a:t>
            </a:r>
          </a:p>
        </p:txBody>
      </p:sp>
      <p:sp>
        <p:nvSpPr>
          <p:cNvPr id="3" name="Content Placeholder 2"/>
          <p:cNvSpPr>
            <a:spLocks noGrp="1"/>
          </p:cNvSpPr>
          <p:nvPr>
            <p:ph idx="1"/>
          </p:nvPr>
        </p:nvSpPr>
        <p:spPr/>
        <p:txBody>
          <a:bodyPr/>
          <a:lstStyle/>
          <a:p>
            <a:r>
              <a:rPr lang="en-US" dirty="0"/>
              <a:t>Find several publicly traded companies exclusively in project’s business.</a:t>
            </a:r>
          </a:p>
          <a:p>
            <a:r>
              <a:rPr lang="en-US" dirty="0"/>
              <a:t>Use average of their betas as proxy for project’s beta.</a:t>
            </a:r>
          </a:p>
          <a:p>
            <a:r>
              <a:rPr lang="en-US" dirty="0"/>
              <a:t>Hard to find such companies.</a:t>
            </a:r>
          </a:p>
        </p:txBody>
      </p:sp>
    </p:spTree>
    <p:extLst>
      <p:ext uri="{BB962C8B-B14F-4D97-AF65-F5344CB8AC3E}">
        <p14:creationId xmlns:p14="http://schemas.microsoft.com/office/powerpoint/2010/main" val="3426534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Accounting Beta Method for Estimating Beta</a:t>
            </a:r>
          </a:p>
        </p:txBody>
      </p:sp>
      <p:sp>
        <p:nvSpPr>
          <p:cNvPr id="3" name="Content Placeholder 2"/>
          <p:cNvSpPr>
            <a:spLocks noGrp="1"/>
          </p:cNvSpPr>
          <p:nvPr>
            <p:ph idx="1"/>
          </p:nvPr>
        </p:nvSpPr>
        <p:spPr/>
        <p:txBody>
          <a:bodyPr/>
          <a:lstStyle/>
          <a:p>
            <a:r>
              <a:rPr lang="en-US" dirty="0"/>
              <a:t>Run regression between project’s ROA and S&amp;P Index ROA.</a:t>
            </a:r>
          </a:p>
          <a:p>
            <a:r>
              <a:rPr lang="en-US" dirty="0"/>
              <a:t>Accounting betas are correlated (0.5 – 0.6) with market betas.</a:t>
            </a:r>
          </a:p>
          <a:p>
            <a:r>
              <a:rPr lang="en-US" dirty="0"/>
              <a:t>But normally can’t get data on new projects’ ROAs before the capital budgeting decision has been made.</a:t>
            </a:r>
          </a:p>
        </p:txBody>
      </p:sp>
    </p:spTree>
    <p:extLst>
      <p:ext uri="{BB962C8B-B14F-4D97-AF65-F5344CB8AC3E}">
        <p14:creationId xmlns:p14="http://schemas.microsoft.com/office/powerpoint/2010/main" val="4281657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Divisional Cost of Capital Using CAPM (1 of 2)</a:t>
            </a:r>
          </a:p>
        </p:txBody>
      </p:sp>
      <p:sp>
        <p:nvSpPr>
          <p:cNvPr id="3" name="Content Placeholder 2"/>
          <p:cNvSpPr>
            <a:spLocks noGrp="1"/>
          </p:cNvSpPr>
          <p:nvPr>
            <p:ph idx="1"/>
          </p:nvPr>
        </p:nvSpPr>
        <p:spPr/>
        <p:txBody>
          <a:bodyPr/>
          <a:lstStyle/>
          <a:p>
            <a:r>
              <a:rPr lang="en-US" dirty="0"/>
              <a:t>Target debt ratio = 10%.</a:t>
            </a:r>
          </a:p>
          <a:p>
            <a:r>
              <a:rPr lang="en-US" dirty="0" err="1"/>
              <a:t>r</a:t>
            </a:r>
            <a:r>
              <a:rPr lang="en-US" baseline="-25000" dirty="0" err="1"/>
              <a:t>d</a:t>
            </a:r>
            <a:r>
              <a:rPr lang="en-US" dirty="0"/>
              <a:t> = 12%.</a:t>
            </a:r>
          </a:p>
          <a:p>
            <a:r>
              <a:rPr lang="en-US" dirty="0" err="1"/>
              <a:t>r</a:t>
            </a:r>
            <a:r>
              <a:rPr lang="en-US" baseline="-25000" dirty="0" err="1"/>
              <a:t>RF</a:t>
            </a:r>
            <a:r>
              <a:rPr lang="en-US" dirty="0"/>
              <a:t> = 5.6%.</a:t>
            </a:r>
          </a:p>
          <a:p>
            <a:r>
              <a:rPr lang="en-US" dirty="0"/>
              <a:t>Tax rate = 25%.</a:t>
            </a:r>
          </a:p>
          <a:p>
            <a:r>
              <a:rPr lang="en-US" dirty="0" err="1"/>
              <a:t>beta</a:t>
            </a:r>
            <a:r>
              <a:rPr lang="en-US" baseline="-25000" dirty="0" err="1"/>
              <a:t>Division</a:t>
            </a:r>
            <a:r>
              <a:rPr lang="en-US" dirty="0"/>
              <a:t> = 1.7.</a:t>
            </a:r>
          </a:p>
          <a:p>
            <a:r>
              <a:rPr lang="en-US" dirty="0"/>
              <a:t>Market risk premium = 6%.</a:t>
            </a:r>
          </a:p>
        </p:txBody>
      </p:sp>
    </p:spTree>
    <p:extLst>
      <p:ext uri="{BB962C8B-B14F-4D97-AF65-F5344CB8AC3E}">
        <p14:creationId xmlns:p14="http://schemas.microsoft.com/office/powerpoint/2010/main" val="1714707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Divisional Cost of Capital Using CAPM (2 of 2)</a:t>
            </a:r>
          </a:p>
        </p:txBody>
      </p:sp>
      <p:sp>
        <p:nvSpPr>
          <p:cNvPr id="3" name="Content Placeholder 2"/>
          <p:cNvSpPr>
            <a:spLocks noGrp="1"/>
          </p:cNvSpPr>
          <p:nvPr>
            <p:ph idx="1"/>
          </p:nvPr>
        </p:nvSpPr>
        <p:spPr/>
        <p:txBody>
          <a:bodyPr/>
          <a:lstStyle/>
          <a:p>
            <a:pPr>
              <a:buNone/>
            </a:pPr>
            <a:r>
              <a:rPr lang="en-US" dirty="0"/>
              <a:t>Division’s required return on equity:</a:t>
            </a:r>
          </a:p>
          <a:p>
            <a:pPr>
              <a:buNone/>
            </a:pPr>
            <a:r>
              <a:rPr lang="en-US" dirty="0" err="1"/>
              <a:t>r</a:t>
            </a:r>
            <a:r>
              <a:rPr lang="en-US" baseline="-25000" dirty="0" err="1"/>
              <a:t>s</a:t>
            </a:r>
            <a:r>
              <a:rPr lang="en-US" dirty="0"/>
              <a:t>	= </a:t>
            </a:r>
            <a:r>
              <a:rPr lang="en-US" dirty="0" err="1"/>
              <a:t>r</a:t>
            </a:r>
            <a:r>
              <a:rPr lang="en-US" baseline="-25000" dirty="0" err="1"/>
              <a:t>RF</a:t>
            </a:r>
            <a:r>
              <a:rPr lang="en-US" dirty="0"/>
              <a:t> + (</a:t>
            </a:r>
            <a:r>
              <a:rPr lang="en-US" dirty="0" err="1"/>
              <a:t>r</a:t>
            </a:r>
            <a:r>
              <a:rPr lang="en-US" baseline="-25000" dirty="0" err="1"/>
              <a:t>M</a:t>
            </a:r>
            <a:r>
              <a:rPr lang="en-US" dirty="0"/>
              <a:t> – </a:t>
            </a:r>
            <a:r>
              <a:rPr lang="en-US" dirty="0" err="1"/>
              <a:t>r</a:t>
            </a:r>
            <a:r>
              <a:rPr lang="en-US" baseline="-25000" dirty="0" err="1"/>
              <a:t>RF</a:t>
            </a:r>
            <a:r>
              <a:rPr lang="en-US" dirty="0"/>
              <a:t>)</a:t>
            </a:r>
            <a:r>
              <a:rPr lang="en-US" dirty="0" err="1"/>
              <a:t>b</a:t>
            </a:r>
            <a:r>
              <a:rPr lang="en-US" baseline="-25000" dirty="0" err="1"/>
              <a:t>Div</a:t>
            </a:r>
            <a:r>
              <a:rPr lang="en-US" baseline="-25000" dirty="0"/>
              <a:t>.</a:t>
            </a:r>
          </a:p>
          <a:p>
            <a:pPr>
              <a:buNone/>
            </a:pPr>
            <a:r>
              <a:rPr lang="en-US" dirty="0" err="1"/>
              <a:t>r</a:t>
            </a:r>
            <a:r>
              <a:rPr lang="en-US" baseline="-25000" dirty="0" err="1"/>
              <a:t>s</a:t>
            </a:r>
            <a:r>
              <a:rPr lang="en-US" dirty="0"/>
              <a:t> = 5.6% + (6%)1.7 = 15.8%.</a:t>
            </a:r>
          </a:p>
          <a:p>
            <a:pPr>
              <a:buNone/>
            </a:pPr>
            <a:r>
              <a:rPr lang="en-US" dirty="0" err="1"/>
              <a:t>WACC</a:t>
            </a:r>
            <a:r>
              <a:rPr lang="en-US" baseline="-25000" dirty="0" err="1"/>
              <a:t>Div</a:t>
            </a:r>
            <a:r>
              <a:rPr lang="en-US" baseline="-25000" dirty="0"/>
              <a:t>.</a:t>
            </a:r>
            <a:r>
              <a:rPr lang="en-US" dirty="0"/>
              <a:t>	= </a:t>
            </a:r>
            <a:r>
              <a:rPr lang="en-US" dirty="0" err="1"/>
              <a:t>w</a:t>
            </a:r>
            <a:r>
              <a:rPr lang="en-US" baseline="-25000" dirty="0" err="1"/>
              <a:t>d</a:t>
            </a:r>
            <a:r>
              <a:rPr lang="en-US" dirty="0"/>
              <a:t> </a:t>
            </a:r>
            <a:r>
              <a:rPr lang="en-US" dirty="0" err="1"/>
              <a:t>r</a:t>
            </a:r>
            <a:r>
              <a:rPr lang="en-US" baseline="-25000" dirty="0" err="1"/>
              <a:t>d</a:t>
            </a:r>
            <a:r>
              <a:rPr lang="en-US" dirty="0"/>
              <a:t>(1 – T) + </a:t>
            </a:r>
            <a:r>
              <a:rPr lang="en-US" dirty="0" err="1"/>
              <a:t>w</a:t>
            </a:r>
            <a:r>
              <a:rPr lang="en-US" baseline="-25000" dirty="0" err="1"/>
              <a:t>s</a:t>
            </a:r>
            <a:r>
              <a:rPr lang="en-US" dirty="0" err="1"/>
              <a:t>r</a:t>
            </a:r>
            <a:r>
              <a:rPr lang="en-US" baseline="-25000" dirty="0" err="1"/>
              <a:t>s</a:t>
            </a:r>
            <a:endParaRPr lang="en-US" baseline="-25000" dirty="0"/>
          </a:p>
          <a:p>
            <a:pPr lvl="1">
              <a:buNone/>
            </a:pPr>
            <a:r>
              <a:rPr lang="en-US" dirty="0"/>
              <a:t>		   	= 0.1(12%)(1 – 0.25) + 0.9(15.8%)</a:t>
            </a:r>
          </a:p>
          <a:p>
            <a:pPr lvl="1">
              <a:buNone/>
            </a:pPr>
            <a:r>
              <a:rPr lang="en-US" dirty="0"/>
              <a:t>			= 15.12%</a:t>
            </a:r>
          </a:p>
        </p:txBody>
      </p:sp>
    </p:spTree>
    <p:extLst>
      <p:ext uri="{BB962C8B-B14F-4D97-AF65-F5344CB8AC3E}">
        <p14:creationId xmlns:p14="http://schemas.microsoft.com/office/powerpoint/2010/main" val="936012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Division’s WACC vs. Firm’s Overall WACC?</a:t>
            </a:r>
          </a:p>
        </p:txBody>
      </p:sp>
      <p:sp>
        <p:nvSpPr>
          <p:cNvPr id="3" name="Content Placeholder 2"/>
          <p:cNvSpPr>
            <a:spLocks noGrp="1"/>
          </p:cNvSpPr>
          <p:nvPr>
            <p:ph idx="1"/>
          </p:nvPr>
        </p:nvSpPr>
        <p:spPr/>
        <p:txBody>
          <a:bodyPr/>
          <a:lstStyle/>
          <a:p>
            <a:r>
              <a:rPr lang="en-US" dirty="0"/>
              <a:t>Division WACC = 15.12% versus company WACC = 10.83%.</a:t>
            </a:r>
          </a:p>
          <a:p>
            <a:r>
              <a:rPr lang="en-US" dirty="0"/>
              <a:t>“Typical” projects within this division would be accepted if their returns are above 15.12%.</a:t>
            </a:r>
          </a:p>
        </p:txBody>
      </p:sp>
    </p:spTree>
    <p:extLst>
      <p:ext uri="{BB962C8B-B14F-4D97-AF65-F5344CB8AC3E}">
        <p14:creationId xmlns:p14="http://schemas.microsoft.com/office/powerpoint/2010/main" val="1503634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three types of project risk?</a:t>
            </a:r>
          </a:p>
        </p:txBody>
      </p:sp>
      <p:sp>
        <p:nvSpPr>
          <p:cNvPr id="3" name="Content Placeholder 2"/>
          <p:cNvSpPr>
            <a:spLocks noGrp="1"/>
          </p:cNvSpPr>
          <p:nvPr>
            <p:ph idx="1"/>
          </p:nvPr>
        </p:nvSpPr>
        <p:spPr/>
        <p:txBody>
          <a:bodyPr/>
          <a:lstStyle/>
          <a:p>
            <a:r>
              <a:rPr lang="en-US" dirty="0"/>
              <a:t>Stand-alone risk</a:t>
            </a:r>
          </a:p>
          <a:p>
            <a:r>
              <a:rPr lang="en-US" dirty="0"/>
              <a:t>Corporate risk</a:t>
            </a:r>
          </a:p>
          <a:p>
            <a:r>
              <a:rPr lang="en-US" dirty="0"/>
              <a:t>Market risk</a:t>
            </a:r>
          </a:p>
        </p:txBody>
      </p:sp>
    </p:spTree>
    <p:extLst>
      <p:ext uri="{BB962C8B-B14F-4D97-AF65-F5344CB8AC3E}">
        <p14:creationId xmlns:p14="http://schemas.microsoft.com/office/powerpoint/2010/main" val="267146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each type of risk used?</a:t>
            </a:r>
          </a:p>
        </p:txBody>
      </p:sp>
      <p:sp>
        <p:nvSpPr>
          <p:cNvPr id="3" name="Content Placeholder 2"/>
          <p:cNvSpPr>
            <a:spLocks noGrp="1"/>
          </p:cNvSpPr>
          <p:nvPr>
            <p:ph idx="1"/>
          </p:nvPr>
        </p:nvSpPr>
        <p:spPr/>
        <p:txBody>
          <a:bodyPr/>
          <a:lstStyle/>
          <a:p>
            <a:pPr>
              <a:lnSpc>
                <a:spcPct val="90000"/>
              </a:lnSpc>
            </a:pPr>
            <a:r>
              <a:rPr lang="en-US" dirty="0"/>
              <a:t>Stand-alone risk is easiest to calculate.</a:t>
            </a:r>
          </a:p>
          <a:p>
            <a:pPr>
              <a:lnSpc>
                <a:spcPct val="90000"/>
              </a:lnSpc>
            </a:pPr>
            <a:r>
              <a:rPr lang="en-US" dirty="0"/>
              <a:t>Market risk is theoretically best in most situations.</a:t>
            </a:r>
          </a:p>
          <a:p>
            <a:pPr>
              <a:lnSpc>
                <a:spcPct val="90000"/>
              </a:lnSpc>
            </a:pPr>
            <a:r>
              <a:rPr lang="en-US" dirty="0"/>
              <a:t>However, creditors, customers, suppliers, and employees are more affected by corporate risk.</a:t>
            </a:r>
          </a:p>
          <a:p>
            <a:pPr>
              <a:lnSpc>
                <a:spcPct val="90000"/>
              </a:lnSpc>
            </a:pPr>
            <a:r>
              <a:rPr lang="en-US" dirty="0"/>
              <a:t>Therefore, corporate risk is also relevant.</a:t>
            </a:r>
          </a:p>
        </p:txBody>
      </p:sp>
    </p:spTree>
    <p:extLst>
      <p:ext uri="{BB962C8B-B14F-4D97-AF65-F5344CB8AC3E}">
        <p14:creationId xmlns:p14="http://schemas.microsoft.com/office/powerpoint/2010/main" val="1196565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Project-Specific, Risk-Adjusted Cost of Capital</a:t>
            </a:r>
          </a:p>
        </p:txBody>
      </p:sp>
      <p:sp>
        <p:nvSpPr>
          <p:cNvPr id="3" name="Content Placeholder 2"/>
          <p:cNvSpPr>
            <a:spLocks noGrp="1"/>
          </p:cNvSpPr>
          <p:nvPr>
            <p:ph idx="1"/>
          </p:nvPr>
        </p:nvSpPr>
        <p:spPr/>
        <p:txBody>
          <a:bodyPr/>
          <a:lstStyle/>
          <a:p>
            <a:r>
              <a:rPr lang="en-US" dirty="0"/>
              <a:t>Start by calculating a divisional cost of capital.</a:t>
            </a:r>
          </a:p>
          <a:p>
            <a:r>
              <a:rPr lang="en-US" dirty="0"/>
              <a:t>Use judgment to scale up or down the cost of capital for an individual project relative to the divisional cost of capital.</a:t>
            </a:r>
          </a:p>
        </p:txBody>
      </p:sp>
    </p:spTree>
    <p:extLst>
      <p:ext uri="{BB962C8B-B14F-4D97-AF65-F5344CB8AC3E}">
        <p14:creationId xmlns:p14="http://schemas.microsoft.com/office/powerpoint/2010/main" val="4049060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Costs of Issuing New Common Stock</a:t>
            </a:r>
          </a:p>
        </p:txBody>
      </p:sp>
      <p:sp>
        <p:nvSpPr>
          <p:cNvPr id="3" name="Content Placeholder 2"/>
          <p:cNvSpPr>
            <a:spLocks noGrp="1"/>
          </p:cNvSpPr>
          <p:nvPr>
            <p:ph idx="1"/>
          </p:nvPr>
        </p:nvSpPr>
        <p:spPr/>
        <p:txBody>
          <a:bodyPr/>
          <a:lstStyle/>
          <a:p>
            <a:r>
              <a:rPr lang="en-US" dirty="0"/>
              <a:t>When a company issues new common stock they also have to pay flotation costs to the underwriter.</a:t>
            </a:r>
          </a:p>
          <a:p>
            <a:r>
              <a:rPr lang="en-US" dirty="0"/>
              <a:t>Issuing new common stock may send a negative signal to the capital markets, which may depress stock price.</a:t>
            </a:r>
          </a:p>
        </p:txBody>
      </p:sp>
    </p:spTree>
    <p:extLst>
      <p:ext uri="{BB962C8B-B14F-4D97-AF65-F5344CB8AC3E}">
        <p14:creationId xmlns:p14="http://schemas.microsoft.com/office/powerpoint/2010/main" val="797903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Mistakes to Avoid</a:t>
            </a:r>
          </a:p>
        </p:txBody>
      </p:sp>
      <p:sp>
        <p:nvSpPr>
          <p:cNvPr id="3" name="Content Placeholder 2"/>
          <p:cNvSpPr>
            <a:spLocks noGrp="1"/>
          </p:cNvSpPr>
          <p:nvPr>
            <p:ph idx="1"/>
          </p:nvPr>
        </p:nvSpPr>
        <p:spPr/>
        <p:txBody>
          <a:bodyPr/>
          <a:lstStyle/>
          <a:p>
            <a:r>
              <a:rPr lang="en-US" dirty="0"/>
              <a:t>Current vs. historical cost of debt</a:t>
            </a:r>
          </a:p>
          <a:p>
            <a:r>
              <a:rPr lang="en-US" dirty="0"/>
              <a:t>Mixing current and historical measures to estimate the market risk premium</a:t>
            </a:r>
          </a:p>
          <a:p>
            <a:r>
              <a:rPr lang="en-US" dirty="0"/>
              <a:t>Book weights vs. Market Weights</a:t>
            </a:r>
          </a:p>
          <a:p>
            <a:r>
              <a:rPr lang="en-US" dirty="0"/>
              <a:t>Incorrect cost of capital components</a:t>
            </a:r>
          </a:p>
          <a:p>
            <a:r>
              <a:rPr lang="en-US" dirty="0"/>
              <a:t>See next slides for details.</a:t>
            </a:r>
          </a:p>
        </p:txBody>
      </p:sp>
    </p:spTree>
    <p:extLst>
      <p:ext uri="{BB962C8B-B14F-4D97-AF65-F5344CB8AC3E}">
        <p14:creationId xmlns:p14="http://schemas.microsoft.com/office/powerpoint/2010/main" val="12180835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vs. Historical Cost of Debt</a:t>
            </a:r>
          </a:p>
        </p:txBody>
      </p:sp>
      <p:sp>
        <p:nvSpPr>
          <p:cNvPr id="3" name="Content Placeholder 2"/>
          <p:cNvSpPr>
            <a:spLocks noGrp="1"/>
          </p:cNvSpPr>
          <p:nvPr>
            <p:ph idx="1"/>
          </p:nvPr>
        </p:nvSpPr>
        <p:spPr/>
        <p:txBody>
          <a:bodyPr/>
          <a:lstStyle/>
          <a:p>
            <a:r>
              <a:rPr lang="en-US" dirty="0"/>
              <a:t>When estimating the cost of debt, don’t use the coupon rate on existing debt, which represents the cost of past debt.  </a:t>
            </a:r>
          </a:p>
          <a:p>
            <a:r>
              <a:rPr lang="en-US" dirty="0"/>
              <a:t>Use the current interest rate on new debt.</a:t>
            </a:r>
          </a:p>
        </p:txBody>
      </p:sp>
    </p:spTree>
    <p:extLst>
      <p:ext uri="{BB962C8B-B14F-4D97-AF65-F5344CB8AC3E}">
        <p14:creationId xmlns:p14="http://schemas.microsoft.com/office/powerpoint/2010/main" val="13166521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Market Risk Premium</a:t>
            </a:r>
          </a:p>
        </p:txBody>
      </p:sp>
      <p:sp>
        <p:nvSpPr>
          <p:cNvPr id="3" name="Content Placeholder 2"/>
          <p:cNvSpPr>
            <a:spLocks noGrp="1"/>
          </p:cNvSpPr>
          <p:nvPr>
            <p:ph idx="1"/>
          </p:nvPr>
        </p:nvSpPr>
        <p:spPr/>
        <p:txBody>
          <a:bodyPr/>
          <a:lstStyle/>
          <a:p>
            <a:r>
              <a:rPr lang="en-US" dirty="0"/>
              <a:t>When estimating the risk premium for the CAPM approach, don’t subtract the current long-term T-bond rate from the historical average return on common stocks.</a:t>
            </a:r>
          </a:p>
          <a:p>
            <a:r>
              <a:rPr lang="en-US" dirty="0"/>
              <a:t>For example, if the historical </a:t>
            </a:r>
            <a:r>
              <a:rPr lang="en-US" dirty="0" err="1"/>
              <a:t>r</a:t>
            </a:r>
            <a:r>
              <a:rPr lang="en-US" baseline="-25000" dirty="0" err="1"/>
              <a:t>M</a:t>
            </a:r>
            <a:r>
              <a:rPr lang="en-US" baseline="-25000" dirty="0"/>
              <a:t> </a:t>
            </a:r>
            <a:r>
              <a:rPr lang="en-US" dirty="0"/>
              <a:t>has been about 12.2% and inflation drives the current </a:t>
            </a:r>
            <a:r>
              <a:rPr lang="en-US" dirty="0" err="1"/>
              <a:t>r</a:t>
            </a:r>
            <a:r>
              <a:rPr lang="en-US" baseline="-25000" dirty="0" err="1"/>
              <a:t>RF</a:t>
            </a:r>
            <a:r>
              <a:rPr lang="en-US" dirty="0"/>
              <a:t> up to 10%, the current market risk premium is not 12.2% – 10% = 2.2%!</a:t>
            </a:r>
          </a:p>
        </p:txBody>
      </p:sp>
    </p:spTree>
    <p:extLst>
      <p:ext uri="{BB962C8B-B14F-4D97-AF65-F5344CB8AC3E}">
        <p14:creationId xmlns:p14="http://schemas.microsoft.com/office/powerpoint/2010/main" val="5427684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Weights</a:t>
            </a:r>
          </a:p>
        </p:txBody>
      </p:sp>
      <p:sp>
        <p:nvSpPr>
          <p:cNvPr id="3" name="Content Placeholder 2"/>
          <p:cNvSpPr>
            <a:spLocks noGrp="1"/>
          </p:cNvSpPr>
          <p:nvPr>
            <p:ph idx="1"/>
          </p:nvPr>
        </p:nvSpPr>
        <p:spPr/>
        <p:txBody>
          <a:bodyPr/>
          <a:lstStyle/>
          <a:p>
            <a:r>
              <a:rPr lang="en-US" dirty="0"/>
              <a:t>Use the target capital structure to determine the weights.</a:t>
            </a:r>
          </a:p>
          <a:p>
            <a:r>
              <a:rPr lang="en-US" dirty="0"/>
              <a:t>If you don’t know the target weights, then use the current market value of equity. </a:t>
            </a:r>
          </a:p>
          <a:p>
            <a:r>
              <a:rPr lang="en-US" dirty="0"/>
              <a:t>If you don’t know the market value of debt, then the book value of debt often is a reasonable approximation, especially for short-term debt. </a:t>
            </a:r>
          </a:p>
        </p:txBody>
      </p:sp>
    </p:spTree>
    <p:extLst>
      <p:ext uri="{BB962C8B-B14F-4D97-AF65-F5344CB8AC3E}">
        <p14:creationId xmlns:p14="http://schemas.microsoft.com/office/powerpoint/2010/main" val="40867842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components are sources of funding that come from investors.</a:t>
            </a:r>
          </a:p>
        </p:txBody>
      </p:sp>
      <p:sp>
        <p:nvSpPr>
          <p:cNvPr id="3" name="Content Placeholder 2"/>
          <p:cNvSpPr>
            <a:spLocks noGrp="1"/>
          </p:cNvSpPr>
          <p:nvPr>
            <p:ph idx="1"/>
          </p:nvPr>
        </p:nvSpPr>
        <p:spPr/>
        <p:txBody>
          <a:bodyPr/>
          <a:lstStyle/>
          <a:p>
            <a:r>
              <a:rPr lang="en-US" dirty="0"/>
              <a:t>Accounts payable, accruals, and deferred taxes are not sources of funding that come from investors, so they are not included in the calculation of the WACC.</a:t>
            </a:r>
          </a:p>
          <a:p>
            <a:r>
              <a:rPr lang="en-US" dirty="0"/>
              <a:t>We do adjust for these items when calculating project cash flows, but not when calculating the WACC.</a:t>
            </a:r>
          </a:p>
        </p:txBody>
      </p:sp>
    </p:spTree>
    <p:extLst>
      <p:ext uri="{BB962C8B-B14F-4D97-AF65-F5344CB8AC3E}">
        <p14:creationId xmlns:p14="http://schemas.microsoft.com/office/powerpoint/2010/main" val="3463654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_PPT_Template_Cengage_MPS.potx" id="{6A341ED2-E63B-4177-9AAF-670EA0822A4A}" vid="{9F6311B6-333D-45C7-A3D7-227D14483E8E}"/>
    </a:ext>
  </a:extLst>
</a:theme>
</file>

<file path=docProps/app.xml><?xml version="1.0" encoding="utf-8"?>
<Properties xmlns="http://schemas.openxmlformats.org/officeDocument/2006/extended-properties" xmlns:vt="http://schemas.openxmlformats.org/officeDocument/2006/docPropsVTypes">
  <Template>Accessible_PPT_Template_Cengage_MPS</Template>
  <TotalTime>1886</TotalTime>
  <Words>2503</Words>
  <Application>Microsoft Office PowerPoint</Application>
  <PresentationFormat>Widescreen</PresentationFormat>
  <Paragraphs>234</Paragraphs>
  <Slides>56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2" baseType="lpstr">
      <vt:lpstr>arial</vt:lpstr>
      <vt:lpstr>arial</vt:lpstr>
      <vt:lpstr>Tahoma</vt:lpstr>
      <vt:lpstr>Wingdings</vt:lpstr>
      <vt:lpstr>Office Theme</vt:lpstr>
      <vt:lpstr>Equation</vt:lpstr>
      <vt:lpstr>The Cost of Capital</vt:lpstr>
      <vt:lpstr>Topics in Chapter</vt:lpstr>
      <vt:lpstr>Determinants of Intrinsic Value: The Weighted Average Cost of Capital</vt:lpstr>
      <vt:lpstr>What types of long-term capital do firms use?</vt:lpstr>
      <vt:lpstr>Capital Components</vt:lpstr>
      <vt:lpstr>Before-tax vs. After-tax Capital Costs</vt:lpstr>
      <vt:lpstr>Historical (Embedded) Costs vs. New (Marginal) Costs</vt:lpstr>
      <vt:lpstr>Cost of Debt</vt:lpstr>
      <vt:lpstr>A 15-year, 12% semiannual bond sells for $1,153.72.  What’s rd? </vt:lpstr>
      <vt:lpstr>Component Cost of Debt</vt:lpstr>
      <vt:lpstr>Cost of preferred stock: Pps = $116.95; 10%Q; Par = $100; F = 5%</vt:lpstr>
      <vt:lpstr>Time Line of Preferred</vt:lpstr>
      <vt:lpstr>Note:</vt:lpstr>
      <vt:lpstr>Is preferred stock more or less risky to investors than debt?</vt:lpstr>
      <vt:lpstr>Why is yield on preferred lower than rd?</vt:lpstr>
      <vt:lpstr>Example: rps = 9%, rd = 10%, T = 25%, Preferred exclusion = 50%</vt:lpstr>
      <vt:lpstr>What are the two ways that companies can raise common equity?</vt:lpstr>
      <vt:lpstr>Why is there a cost for reinvested earnings?</vt:lpstr>
      <vt:lpstr>Cost for Reinvested Earnings</vt:lpstr>
      <vt:lpstr>Three ways to determine the cost of equity, rs: </vt:lpstr>
      <vt:lpstr>CAPM Cost of Equity:  rRF = 5.6%, RPM = 6%, b = 1.2</vt:lpstr>
      <vt:lpstr>Issues in Using CAPM (1 of 2)</vt:lpstr>
      <vt:lpstr>Issues in Using CAPM (2 of 2)</vt:lpstr>
      <vt:lpstr>Dividend Growth Cost of Equity, rs:  D0 = $3.26; P0 = $50; g = 5.8%</vt:lpstr>
      <vt:lpstr>Estimating the Growth Rate</vt:lpstr>
      <vt:lpstr>Earnings Retention Model (1 of 2)</vt:lpstr>
      <vt:lpstr>Earnings Retention Model (2 of 2)</vt:lpstr>
      <vt:lpstr>Could the dividend growth approach be applied if g is not constant?</vt:lpstr>
      <vt:lpstr>The Own-Bond-Yield-Plus-Judgmental-Risk-Premium Method: rd = 10%, RP = 3.2%</vt:lpstr>
      <vt:lpstr>What’s a reasonable final estimate of rs?</vt:lpstr>
      <vt:lpstr>Determining the Weights for the WACC</vt:lpstr>
      <vt:lpstr>Target Weights</vt:lpstr>
      <vt:lpstr>Estimating Weights for the Capital Structure (1 of 6)</vt:lpstr>
      <vt:lpstr>Estimating Weights for the Capital Structure (2 of 6)</vt:lpstr>
      <vt:lpstr>Estimating Weights for the Capital Structure (3 of 6)</vt:lpstr>
      <vt:lpstr>Estimating Weights for the Capital Structure (4 of 6)</vt:lpstr>
      <vt:lpstr>Estimating Weights for the Capital Structure (5 of 6)</vt:lpstr>
      <vt:lpstr>Estimating Weights for the Capital Structure (6 of 6)</vt:lpstr>
      <vt:lpstr>What’s the WACC using the target weights?</vt:lpstr>
      <vt:lpstr>What factors influence a company’s WACC?</vt:lpstr>
      <vt:lpstr>Is the firm’s WACC correct for each of its divisions?</vt:lpstr>
      <vt:lpstr>The Risk-Adjusted Divisional Cost of Capital</vt:lpstr>
      <vt:lpstr>Pure Play Method for Estimating Beta for a Division or a Project</vt:lpstr>
      <vt:lpstr>Accounting Beta Method for Estimating Beta</vt:lpstr>
      <vt:lpstr>Divisional Cost of Capital Using CAPM (1 of 2)</vt:lpstr>
      <vt:lpstr>Divisional Cost of Capital Using CAPM (2 of 2)</vt:lpstr>
      <vt:lpstr>Division’s WACC vs. Firm’s Overall WACC?</vt:lpstr>
      <vt:lpstr>What are the three types of project risk?</vt:lpstr>
      <vt:lpstr>How is each type of risk used?</vt:lpstr>
      <vt:lpstr>A Project-Specific, Risk-Adjusted Cost of Capital</vt:lpstr>
      <vt:lpstr>Costs of Issuing New Common Stock</vt:lpstr>
      <vt:lpstr>Four Mistakes to Avoid</vt:lpstr>
      <vt:lpstr>Current vs. Historical Cost of Debt</vt:lpstr>
      <vt:lpstr>Estimating the Market Risk Premium</vt:lpstr>
      <vt:lpstr>Estimating Weights</vt:lpstr>
      <vt:lpstr>Capital components are sources of funding that come from investors.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kumar. Tripathy</dc:creator>
  <cp:lastModifiedBy>Gordon Elliott Williams</cp:lastModifiedBy>
  <cp:revision>771</cp:revision>
  <dcterms:created xsi:type="dcterms:W3CDTF">2018-12-18T04:30:03Z</dcterms:created>
  <dcterms:modified xsi:type="dcterms:W3CDTF">2021-11-16T20:31:45Z</dcterms:modified>
</cp:coreProperties>
</file>