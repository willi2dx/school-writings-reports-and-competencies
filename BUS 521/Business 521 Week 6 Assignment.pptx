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4"/>
  </p:sldMasterIdLst>
  <p:notesMasterIdLst>
    <p:notesMasterId r:id="rId9"/>
  </p:notesMasterIdLst>
  <p:handoutMasterIdLst>
    <p:handoutMasterId r:id="rId10"/>
  </p:handoutMasterIdLst>
  <p:sldIdLst>
    <p:sldId id="256" r:id="rId5"/>
    <p:sldId id="261" r:id="rId6"/>
    <p:sldId id="274" r:id="rId7"/>
    <p:sldId id="266" r:id="rId8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 showGuides="1">
      <p:cViewPr>
        <p:scale>
          <a:sx n="114" d="100"/>
          <a:sy n="114" d="100"/>
        </p:scale>
        <p:origin x="68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0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lli\Desktop\GRADUATE%20POST\BUS%20521\UNIT%20TW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lli\Desktop\GRADUATE%20POST\BUS%20521\UNIT%20TW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lli\Desktop\GRADUATE%20POST\BUS%20521\UNIT%20TW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865075459317587"/>
          <c:y val="0.10003568059330661"/>
          <c:w val="0.868889435695538"/>
          <c:h val="0.85714910191386218"/>
        </c:manualLayout>
      </c:layout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2239.8489999999988</c:v>
              </c:pt>
              <c:pt idx="1">
                <c:v>2257.2649999999994</c:v>
              </c:pt>
              <c:pt idx="2">
                <c:v>2247.6889999999976</c:v>
              </c:pt>
              <c:pt idx="3">
                <c:v>2268.5350000000003</c:v>
              </c:pt>
              <c:pt idx="4">
                <c:v>2281.8619999999996</c:v>
              </c:pt>
              <c:pt idx="5">
                <c:v>2311.7910000000024</c:v>
              </c:pt>
              <c:pt idx="6">
                <c:v>2314.2979999999989</c:v>
              </c:pt>
              <c:pt idx="7">
                <c:v>1855.5460000000007</c:v>
              </c:pt>
              <c:pt idx="8">
                <c:v>1855.4360000000006</c:v>
              </c:pt>
              <c:pt idx="9">
                <c:v>1799.6750000000002</c:v>
              </c:pt>
              <c:pt idx="10">
                <c:v>1784.5469999999998</c:v>
              </c:pt>
              <c:pt idx="11">
                <c:v>1803.8520000000001</c:v>
              </c:pt>
            </c:numLit>
          </c:val>
          <c:extLst>
            <c:ext xmlns:c16="http://schemas.microsoft.com/office/drawing/2014/chart" uri="{C3380CC4-5D6E-409C-BE32-E72D297353CC}">
              <c16:uniqueId val="{00000000-C17F-4914-9B7B-53B5240ED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0993391"/>
        <c:axId val="1730992975"/>
      </c:barChart>
      <c:catAx>
        <c:axId val="1730993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992975"/>
        <c:crosses val="autoZero"/>
        <c:auto val="1"/>
        <c:lblAlgn val="ctr"/>
        <c:lblOffset val="100"/>
        <c:noMultiLvlLbl val="0"/>
      </c:catAx>
      <c:valAx>
        <c:axId val="173099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99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B2C-469A-95C9-4CA7CBB4A10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B2C-469A-95C9-4CA7CBB4A10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B2C-469A-95C9-4CA7CBB4A10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B2C-469A-95C9-4CA7CBB4A10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B2C-469A-95C9-4CA7CBB4A1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2013</c:v>
              </c:pt>
              <c:pt idx="1">
                <c:v>2014</c:v>
              </c:pt>
              <c:pt idx="2">
                <c:v>2015</c:v>
              </c:pt>
              <c:pt idx="3">
                <c:v>2016</c:v>
              </c:pt>
              <c:pt idx="4">
                <c:v>2017</c:v>
              </c:pt>
            </c:strLit>
          </c:cat>
          <c:val>
            <c:numLit>
              <c:formatCode>General</c:formatCode>
              <c:ptCount val="5"/>
              <c:pt idx="0">
                <c:v>5252.3590000000122</c:v>
              </c:pt>
              <c:pt idx="1">
                <c:v>5498.955000000009</c:v>
              </c:pt>
              <c:pt idx="2">
                <c:v>5745.523000000002</c:v>
              </c:pt>
              <c:pt idx="3">
                <c:v>5402.99</c:v>
              </c:pt>
              <c:pt idx="4">
                <c:v>3120.5180000000087</c:v>
              </c:pt>
            </c:numLit>
          </c:val>
          <c:extLst>
            <c:ext xmlns:c16="http://schemas.microsoft.com/office/drawing/2014/chart" uri="{C3380CC4-5D6E-409C-BE32-E72D297353CC}">
              <c16:uniqueId val="{0000000A-BB2C-469A-95C9-4CA7CBB4A1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[UNIT TWO.xlsx]All_Items!PivotTable5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40000"/>
              <a:lumOff val="60000"/>
            </a:schemeClr>
          </a:solidFill>
          <a:ln>
            <a:solidFill>
              <a:sysClr val="windowText" lastClr="000000"/>
            </a:solidFill>
          </a:ln>
          <a:effectLst/>
          <a:sp3d>
            <a:contourClr>
              <a:sysClr val="windowText" lastClr="000000"/>
            </a:contourClr>
          </a:sp3d>
        </c:spPr>
      </c:pivotFmt>
      <c:pivotFmt>
        <c:idx val="2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</c:pivotFmt>
      <c:pivotFmt>
        <c:idx val="3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  <a:sp3d>
            <a:contourClr>
              <a:schemeClr val="accent6">
                <a:lumMod val="75000"/>
              </a:schemeClr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  <a:sp3d>
            <a:contourClr>
              <a:schemeClr val="accent6">
                <a:lumMod val="75000"/>
              </a:schemeClr>
            </a:contourClr>
          </a:sp3d>
        </c:spPr>
      </c:pivotFmt>
      <c:pivotFmt>
        <c:idx val="6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</c:pivotFmt>
      <c:pivotFmt>
        <c:idx val="7"/>
        <c:spPr>
          <a:solidFill>
            <a:schemeClr val="tx2">
              <a:lumMod val="40000"/>
              <a:lumOff val="60000"/>
            </a:schemeClr>
          </a:solidFill>
          <a:ln>
            <a:solidFill>
              <a:sysClr val="windowText" lastClr="000000"/>
            </a:solidFill>
          </a:ln>
          <a:effectLst/>
          <a:sp3d>
            <a:contourClr>
              <a:sysClr val="windowText" lastClr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  <a:sp3d>
            <a:contourClr>
              <a:schemeClr val="accent6">
                <a:lumMod val="75000"/>
              </a:schemeClr>
            </a:contourClr>
          </a:sp3d>
        </c:spPr>
      </c:pivotFmt>
      <c:pivotFmt>
        <c:idx val="10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</c:pivotFmt>
      <c:pivotFmt>
        <c:idx val="11"/>
        <c:spPr>
          <a:solidFill>
            <a:schemeClr val="tx2">
              <a:lumMod val="40000"/>
              <a:lumOff val="60000"/>
            </a:schemeClr>
          </a:solidFill>
          <a:ln>
            <a:solidFill>
              <a:sysClr val="windowText" lastClr="000000"/>
            </a:solidFill>
          </a:ln>
          <a:effectLst/>
          <a:sp3d>
            <a:contourClr>
              <a:sysClr val="windowText" lastClr="000000"/>
            </a:contourClr>
          </a:sp3d>
        </c:spP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939436212205758"/>
          <c:y val="9.5612334172514149E-2"/>
          <c:w val="0.728259036518073"/>
          <c:h val="0.86346563822379341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All_Items!$K$1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/>
              <a:sp3d>
                <a:contourClr>
                  <a:schemeClr val="accent6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04D-4EE3-A77A-040D7FCCBC3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  <a:sp3d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04D-4EE3-A77A-040D7FCCBC32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ysClr val="windowText" lastClr="000000"/>
                </a:solidFill>
              </a:ln>
              <a:effectLst/>
              <a:sp3d>
                <a:contourClr>
                  <a:sysClr val="windowText" lastClr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04D-4EE3-A77A-040D7FCCBC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All_Items!$J$2:$J$5</c:f>
              <c:strCache>
                <c:ptCount val="3"/>
                <c:pt idx="0">
                  <c:v>Midwest urban</c:v>
                </c:pt>
                <c:pt idx="1">
                  <c:v>Northeast urban</c:v>
                </c:pt>
                <c:pt idx="2">
                  <c:v>U.S. city average</c:v>
                </c:pt>
              </c:strCache>
            </c:strRef>
          </c:cat>
          <c:val>
            <c:numRef>
              <c:f>All_Items!$K$2:$K$5</c:f>
              <c:numCache>
                <c:formatCode>General</c:formatCode>
                <c:ptCount val="3"/>
                <c:pt idx="0">
                  <c:v>6297.1490000000094</c:v>
                </c:pt>
                <c:pt idx="1">
                  <c:v>7418.2060000000019</c:v>
                </c:pt>
                <c:pt idx="2">
                  <c:v>11304.989999999989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4D-4EE3-A77A-040D7FCCB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67134511"/>
        <c:axId val="1767135343"/>
        <c:axId val="0"/>
      </c:bar3DChart>
      <c:catAx>
        <c:axId val="1767134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7135343"/>
        <c:crosses val="autoZero"/>
        <c:auto val="1"/>
        <c:lblAlgn val="ctr"/>
        <c:lblOffset val="100"/>
        <c:noMultiLvlLbl val="0"/>
      </c:catAx>
      <c:valAx>
        <c:axId val="17671353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713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AC39-44E6-425E-AF49-CF7D189F346F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0F472-929B-459B-8D82-2FABCC5B3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F2775BC-6312-42C7-B7C5-EA6783C2D9CA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F715A1-4ADC-44E0-9587-804FF39D6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0" i="0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en-US" sz="3600" b="0" i="0" kern="1200" cap="none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FF0622-75E4-48B8-A617-5428CA5926CE}" type="datetimeFigureOut">
              <a:rPr lang="en-US" smtClean="0"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5541-8164-4CC7-9F2F-6F0C49BB8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521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FOR WEEK SIX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 Values By Month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DBE75D-624F-41AE-9300-DC290438CD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523536"/>
              </p:ext>
            </p:extLst>
          </p:nvPr>
        </p:nvGraphicFramePr>
        <p:xfrm>
          <a:off x="428727" y="1327405"/>
          <a:ext cx="2159000" cy="2830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6733">
                  <a:extLst>
                    <a:ext uri="{9D8B030D-6E8A-4147-A177-3AD203B41FA5}">
                      <a16:colId xmlns:a16="http://schemas.microsoft.com/office/drawing/2014/main" val="2030205550"/>
                    </a:ext>
                  </a:extLst>
                </a:gridCol>
                <a:gridCol w="1262267">
                  <a:extLst>
                    <a:ext uri="{9D8B030D-6E8A-4147-A177-3AD203B41FA5}">
                      <a16:colId xmlns:a16="http://schemas.microsoft.com/office/drawing/2014/main" val="33500872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Row Labels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Sum of Sum of 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7512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January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2239.849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28857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February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2257.265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62334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March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2247.689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1048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April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2268.535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89298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2281.862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80438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June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2311.791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47945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July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2314.298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0577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August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1855.546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43288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September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1855.436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08421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October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1799.675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66452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November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1784.547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4019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December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1803.852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34178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Grand 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25020.345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7743281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CF7BA55-CDA0-4FA1-BCEB-CFCEA141AD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6793574"/>
              </p:ext>
            </p:extLst>
          </p:nvPr>
        </p:nvGraphicFramePr>
        <p:xfrm>
          <a:off x="2441197" y="1052232"/>
          <a:ext cx="8534400" cy="5353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11157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785" y="452718"/>
            <a:ext cx="9430049" cy="965021"/>
          </a:xfrm>
        </p:spPr>
        <p:txBody>
          <a:bodyPr/>
          <a:lstStyle/>
          <a:p>
            <a:pPr algn="ctr"/>
            <a:r>
              <a:rPr lang="en-US" dirty="0"/>
              <a:t>Earnings By Year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53B105-13D0-4931-A606-EB024897A8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240863"/>
              </p:ext>
            </p:extLst>
          </p:nvPr>
        </p:nvGraphicFramePr>
        <p:xfrm>
          <a:off x="439365" y="1336187"/>
          <a:ext cx="2077331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678">
                  <a:extLst>
                    <a:ext uri="{9D8B030D-6E8A-4147-A177-3AD203B41FA5}">
                      <a16:colId xmlns:a16="http://schemas.microsoft.com/office/drawing/2014/main" val="2761024829"/>
                    </a:ext>
                  </a:extLst>
                </a:gridCol>
                <a:gridCol w="1009653">
                  <a:extLst>
                    <a:ext uri="{9D8B030D-6E8A-4147-A177-3AD203B41FA5}">
                      <a16:colId xmlns:a16="http://schemas.microsoft.com/office/drawing/2014/main" val="16501568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Row Labels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Sum of value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52890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$      5,252.36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98126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$      5,498.96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57829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$      5,745.52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0298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$      5,402.99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2453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$      3,120.52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31749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Grand 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 $    25,020.35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175703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5961FD3-4271-483A-AC20-3608F499C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9463123"/>
              </p:ext>
            </p:extLst>
          </p:nvPr>
        </p:nvGraphicFramePr>
        <p:xfrm>
          <a:off x="2575420" y="1140902"/>
          <a:ext cx="9430048" cy="520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459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Major Area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486929-5A90-400B-AB8E-EFF4E7C81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920414"/>
              </p:ext>
            </p:extLst>
          </p:nvPr>
        </p:nvGraphicFramePr>
        <p:xfrm>
          <a:off x="9664117" y="1322393"/>
          <a:ext cx="2384528" cy="1061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4173">
                  <a:extLst>
                    <a:ext uri="{9D8B030D-6E8A-4147-A177-3AD203B41FA5}">
                      <a16:colId xmlns:a16="http://schemas.microsoft.com/office/drawing/2014/main" val="749520663"/>
                    </a:ext>
                  </a:extLst>
                </a:gridCol>
                <a:gridCol w="950355">
                  <a:extLst>
                    <a:ext uri="{9D8B030D-6E8A-4147-A177-3AD203B41FA5}">
                      <a16:colId xmlns:a16="http://schemas.microsoft.com/office/drawing/2014/main" val="959524907"/>
                    </a:ext>
                  </a:extLst>
                </a:gridCol>
              </a:tblGrid>
              <a:tr h="212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Major Area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Total Sales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3213063"/>
                  </a:ext>
                </a:extLst>
              </a:tr>
              <a:tr h="212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Midwest urban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6297.149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2044902"/>
                  </a:ext>
                </a:extLst>
              </a:tr>
              <a:tr h="212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Northeast urban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7418.206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1288155"/>
                  </a:ext>
                </a:extLst>
              </a:tr>
              <a:tr h="212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U.S. city average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11304.99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0151141"/>
                  </a:ext>
                </a:extLst>
              </a:tr>
              <a:tr h="212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Grand 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25020.345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8273185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E180B14-A7AB-428C-A0AC-28FB25504E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530957"/>
              </p:ext>
            </p:extLst>
          </p:nvPr>
        </p:nvGraphicFramePr>
        <p:xfrm>
          <a:off x="225454" y="939042"/>
          <a:ext cx="9677400" cy="560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380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C5151-73AF-4992-B300-816A43C7C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A7F0F3B-1D69-4071-934C-7373F1C638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E3F18AE-EF60-42A5-B9E1-3F709899B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tf00001076_wac</Template>
  <TotalTime>0</TotalTime>
  <Words>104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Wingdings 3</vt:lpstr>
      <vt:lpstr>Ion</vt:lpstr>
      <vt:lpstr>Business 521</vt:lpstr>
      <vt:lpstr>Sum Values By Month</vt:lpstr>
      <vt:lpstr>Earnings By Year</vt:lpstr>
      <vt:lpstr>Sales By Major Area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2021-04-19T04:18:13Z</dcterms:created>
  <dcterms:modified xsi:type="dcterms:W3CDTF">2021-04-19T05:02:33Z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</Properties>
</file>