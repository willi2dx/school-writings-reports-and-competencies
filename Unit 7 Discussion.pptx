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1" r:id="rId5"/>
    <p:sldId id="328" r:id="rId6"/>
    <p:sldId id="329" r:id="rId7"/>
    <p:sldId id="332" r:id="rId8"/>
    <p:sldId id="333" r:id="rId9"/>
    <p:sldId id="334" r:id="rId10"/>
    <p:sldId id="325" r:id="rId11"/>
    <p:sldId id="32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3725" autoAdjust="0"/>
  </p:normalViewPr>
  <p:slideViewPr>
    <p:cSldViewPr snapToGrid="0">
      <p:cViewPr varScale="1">
        <p:scale>
          <a:sx n="99" d="100"/>
          <a:sy n="99" d="100"/>
        </p:scale>
        <p:origin x="78" y="120"/>
      </p:cViewPr>
      <p:guideLst>
        <p:guide orient="horz" pos="57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179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61B5B0-0F3F-4574-AC4A-4D715ADD47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0A1CE-6ACE-4ED5-A8B3-171E652972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F9B17-A37A-42C9-8030-9CDA9FD7470F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8E9B5-B968-4629-B4B4-F2F9B488BA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B0D94-2D20-439D-B7D0-A1C2405FFD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0B9B7-785A-4976-B902-CA7EFE182F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48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79487-3076-4D15-80FF-6284DC1263E4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A5702-C22C-4453-948F-F1BC33F66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7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A5702-C22C-4453-948F-F1BC33F661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7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A1732B-C8F7-496B-B4AB-6659528C6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5" y="-1"/>
            <a:ext cx="12190475" cy="6872401"/>
          </a:xfrm>
          <a:custGeom>
            <a:avLst/>
            <a:gdLst>
              <a:gd name="connsiteX0" fmla="*/ 0 w 12190475"/>
              <a:gd name="connsiteY0" fmla="*/ 1 h 6872401"/>
              <a:gd name="connsiteX1" fmla="*/ 882143 w 12190475"/>
              <a:gd name="connsiteY1" fmla="*/ 1 h 6872401"/>
              <a:gd name="connsiteX2" fmla="*/ 882143 w 12190475"/>
              <a:gd name="connsiteY2" fmla="*/ 6858001 h 6872401"/>
              <a:gd name="connsiteX3" fmla="*/ 0 w 12190475"/>
              <a:gd name="connsiteY3" fmla="*/ 6858001 h 6872401"/>
              <a:gd name="connsiteX4" fmla="*/ 914779 w 12190475"/>
              <a:gd name="connsiteY4" fmla="*/ 0 h 6872401"/>
              <a:gd name="connsiteX5" fmla="*/ 12187424 w 12190475"/>
              <a:gd name="connsiteY5" fmla="*/ 0 h 6872401"/>
              <a:gd name="connsiteX6" fmla="*/ 12187424 w 12190475"/>
              <a:gd name="connsiteY6" fmla="*/ 4010026 h 6872401"/>
              <a:gd name="connsiteX7" fmla="*/ 12188888 w 12190475"/>
              <a:gd name="connsiteY7" fmla="*/ 4010026 h 6872401"/>
              <a:gd name="connsiteX8" fmla="*/ 12188888 w 12190475"/>
              <a:gd name="connsiteY8" fmla="*/ 4796346 h 6872401"/>
              <a:gd name="connsiteX9" fmla="*/ 12190475 w 12190475"/>
              <a:gd name="connsiteY9" fmla="*/ 4796346 h 6872401"/>
              <a:gd name="connsiteX10" fmla="*/ 12190475 w 12190475"/>
              <a:gd name="connsiteY10" fmla="*/ 6872401 h 6872401"/>
              <a:gd name="connsiteX11" fmla="*/ 908622 w 12190475"/>
              <a:gd name="connsiteY11" fmla="*/ 6872401 h 6872401"/>
              <a:gd name="connsiteX12" fmla="*/ 908622 w 12190475"/>
              <a:gd name="connsiteY12" fmla="*/ 4796346 h 6872401"/>
              <a:gd name="connsiteX13" fmla="*/ 4530441 w 12190475"/>
              <a:gd name="connsiteY13" fmla="*/ 4796346 h 6872401"/>
              <a:gd name="connsiteX14" fmla="*/ 4530441 w 12190475"/>
              <a:gd name="connsiteY14" fmla="*/ 4772181 h 6872401"/>
              <a:gd name="connsiteX15" fmla="*/ 914779 w 12190475"/>
              <a:gd name="connsiteY15" fmla="*/ 4772181 h 687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0475" h="6872401">
                <a:moveTo>
                  <a:pt x="0" y="1"/>
                </a:moveTo>
                <a:lnTo>
                  <a:pt x="882143" y="1"/>
                </a:lnTo>
                <a:lnTo>
                  <a:pt x="882143" y="6858001"/>
                </a:lnTo>
                <a:lnTo>
                  <a:pt x="0" y="6858001"/>
                </a:lnTo>
                <a:close/>
                <a:moveTo>
                  <a:pt x="914779" y="0"/>
                </a:moveTo>
                <a:lnTo>
                  <a:pt x="12187424" y="0"/>
                </a:lnTo>
                <a:lnTo>
                  <a:pt x="12187424" y="4010026"/>
                </a:lnTo>
                <a:lnTo>
                  <a:pt x="12188888" y="4010026"/>
                </a:lnTo>
                <a:lnTo>
                  <a:pt x="12188888" y="4796346"/>
                </a:lnTo>
                <a:lnTo>
                  <a:pt x="12190475" y="4796346"/>
                </a:lnTo>
                <a:lnTo>
                  <a:pt x="12190475" y="6872401"/>
                </a:lnTo>
                <a:lnTo>
                  <a:pt x="908622" y="6872401"/>
                </a:lnTo>
                <a:lnTo>
                  <a:pt x="908622" y="4796346"/>
                </a:lnTo>
                <a:lnTo>
                  <a:pt x="4530441" y="4796346"/>
                </a:lnTo>
                <a:lnTo>
                  <a:pt x="4530441" y="4772181"/>
                </a:lnTo>
                <a:lnTo>
                  <a:pt x="914779" y="47721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C87FF0FA-B9C8-45F9-9BE1-0FE9DAB2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146" y="0"/>
            <a:ext cx="3611675" cy="4773251"/>
          </a:xfrm>
          <a:solidFill>
            <a:schemeClr val="tx1">
              <a:alpha val="40000"/>
            </a:schemeClr>
          </a:solidFill>
        </p:spPr>
        <p:txBody>
          <a:bodyPr tIns="320040" anchor="t">
            <a:normAutofit/>
          </a:bodyPr>
          <a:lstStyle>
            <a:lvl1pPr marL="457200">
              <a:lnSpc>
                <a:spcPct val="10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chemeClr val="bg2"/>
                </a:solidFill>
              </a:rPr>
              <a:t>Click to edit Master title style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Subtitle 7">
            <a:extLst>
              <a:ext uri="{FF2B5EF4-FFF2-40B4-BE49-F238E27FC236}">
                <a16:creationId xmlns:a16="http://schemas.microsoft.com/office/drawing/2014/main" id="{A21E13D9-32A0-414B-8811-425CE64DB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159" y="4787654"/>
            <a:ext cx="3611662" cy="2070345"/>
          </a:xfrm>
          <a:solidFill>
            <a:schemeClr val="tx1">
              <a:alpha val="40000"/>
            </a:schemeClr>
          </a:solidFill>
        </p:spPr>
        <p:txBody>
          <a:bodyPr tIns="365760">
            <a:normAutofit/>
          </a:bodyPr>
          <a:lstStyle>
            <a:lvl1pPr marL="365760">
              <a:defRPr sz="2000">
                <a:solidFill>
                  <a:schemeClr val="bg2">
                    <a:alpha val="56000"/>
                  </a:schemeClr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000">
                <a:solidFill>
                  <a:schemeClr val="bg2">
                    <a:alpha val="56000"/>
                  </a:schemeClr>
                </a:solidFill>
              </a:rPr>
              <a:t>Click to edit Master subtitle style</a:t>
            </a:r>
            <a:endParaRPr lang="en-US" sz="2000" dirty="0">
              <a:solidFill>
                <a:schemeClr val="bg2">
                  <a:alpha val="56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879B96-0338-4E65-BB51-C23BF0605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99" y="4787656"/>
            <a:ext cx="36116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5CD497-6186-406A-B1EF-7A2024CA8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86" y="4780453"/>
            <a:ext cx="36116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904603-E089-46F5-87D5-E0983BAD9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87" y="-7203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DAF32CB-8FFB-4915-83CF-FE9701002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F0A3A1D3-45B1-4A98-AC1C-57B1DE82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0" y="0"/>
            <a:ext cx="6310695" cy="1817169"/>
          </a:xfrm>
          <a:solidFill>
            <a:schemeClr val="tx2"/>
          </a:solidFill>
        </p:spPr>
        <p:txBody>
          <a:bodyPr bIns="274320" anchor="b"/>
          <a:lstStyle>
            <a:lvl1pPr marL="457200"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chemeClr val="bg2"/>
                </a:solidFill>
              </a:rPr>
              <a:t>Click to edit Master title style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30931AC-C857-4060-AA10-476957E80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2246049"/>
            <a:ext cx="5437185" cy="3266357"/>
          </a:xfrm>
        </p:spPr>
        <p:txBody>
          <a:bodyPr/>
          <a:lstStyle/>
          <a:p>
            <a:pPr lvl="0"/>
            <a:r>
              <a:rPr lang="en-US">
                <a:solidFill>
                  <a:schemeClr val="tx2"/>
                </a:solidFill>
                <a:latin typeface="+mn-lt"/>
              </a:rPr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F35884A-AA66-4463-BED7-15E9AEA61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79C15E-DBE3-4BE1-9DEF-097D72F5D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11900" y="0"/>
            <a:ext cx="0" cy="594995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23E7A8-4D91-4B68-BDD5-2E7205132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51950" y="6"/>
            <a:ext cx="0" cy="59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9929F-E748-4AF3-8F29-53A0B503E7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7416" y="438912"/>
            <a:ext cx="2057400" cy="507492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692E4A71-59E7-43D2-9C35-933F0EF97D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92640" y="438912"/>
            <a:ext cx="2057400" cy="507492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4C5608B-94D9-4652-82FC-8E4A66A06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4" y="5958000"/>
            <a:ext cx="3457576" cy="90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2BE82A7-308B-45B6-B346-DE80B9114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7212" y="5958000"/>
            <a:ext cx="5400675" cy="90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C932E5-9185-4410-8B73-15E1C607A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00" y="5961888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D164CB9-B909-4569-A391-D7B71BBD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B459C6-E7AA-40AB-9218-11BD2509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89154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720913C3-8DBA-4AB2-A9DD-FAD54FFC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611" y="0"/>
            <a:ext cx="5407941" cy="3635533"/>
          </a:xfrm>
          <a:solidFill>
            <a:schemeClr val="tx2"/>
          </a:solidFill>
        </p:spPr>
        <p:txBody>
          <a:bodyPr tIns="365760" anchor="t" anchorCtr="0"/>
          <a:lstStyle>
            <a:lvl1pPr marL="457200"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>
                <a:solidFill>
                  <a:schemeClr val="bg2"/>
                </a:solidFill>
              </a:rPr>
              <a:t>Click to edit Master title style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CD5A2B-7198-4EFE-91B8-84FA422F9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4D23C9-0B78-4E3D-944D-6781941D5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76022" y="3633990"/>
            <a:ext cx="0" cy="32184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D65328-8094-4B5F-AA1C-6D92EA797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28000" y="3639600"/>
            <a:ext cx="0" cy="32184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735D4B-04CF-49F1-B96A-8BCB49B59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99" y="3628968"/>
            <a:ext cx="11292001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9A0147-2421-4881-958A-681569CD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4BF4BE-E699-4D5B-AD90-3918DA32E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849F009-8335-40E3-B8F6-E0C944D9F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DBA418B9-443D-43A6-86B7-1CBE7DA4B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214" y="352800"/>
            <a:ext cx="4968874" cy="2860301"/>
          </a:xfrm>
        </p:spPr>
        <p:txBody>
          <a:bodyPr>
            <a:normAutofit/>
          </a:bodyPr>
          <a:lstStyle/>
          <a:p>
            <a:pPr lvl="0"/>
            <a:r>
              <a:rPr lang="en-US">
                <a:solidFill>
                  <a:schemeClr val="tx2"/>
                </a:solidFill>
                <a:latin typeface="+mn-lt"/>
              </a:rPr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6EB21-8CA2-45AE-881D-77CA356C5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8611" y="3633702"/>
            <a:ext cx="3767328" cy="321868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29DA2DF3-077D-4C17-8B3C-057AF5F70D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84634" y="3635534"/>
            <a:ext cx="3767328" cy="3218688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1AD7F36C-8A61-420B-B01F-91F8D256CF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4672" y="3639312"/>
            <a:ext cx="3767328" cy="321868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025A4D-12E3-4354-9702-0FCF57D5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41719" y="3639600"/>
            <a:ext cx="0" cy="32184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82A7C0-6EF9-44BD-A4AC-74CA099CB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39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80D43-C879-4F29-89E9-131AC312B2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08870"/>
            <a:ext cx="3035808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7FE99B5-F65C-4745-A461-3E0398E73E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2064" y="3208870"/>
            <a:ext cx="3035808" cy="27432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25313305-BF3D-47B8-9C96-BA1E4B2214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4128" y="3208870"/>
            <a:ext cx="3035808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CF5210DE-2656-46FD-9659-FBE2EA902A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56192" y="3208870"/>
            <a:ext cx="3035808" cy="27432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B5599FA-2D95-4346-BF72-8C35B45E3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24000"/>
            <a:ext cx="11306175" cy="738664"/>
          </a:xfrm>
        </p:spPr>
        <p:txBody>
          <a:bodyPr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ED7AD8D-13BC-4A8A-926F-CC2309EEA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1062000"/>
            <a:ext cx="11306175" cy="16827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alpha val="55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2">
                  <a:alpha val="5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5AE084-1046-4FF4-A202-DCE2D097BC64}"/>
              </a:ext>
            </a:extLst>
          </p:cNvPr>
          <p:cNvCxnSpPr>
            <a:cxnSpLocks/>
          </p:cNvCxnSpPr>
          <p:nvPr userDrawn="1"/>
        </p:nvCxnSpPr>
        <p:spPr>
          <a:xfrm>
            <a:off x="3043301" y="3208870"/>
            <a:ext cx="0" cy="27432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07847E-010F-4BE3-B738-ECBA669A2634}"/>
              </a:ext>
            </a:extLst>
          </p:cNvPr>
          <p:cNvCxnSpPr>
            <a:cxnSpLocks/>
          </p:cNvCxnSpPr>
          <p:nvPr userDrawn="1"/>
        </p:nvCxnSpPr>
        <p:spPr>
          <a:xfrm>
            <a:off x="6095365" y="3208870"/>
            <a:ext cx="0" cy="27432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4192BD-AC1C-40F7-82A6-5F179AFED3C6}"/>
              </a:ext>
            </a:extLst>
          </p:cNvPr>
          <p:cNvCxnSpPr>
            <a:cxnSpLocks/>
          </p:cNvCxnSpPr>
          <p:nvPr userDrawn="1"/>
        </p:nvCxnSpPr>
        <p:spPr>
          <a:xfrm>
            <a:off x="9148064" y="3208870"/>
            <a:ext cx="0" cy="27432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50313B-4954-4B52-A004-697EBA8F63C0}"/>
              </a:ext>
            </a:extLst>
          </p:cNvPr>
          <p:cNvCxnSpPr>
            <a:cxnSpLocks/>
          </p:cNvCxnSpPr>
          <p:nvPr userDrawn="1"/>
        </p:nvCxnSpPr>
        <p:spPr>
          <a:xfrm>
            <a:off x="0" y="3202305"/>
            <a:ext cx="121932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76BCEF-CD05-4B98-AB47-9A229AB73667}"/>
              </a:ext>
            </a:extLst>
          </p:cNvPr>
          <p:cNvCxnSpPr>
            <a:cxnSpLocks/>
          </p:cNvCxnSpPr>
          <p:nvPr userDrawn="1"/>
        </p:nvCxnSpPr>
        <p:spPr>
          <a:xfrm>
            <a:off x="0" y="5958635"/>
            <a:ext cx="121932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20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696C-4B86-4CA0-A733-55338D7B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320040"/>
            <a:ext cx="10406063" cy="1263423"/>
          </a:xfrm>
        </p:spPr>
        <p:txBody>
          <a:bodyPr wrap="square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243987-D9E3-40C9-94D4-B3CCFE71A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BF37532-63DB-40A9-90C9-9B3BB694D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007CCEE-A736-4DEE-982A-45CDF794F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noFill/>
                </a:ln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26C1-D742-4B12-B5E3-153A24D0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025" y="2060575"/>
            <a:ext cx="10406063" cy="4356100"/>
          </a:xfrm>
        </p:spPr>
        <p:txBody>
          <a:bodyPr lIns="0" tIns="0" rIns="0" bIns="0">
            <a:noAutofit/>
          </a:bodyPr>
          <a:lstStyle>
            <a:lvl1pPr marL="36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1pPr>
            <a:lvl2pPr marL="72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2pPr>
            <a:lvl3pPr marL="108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3pPr>
            <a:lvl4pPr marL="144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4pPr>
            <a:lvl5pPr marL="180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177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7401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 pos="4042">
          <p15:clr>
            <a:srgbClr val="F26B43"/>
          </p15:clr>
        </p15:guide>
        <p15:guide id="16" orient="horz" pos="1003">
          <p15:clr>
            <a:srgbClr val="5ACBF0"/>
          </p15:clr>
        </p15:guide>
        <p15:guide id="17" orient="horz" pos="1298">
          <p15:clr>
            <a:srgbClr val="5ACBF0"/>
          </p15:clr>
        </p15:guide>
        <p15:guide id="18" orient="horz" pos="2024">
          <p15:clr>
            <a:srgbClr val="5ACBF0"/>
          </p15:clr>
        </p15:guide>
        <p15:guide id="19" orient="horz" pos="2296">
          <p15:clr>
            <a:srgbClr val="5ACBF0"/>
          </p15:clr>
        </p15:guide>
        <p15:guide id="20" orient="horz" pos="3022">
          <p15:clr>
            <a:srgbClr val="5ACBF0"/>
          </p15:clr>
        </p15:guide>
        <p15:guide id="21" orient="horz" pos="3317">
          <p15:clr>
            <a:srgbClr val="5ACBF0"/>
          </p15:clr>
        </p15:guide>
        <p15:guide id="22" pos="846">
          <p15:clr>
            <a:srgbClr val="F26B43"/>
          </p15:clr>
        </p15:guide>
        <p15:guide id="23" pos="1708">
          <p15:clr>
            <a:srgbClr val="5ACBF0"/>
          </p15:clr>
        </p15:guide>
        <p15:guide id="24" pos="2003">
          <p15:clr>
            <a:srgbClr val="5ACBF0"/>
          </p15:clr>
        </p15:guide>
        <p15:guide id="25" pos="2842">
          <p15:clr>
            <a:srgbClr val="5ACBF0"/>
          </p15:clr>
        </p15:guide>
        <p15:guide id="26" pos="3137">
          <p15:clr>
            <a:srgbClr val="5ACBF0"/>
          </p15:clr>
        </p15:guide>
        <p15:guide id="28" pos="3976">
          <p15:clr>
            <a:srgbClr val="5ACBF0"/>
          </p15:clr>
        </p15:guide>
        <p15:guide id="29" pos="5110">
          <p15:clr>
            <a:srgbClr val="5ACBF0"/>
          </p15:clr>
        </p15:guide>
        <p15:guide id="30" pos="5405">
          <p15:clr>
            <a:srgbClr val="5ACBF0"/>
          </p15:clr>
        </p15:guide>
        <p15:guide id="31" pos="6267">
          <p15:clr>
            <a:srgbClr val="5ACBF0"/>
          </p15:clr>
        </p15:guide>
        <p15:guide id="32" pos="6539">
          <p15:clr>
            <a:srgbClr val="5ACBF0"/>
          </p15:clr>
        </p15:guide>
        <p15:guide id="33" pos="574">
          <p15:clr>
            <a:srgbClr val="F26B43"/>
          </p15:clr>
        </p15:guide>
        <p15:guide id="34" pos="427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450242-4754-4408-A5DC-4D4430462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44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14400 w 12192000"/>
              <a:gd name="connsiteY3" fmla="*/ 6858000 h 6858000"/>
              <a:gd name="connsiteX4" fmla="*/ 0 w 12192000"/>
              <a:gd name="connsiteY4" fmla="*/ 0 h 6858000"/>
              <a:gd name="connsiteX5" fmla="*/ 877824 w 12192000"/>
              <a:gd name="connsiteY5" fmla="*/ 0 h 6858000"/>
              <a:gd name="connsiteX6" fmla="*/ 877824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144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14400" y="6858000"/>
                </a:lnTo>
                <a:close/>
                <a:moveTo>
                  <a:pt x="0" y="0"/>
                </a:moveTo>
                <a:lnTo>
                  <a:pt x="877824" y="0"/>
                </a:lnTo>
                <a:lnTo>
                  <a:pt x="8778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37762E-A215-4366-9C05-333C5863F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899996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C87FF0FA-B9C8-45F9-9BE1-0FE9DAB2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162560"/>
            <a:ext cx="2869360" cy="4749973"/>
          </a:xfrm>
          <a:noFill/>
        </p:spPr>
        <p:txBody>
          <a:bodyPr tIns="320040" anchor="ctr">
            <a:normAutofit/>
          </a:bodyPr>
          <a:lstStyle>
            <a:lvl1pPr marL="457200">
              <a:lnSpc>
                <a:spcPct val="10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chemeClr val="bg2"/>
                </a:solidFill>
              </a:rPr>
              <a:t>Click to edit Master title style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Subtitle 7">
            <a:extLst>
              <a:ext uri="{FF2B5EF4-FFF2-40B4-BE49-F238E27FC236}">
                <a16:creationId xmlns:a16="http://schemas.microsoft.com/office/drawing/2014/main" id="{A21E13D9-32A0-414B-8811-425CE64DB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999" y="4912534"/>
            <a:ext cx="3611662" cy="1945466"/>
          </a:xfrm>
          <a:noFill/>
        </p:spPr>
        <p:txBody>
          <a:bodyPr tIns="365760">
            <a:normAutofit/>
          </a:bodyPr>
          <a:lstStyle>
            <a:lvl1pPr marL="457200">
              <a:defRPr sz="2000">
                <a:solidFill>
                  <a:schemeClr val="bg2">
                    <a:alpha val="56000"/>
                  </a:schemeClr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000">
                <a:solidFill>
                  <a:schemeClr val="bg2">
                    <a:alpha val="56000"/>
                  </a:schemeClr>
                </a:solidFill>
              </a:rPr>
              <a:t>Click to edit Master subtitle style</a:t>
            </a:r>
            <a:endParaRPr lang="en-US" sz="2000" dirty="0">
              <a:solidFill>
                <a:schemeClr val="bg2">
                  <a:alpha val="56000"/>
                </a:schemeClr>
              </a:solidFill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9A0147-2421-4881-958A-681569CD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4BF4BE-E699-4D5B-AD90-3918DA32E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849F009-8335-40E3-B8F6-E0C944D9F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solidFill>
                  <a:schemeClr val="bg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65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FFBA-B7FA-43C2-A543-187E29A6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B4886C6-7F2A-4A13-85F1-EFDA370C5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9FAAFC2-F91B-4189-A9FA-0696BF84D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5B673D0-3765-46AD-B094-DDF79E463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noFill/>
                </a:ln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A31187-FB8B-4DDF-A5A9-69AB1359F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19D35D3-D14B-4B07-BDBD-91A5AC3A08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44168" y="1920240"/>
            <a:ext cx="2286000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DABBBB8-A467-4BC1-B67B-84F2CE43AE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4168" y="4776723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987AC28-444C-4196-9E47-A4EF896A23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44168" y="5231994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6294C3D0-06EC-44FE-B004-772B2B4AD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50792" y="1920240"/>
            <a:ext cx="2286000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B90A362-5B2F-42A1-9C37-B7A2C1DB52C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050792" y="4776722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B5E1E4-F9B1-48B7-99FD-CF1FB5D1CE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50792" y="5231994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B3635E-2CD2-4789-B716-0726983B98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66560" y="1920240"/>
            <a:ext cx="2286000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81C480-45F8-4827-9037-7539C3EB8AE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766560" y="4776722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5C234DF-E3C1-404B-AB97-2C7A46E4B5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766560" y="5231994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9F5C4372-9497-41A1-B420-2B0107C0AF7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184" y="1920240"/>
            <a:ext cx="2286000" cy="27432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8F45840-878E-43B2-A803-74771B0806E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473184" y="4776722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CB5A8C9-D514-49FE-8865-6B145CE4144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473184" y="5231994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5336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696C-4B86-4CA0-A733-55338D7B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320040"/>
            <a:ext cx="10406063" cy="1263423"/>
          </a:xfrm>
        </p:spPr>
        <p:txBody>
          <a:bodyPr wrap="square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243987-D9E3-40C9-94D4-B3CCFE71A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BF37532-63DB-40A9-90C9-9B3BB694D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007CCEE-A736-4DEE-982A-45CDF794F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noFill/>
                </a:ln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26C1-D742-4B12-B5E3-153A24D0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333" y="1825625"/>
            <a:ext cx="10515600" cy="4351338"/>
          </a:xfrm>
        </p:spPr>
        <p:txBody>
          <a:bodyPr lIns="0" tIns="0" rIns="0" bIns="0">
            <a:noAutofit/>
          </a:bodyPr>
          <a:lstStyle>
            <a:lvl1pPr marL="36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1pPr>
            <a:lvl2pPr marL="72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2pPr>
            <a:lvl3pPr marL="108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3pPr>
            <a:lvl4pPr marL="144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4pPr>
            <a:lvl5pPr marL="180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00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7401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 pos="4042">
          <p15:clr>
            <a:srgbClr val="F26B43"/>
          </p15:clr>
        </p15:guide>
        <p15:guide id="16" orient="horz" pos="1003">
          <p15:clr>
            <a:srgbClr val="5ACBF0"/>
          </p15:clr>
        </p15:guide>
        <p15:guide id="17" orient="horz" pos="1298">
          <p15:clr>
            <a:srgbClr val="5ACBF0"/>
          </p15:clr>
        </p15:guide>
        <p15:guide id="18" orient="horz" pos="2024">
          <p15:clr>
            <a:srgbClr val="5ACBF0"/>
          </p15:clr>
        </p15:guide>
        <p15:guide id="19" orient="horz" pos="2296">
          <p15:clr>
            <a:srgbClr val="5ACBF0"/>
          </p15:clr>
        </p15:guide>
        <p15:guide id="20" orient="horz" pos="3022">
          <p15:clr>
            <a:srgbClr val="5ACBF0"/>
          </p15:clr>
        </p15:guide>
        <p15:guide id="21" orient="horz" pos="3317">
          <p15:clr>
            <a:srgbClr val="5ACBF0"/>
          </p15:clr>
        </p15:guide>
        <p15:guide id="22" pos="846">
          <p15:clr>
            <a:srgbClr val="F26B43"/>
          </p15:clr>
        </p15:guide>
        <p15:guide id="23" pos="1708">
          <p15:clr>
            <a:srgbClr val="5ACBF0"/>
          </p15:clr>
        </p15:guide>
        <p15:guide id="24" pos="2003">
          <p15:clr>
            <a:srgbClr val="5ACBF0"/>
          </p15:clr>
        </p15:guide>
        <p15:guide id="25" pos="2842">
          <p15:clr>
            <a:srgbClr val="5ACBF0"/>
          </p15:clr>
        </p15:guide>
        <p15:guide id="26" pos="3137">
          <p15:clr>
            <a:srgbClr val="5ACBF0"/>
          </p15:clr>
        </p15:guide>
        <p15:guide id="28" pos="3976">
          <p15:clr>
            <a:srgbClr val="5ACBF0"/>
          </p15:clr>
        </p15:guide>
        <p15:guide id="29" pos="5110">
          <p15:clr>
            <a:srgbClr val="5ACBF0"/>
          </p15:clr>
        </p15:guide>
        <p15:guide id="30" pos="5405">
          <p15:clr>
            <a:srgbClr val="5ACBF0"/>
          </p15:clr>
        </p15:guide>
        <p15:guide id="31" pos="6267">
          <p15:clr>
            <a:srgbClr val="5ACBF0"/>
          </p15:clr>
        </p15:guide>
        <p15:guide id="32" pos="6539">
          <p15:clr>
            <a:srgbClr val="5ACBF0"/>
          </p15:clr>
        </p15:guide>
        <p15:guide id="33" pos="574">
          <p15:clr>
            <a:srgbClr val="F26B43"/>
          </p15:clr>
        </p15:guide>
        <p15:guide id="34" pos="427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82FF-2A32-49DE-8CD8-110B8656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99" y="320040"/>
            <a:ext cx="11269775" cy="13630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8169D-3731-4C94-88AE-B0A6F9E0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797" y="1790700"/>
            <a:ext cx="5437187" cy="615950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spc="200" baseline="0">
                <a:solidFill>
                  <a:schemeClr val="accent1">
                    <a:alpha val="77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F9D0F-6C05-441B-9D94-466C79598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797" y="2505075"/>
            <a:ext cx="5437187" cy="3011476"/>
          </a:xfrm>
        </p:spPr>
        <p:txBody>
          <a:bodyPr/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90129-65EC-4BFC-B51F-3F2174644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1786" y="1790700"/>
            <a:ext cx="5437187" cy="615950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spc="200" baseline="0">
                <a:solidFill>
                  <a:schemeClr val="accent1">
                    <a:alpha val="77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AB39-390C-4C6E-90BC-E2A254865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1786" y="2505075"/>
            <a:ext cx="5437187" cy="3011476"/>
          </a:xfrm>
        </p:spPr>
        <p:txBody>
          <a:bodyPr/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3E94383-11E6-486C-8325-BE8B447A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F62069A-7C14-42BA-A1F2-AE00A6BC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0E56EE-505D-4420-971C-982EA4EF0564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A02FFF2-554C-4459-9BBD-7D0ADE8D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16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82FF-2A32-49DE-8CD8-110B8656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99" y="320040"/>
            <a:ext cx="11269775" cy="13630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8169D-3731-4C94-88AE-B0A6F9E0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797" y="1790700"/>
            <a:ext cx="3429000" cy="615950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spc="200" baseline="0">
                <a:solidFill>
                  <a:schemeClr val="accent1">
                    <a:alpha val="77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F9D0F-6C05-441B-9D94-466C79598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797" y="2505075"/>
            <a:ext cx="3429000" cy="3011476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2pPr>
            <a:lvl3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3pPr>
            <a:lvl4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4pPr>
            <a:lvl5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90129-65EC-4BFC-B51F-3F2174644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1229" y="1782751"/>
            <a:ext cx="3429000" cy="615950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spc="200" baseline="0">
                <a:solidFill>
                  <a:schemeClr val="accent1">
                    <a:alpha val="77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AB39-390C-4C6E-90BC-E2A254865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1229" y="2497126"/>
            <a:ext cx="3429000" cy="3011476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2pPr>
            <a:lvl3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3pPr>
            <a:lvl4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4pPr>
            <a:lvl5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9AC7104-83A4-4778-B422-65C329380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59661" y="1792224"/>
            <a:ext cx="3429000" cy="615950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spc="200" baseline="0">
                <a:solidFill>
                  <a:schemeClr val="accent1">
                    <a:alpha val="77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D9010FA-B494-44F4-87EE-F9AA522626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59661" y="2505456"/>
            <a:ext cx="3429000" cy="3011476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1pPr>
            <a:lvl2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2pPr>
            <a:lvl3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3pPr>
            <a:lvl4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4pPr>
            <a:lvl5pPr marL="283464" indent="-283464">
              <a:lnSpc>
                <a:spcPct val="100000"/>
              </a:lnSpc>
              <a:buFont typeface="Arial" panose="020B0604020202020204" pitchFamily="34" charset="0"/>
              <a:buChar char="•"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3E94383-11E6-486C-8325-BE8B447A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F62069A-7C14-42BA-A1F2-AE00A6BC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0E56EE-505D-4420-971C-982EA4EF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957999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0EB13C5-C98D-4847-ABF3-6D98B8E5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F80CB87-A239-40AE-85FA-01D245F19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3704B0-67D9-4193-9064-08E51EDDF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20040"/>
            <a:ext cx="7381875" cy="752955"/>
          </a:xfrm>
        </p:spPr>
        <p:txBody>
          <a:bodyPr wrap="square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1FB0A3F-5AFA-420D-965E-C72D1EB23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1194280"/>
            <a:ext cx="7381875" cy="4322275"/>
          </a:xfrm>
        </p:spPr>
        <p:txBody>
          <a:bodyPr>
            <a:normAutofit/>
          </a:bodyPr>
          <a:lstStyle/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C9C25CB-DEDF-46B3-BF33-CDFD2C6F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</p:spPr>
        <p:txBody>
          <a:bodyPr/>
          <a:lstStyle/>
          <a:p>
            <a:r>
              <a:rPr lang="en-US">
                <a:latin typeface="+mn-lt"/>
              </a:rPr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2BE3C0D-3A0F-4F87-A282-B89DF405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</p:spPr>
        <p:txBody>
          <a:bodyPr/>
          <a:lstStyle/>
          <a:p>
            <a:r>
              <a:rPr lang="en-US" dirty="0">
                <a:latin typeface="+mn-lt"/>
              </a:rPr>
              <a:t>Sample Footer Text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3CF370-38A0-483A-B54B-2E069363D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291513" y="0"/>
            <a:ext cx="0" cy="59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36BBA0-0536-4889-8887-301D33F3D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301FA2-804E-463C-AF86-C73F697A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26BB2-A295-414E-A22B-85305E9998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3608" y="0"/>
            <a:ext cx="3904488" cy="596188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2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0094CF-2871-4DDF-AC40-0C19BEA25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A5715-1FF7-4E6E-AB26-D1D2AF41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"/>
            <a:ext cx="4363831" cy="2042149"/>
          </a:xfrm>
          <a:solidFill>
            <a:schemeClr val="tx2"/>
          </a:solidFill>
        </p:spPr>
        <p:txBody>
          <a:bodyPr anchor="ctr"/>
          <a:lstStyle>
            <a:lvl1pPr marL="45720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D24DC0D-1282-4C4E-A478-FE21FA1D2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5" y="2246049"/>
            <a:ext cx="3457572" cy="3266357"/>
          </a:xfrm>
        </p:spPr>
        <p:txBody>
          <a:bodyPr/>
          <a:lstStyle/>
          <a:p>
            <a:pPr lvl="0"/>
            <a:r>
              <a:rPr lang="en-US">
                <a:solidFill>
                  <a:schemeClr val="tx2"/>
                </a:solidFill>
                <a:latin typeface="+mn-lt"/>
              </a:rPr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89AF83-EAB4-45B3-88E0-7E887F1A5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66021" y="-1"/>
            <a:ext cx="0" cy="59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CB34A0-36A4-44C8-86AA-7340C3906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D662CC8-6EC6-4BA7-A49C-0790C1FC1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4" y="5958000"/>
            <a:ext cx="3457576" cy="90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340B371-E7CE-4F58-B890-3DB2437A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65036" y="-3175"/>
            <a:ext cx="7827264" cy="596188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8DFA1B0-2A4F-4E75-8793-C9EF0A48D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7212" y="5958000"/>
            <a:ext cx="5400675" cy="90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0703DF-A59D-404B-9F97-4E033590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00" y="5961888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66B571D-4F8A-4FD9-B1CD-0EE8887D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41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B56296-1077-490F-AD3B-51C42732E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FAA7E-0E06-4760-8C38-061DBED558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904488" cy="596188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E08D24-2048-4277-B952-4B912357A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7213" y="441325"/>
            <a:ext cx="7381875" cy="3644968"/>
          </a:xfrm>
        </p:spPr>
        <p:txBody>
          <a:bodyPr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2"/>
                </a:solidFill>
              </a:rPr>
              <a:t>Click to edit Master title style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9A0147-2421-4881-958A-681569CD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4BF4BE-E699-4D5B-AD90-3918DA32E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849F009-8335-40E3-B8F6-E0C944D9F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9B3931E3-625E-49D6-BB15-6E087FE9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7213" y="4101151"/>
            <a:ext cx="7381875" cy="1415405"/>
          </a:xfrm>
        </p:spPr>
        <p:txBody>
          <a:bodyPr wrap="square" anchor="t" anchorCtr="0">
            <a:normAutofit/>
          </a:bodyPr>
          <a:lstStyle/>
          <a:p>
            <a:r>
              <a:rPr lang="en-US">
                <a:solidFill>
                  <a:schemeClr val="bg2">
                    <a:alpha val="55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bg2">
                  <a:alpha val="5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721B96-BE90-48B8-837A-BA518651B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53D12F-8664-4647-AA6A-5D31AC1D6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00486" y="0"/>
            <a:ext cx="0" cy="59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700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9A0147-2421-4881-958A-681569CD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4BF4BE-E699-4D5B-AD90-3918DA32E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849F009-8335-40E3-B8F6-E0C944D9F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329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3CD3-52EB-4792-A9D9-987CD0351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441324"/>
            <a:ext cx="11306175" cy="2485349"/>
          </a:xfrm>
        </p:spPr>
        <p:txBody>
          <a:bodyPr wrap="square"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7AA7E-2193-4D1B-A896-BA7E3064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3070799"/>
            <a:ext cx="11306175" cy="244575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4000"/>
              </a:lnSpc>
              <a:buNone/>
              <a:defRPr sz="4600">
                <a:solidFill>
                  <a:schemeClr val="tx2">
                    <a:alpha val="56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A14B1-115B-40A3-9D71-3DE33E9D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C9B78-0E13-48BD-A3A2-B7E3C609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6D940-CD1A-46A6-8495-AD6F6CF8B13C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F703579-0A2C-4B0E-9C2F-BF2EAF07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99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>
          <p15:clr>
            <a:srgbClr val="5ACBF0"/>
          </p15:clr>
        </p15:guide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7401">
          <p15:clr>
            <a:srgbClr val="F26B43"/>
          </p15:clr>
        </p15:guide>
        <p15:guide id="5" pos="1232">
          <p15:clr>
            <a:srgbClr val="5ACBF0"/>
          </p15:clr>
        </p15:guide>
        <p15:guide id="6" pos="1504">
          <p15:clr>
            <a:srgbClr val="5ACBF0"/>
          </p15:clr>
        </p15:guide>
        <p15:guide id="7" pos="2457">
          <p15:clr>
            <a:srgbClr val="5ACBF0"/>
          </p15:clr>
        </p15:guide>
        <p15:guide id="8" pos="2751">
          <p15:clr>
            <a:srgbClr val="5ACBF0"/>
          </p15:clr>
        </p15:guide>
        <p15:guide id="9" pos="3704">
          <p15:clr>
            <a:srgbClr val="5ACBF0"/>
          </p15:clr>
        </p15:guide>
        <p15:guide id="10" pos="3976">
          <p15:clr>
            <a:srgbClr val="5ACBF0"/>
          </p15:clr>
        </p15:guide>
        <p15:guide id="11" pos="4929">
          <p15:clr>
            <a:srgbClr val="5ACBF0"/>
          </p15:clr>
        </p15:guide>
        <p15:guide id="12" pos="5223">
          <p15:clr>
            <a:srgbClr val="5ACBF0"/>
          </p15:clr>
        </p15:guide>
        <p15:guide id="13" pos="6153">
          <p15:clr>
            <a:srgbClr val="5ACBF0"/>
          </p15:clr>
        </p15:guide>
        <p15:guide id="14" pos="6448">
          <p15:clr>
            <a:srgbClr val="5ACBF0"/>
          </p15:clr>
        </p15:guide>
        <p15:guide id="18" orient="horz" pos="278">
          <p15:clr>
            <a:srgbClr val="F26B43"/>
          </p15:clr>
        </p15:guide>
        <p15:guide id="20" orient="horz" pos="867">
          <p15:clr>
            <a:srgbClr val="5ACBF0"/>
          </p15:clr>
        </p15:guide>
        <p15:guide id="21" orient="horz" pos="1729">
          <p15:clr>
            <a:srgbClr val="5ACBF0"/>
          </p15:clr>
        </p15:guide>
        <p15:guide id="22" orient="horz" pos="3475">
          <p15:clr>
            <a:srgbClr val="F26B43"/>
          </p15:clr>
        </p15:guide>
        <p15:guide id="28" orient="horz" pos="1139">
          <p15:clr>
            <a:srgbClr val="5ACBF0"/>
          </p15:clr>
        </p15:guide>
        <p15:guide id="29" orient="horz" pos="2591">
          <p15:clr>
            <a:srgbClr val="5ACBF0"/>
          </p15:clr>
        </p15:guide>
        <p15:guide id="30" orient="horz" pos="2024">
          <p15:clr>
            <a:srgbClr val="5ACBF0"/>
          </p15:clr>
        </p15:guide>
        <p15:guide id="31" orient="horz" pos="3748">
          <p15:clr>
            <a:srgbClr val="F26B43"/>
          </p15:clr>
        </p15:guide>
        <p15:guide id="32" orient="horz" pos="1888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4A12-D27E-4943-9C01-3BAB8E6F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35429"/>
            <a:ext cx="11269661" cy="33173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9FB4-A15D-4A4C-9518-2A54AAF1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32563"/>
            <a:ext cx="11269661" cy="1527175"/>
          </a:xfr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2">
                    <a:alpha val="56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F31430D-78C1-413D-9D0E-77949132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37B06F-6E01-48C4-A79E-B8559775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955689-FF51-4F45-9ABB-35CEF1E96A0C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0C2D112-ED36-4DBC-99F9-A146334E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807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6EFA-DCD1-439C-848B-9465217A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00" y="327600"/>
            <a:ext cx="11269660" cy="1141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590-915B-4BD8-8660-C5BE9D175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4" y="1825625"/>
            <a:ext cx="5400675" cy="369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B82F1-F0AC-48D5-9F1C-5141E4C17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99" y="1825625"/>
            <a:ext cx="5400675" cy="369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1D4ED8D-AAB0-42B0-91B5-93260AC1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C7CAD99-5F8F-43D0-83F2-E1F53021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C5E49A-E440-42D6-8B0F-D4B5BAD8CAB8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48360D-6CEB-460F-AEDB-911ED68F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112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A843-22A2-45CD-8189-8D0947C0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5" y="383270"/>
            <a:ext cx="3457573" cy="1373076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AB4C-B3C9-4E63-8A1B-082C0F49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213" y="349369"/>
            <a:ext cx="7345362" cy="5167187"/>
          </a:xfrm>
        </p:spPr>
        <p:txBody>
          <a:bodyPr/>
          <a:lstStyle>
            <a:lvl1pPr>
              <a:lnSpc>
                <a:spcPct val="112000"/>
              </a:lnSpc>
              <a:defRPr sz="3200">
                <a:solidFill>
                  <a:schemeClr val="tx2">
                    <a:alpha val="77000"/>
                  </a:schemeClr>
                </a:solidFill>
              </a:defRPr>
            </a:lvl1pPr>
            <a:lvl2pPr>
              <a:lnSpc>
                <a:spcPct val="112000"/>
              </a:lnSpc>
              <a:defRPr sz="3200">
                <a:solidFill>
                  <a:schemeClr val="tx2">
                    <a:alpha val="77000"/>
                  </a:schemeClr>
                </a:solidFill>
              </a:defRPr>
            </a:lvl2pPr>
            <a:lvl3pPr>
              <a:lnSpc>
                <a:spcPct val="120000"/>
              </a:lnSpc>
              <a:defRPr sz="2000">
                <a:solidFill>
                  <a:schemeClr val="tx2">
                    <a:alpha val="77000"/>
                  </a:schemeClr>
                </a:solidFill>
              </a:defRPr>
            </a:lvl3pPr>
            <a:lvl4pPr>
              <a:lnSpc>
                <a:spcPct val="120000"/>
              </a:lnSpc>
              <a:defRPr sz="2000">
                <a:solidFill>
                  <a:schemeClr val="tx2">
                    <a:alpha val="77000"/>
                  </a:schemeClr>
                </a:solidFill>
              </a:defRPr>
            </a:lvl4pPr>
            <a:lvl5pPr>
              <a:lnSpc>
                <a:spcPct val="120000"/>
              </a:lnSpc>
              <a:defRPr sz="1600">
                <a:solidFill>
                  <a:schemeClr val="tx2">
                    <a:alpha val="77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DF08E-8814-4AB5-9EEC-0052256A7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2915" y="2264229"/>
            <a:ext cx="3457573" cy="317137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65940B35-2B52-4835-9F7F-6AB86A12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BAE5D7E-7CFE-48B9-836B-640E4E88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3507D-4779-4D32-85CB-0A8040B6E552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09C198C-9BE5-4543-BA4B-A93E96CB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82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69B5-6EAD-4108-B9E2-9CABAB9D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088" y="441324"/>
            <a:ext cx="3932237" cy="95204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5599E-B10D-4308-A5CB-CC7D487B4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8488" y="441324"/>
            <a:ext cx="6078083" cy="550862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34C18-5042-469D-BCF7-26AD9FDCC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5088" y="1778000"/>
            <a:ext cx="3932237" cy="41719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01925-1670-4C63-8B44-2B14B7BE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935887" y="1377212"/>
            <a:ext cx="27717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Sunday, February 7, 20XX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CE1A673-960F-4A50-AE54-70AE0DA3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10475" y="4239475"/>
            <a:ext cx="2520950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EF9E6C-740A-4B36-BA9F-32AF986E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949950"/>
            <a:ext cx="900000" cy="900000"/>
          </a:xfrm>
          <a:prstGeom prst="rect">
            <a:avLst/>
          </a:prstGeom>
        </p:spPr>
        <p:txBody>
          <a:bodyPr lIns="72000" rIns="72000">
            <a:normAutofit/>
          </a:bodyPr>
          <a:lstStyle>
            <a:lvl1pPr algn="ctr">
              <a:defRPr sz="3600" b="0">
                <a:ln w="6350">
                  <a:noFill/>
                </a:ln>
                <a:solidFill>
                  <a:schemeClr val="tx2"/>
                </a:solidFill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31C920-29CA-4744-9814-A4FCF4554907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5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86052-6759-46BD-9531-D65FD955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800" y="327600"/>
            <a:ext cx="10407600" cy="11412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3C3A5-7533-48B0-9C15-F0165676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2800" y="2059200"/>
            <a:ext cx="10407600" cy="435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35256E-21FA-473A-8EAF-34CE9AD37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Sunday, February 7, 20XX</a:t>
            </a:r>
            <a:endParaRPr lang="en-US" dirty="0"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9857-D06D-4AFF-8777-07EF0A15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72703B-0DDF-46CE-AC34-623357994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61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64" r:id="rId3"/>
    <p:sldLayoutId id="2147483671" r:id="rId4"/>
    <p:sldLayoutId id="2147483650" r:id="rId5"/>
    <p:sldLayoutId id="2147483676" r:id="rId6"/>
    <p:sldLayoutId id="2147483654" r:id="rId7"/>
    <p:sldLayoutId id="2147483677" r:id="rId8"/>
    <p:sldLayoutId id="2147483653" r:id="rId9"/>
    <p:sldLayoutId id="2147483667" r:id="rId10"/>
    <p:sldLayoutId id="2147483674" r:id="rId11"/>
    <p:sldLayoutId id="2147483655" r:id="rId12"/>
    <p:sldLayoutId id="2147483662" r:id="rId13"/>
    <p:sldLayoutId id="2147483668" r:id="rId14"/>
    <p:sldLayoutId id="2147483649" r:id="rId15"/>
    <p:sldLayoutId id="2147483651" r:id="rId16"/>
    <p:sldLayoutId id="2147483652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2"/>
          </a:solidFill>
          <a:latin typeface="+mj-lt"/>
          <a:ea typeface="Microsoft Sans Serif" panose="020B0604020202020204" pitchFamily="34" charset="0"/>
          <a:cs typeface="Microsoft Sans Serif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1pPr>
      <a:lvl2pPr marL="3600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2pPr>
      <a:lvl3pPr marL="8550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3pPr>
      <a:lvl4pPr marL="13122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4pPr>
      <a:lvl5pPr marL="17694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mailto:Gordon.Williams@student.post.edu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5506D940-CD1A-46A6-8495-AD6F6CF8B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C0E59EF-F8DF-488B-B09D-66E4CF18A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29 Facts About Global Distribution Systems (Gds) - OhMyFacts">
            <a:extLst>
              <a:ext uri="{FF2B5EF4-FFF2-40B4-BE49-F238E27FC236}">
                <a16:creationId xmlns:a16="http://schemas.microsoft.com/office/drawing/2014/main" id="{7B403303-84A1-B1CA-1166-4F81894A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2" b="7051"/>
          <a:stretch>
            <a:fillRect/>
          </a:stretch>
        </p:blipFill>
        <p:spPr bwMode="auto">
          <a:xfrm>
            <a:off x="-1200" y="1"/>
            <a:ext cx="12193199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E92CAB6-7734-4F8B-96B0-946ECE3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400" y="-3"/>
            <a:ext cx="12192001" cy="3213099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58000"/>
                </a:srgbClr>
              </a:gs>
              <a:gs pos="0">
                <a:srgbClr val="000000">
                  <a:alpha val="0"/>
                </a:srgbClr>
              </a:gs>
              <a:gs pos="40000">
                <a:srgbClr val="000000">
                  <a:alpha val="45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84D94-F8EF-435F-9A63-D9B409F55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24000"/>
            <a:ext cx="11306175" cy="738664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rgbClr val="FFFFFF"/>
                </a:solidFill>
              </a:rPr>
              <a:t>Enhancing Global Financial Operations with a Distributed Database Management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21C6A78-1B96-4433-9AED-9C2FCA20A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651" y="1062664"/>
            <a:ext cx="10813036" cy="694036"/>
          </a:xfrm>
        </p:spPr>
        <p:txBody>
          <a:bodyPr vert="horz" lIns="0" tIns="0" rIns="0" bIns="0" rtlCol="0">
            <a:normAutofit/>
          </a:bodyPr>
          <a:lstStyle/>
          <a:p>
            <a:pPr marL="0">
              <a:lnSpc>
                <a:spcPct val="104000"/>
              </a:lnSpc>
            </a:pPr>
            <a:r>
              <a:rPr lang="en-US" sz="1600" dirty="0">
                <a:solidFill>
                  <a:srgbClr val="FFFFFF">
                    <a:alpha val="56000"/>
                  </a:srgbClr>
                </a:solidFill>
                <a:latin typeface="+mj-lt"/>
              </a:rPr>
              <a:t>A Strategic Proposal for My Company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11EE764-ACE2-1809-2717-C8F4553C6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974" y="5676790"/>
            <a:ext cx="465862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Gordon Elliott Williams, P10026108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BIA550-30 BUSINESS INTELLIGENCE AND ANALYTIC SYSTEMS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 UNIVERSITY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06/19/2025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0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7A9643C-0F0B-4917-87F3-420FE2F6D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7F87F0B-A8D4-4D95-8292-A81D5F82D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956"/>
            <a:ext cx="12191999" cy="180911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509E5-2EAA-481E-9588-3F47F1DD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441324"/>
            <a:ext cx="5426074" cy="107351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The Challenge:</a:t>
            </a:r>
            <a:br>
              <a:rPr lang="en-US" sz="3400"/>
            </a:br>
            <a:r>
              <a:rPr lang="en-US" sz="3400"/>
              <a:t>Why A New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590C-F344-41F9-93C6-E8B1EBED7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2246049"/>
            <a:ext cx="5437185" cy="3266357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>
                <a:solidFill>
                  <a:schemeClr val="tx2"/>
                </a:solidFill>
              </a:rPr>
              <a:t>Our remote financial services for international businesses face growing hurdles with a central database: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Slow Data Access:</a:t>
            </a:r>
            <a:r>
              <a:rPr lang="en-US" sz="1600">
                <a:solidFill>
                  <a:schemeClr val="tx2"/>
                </a:solidFill>
              </a:rPr>
              <a:t> Clients and teams worldwide experience delays.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Single Point of Failure:</a:t>
            </a:r>
            <a:r>
              <a:rPr lang="en-US" sz="1600">
                <a:solidFill>
                  <a:schemeClr val="tx2"/>
                </a:solidFill>
              </a:rPr>
              <a:t> One outage stops everything.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Scalability Limits:</a:t>
            </a:r>
            <a:r>
              <a:rPr lang="en-US" sz="1600">
                <a:solidFill>
                  <a:schemeClr val="tx2"/>
                </a:solidFill>
              </a:rPr>
              <a:t> Hard to grow with more international clients.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Data Sovereignty:</a:t>
            </a:r>
            <a:r>
              <a:rPr lang="en-US" sz="1600">
                <a:solidFill>
                  <a:schemeClr val="tx2"/>
                </a:solidFill>
              </a:rPr>
              <a:t> Difficulty meeting varying country-specific data laws.</a:t>
            </a: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2050" name="Picture 2" descr="8+ Thousand Broken Iron Chain Royalty-Free Images, Stock Photos &amp; Pictures  | Shutterstock">
            <a:extLst>
              <a:ext uri="{FF2B5EF4-FFF2-40B4-BE49-F238E27FC236}">
                <a16:creationId xmlns:a16="http://schemas.microsoft.com/office/drawing/2014/main" id="{8D38352A-24E6-C3E6-7E09-27159D4D3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7"/>
          <a:stretch>
            <a:fillRect/>
          </a:stretch>
        </p:blipFill>
        <p:spPr bwMode="auto">
          <a:xfrm>
            <a:off x="6311900" y="6"/>
            <a:ext cx="5880100" cy="5957994"/>
          </a:xfrm>
          <a:custGeom>
            <a:avLst/>
            <a:gdLst/>
            <a:ahLst/>
            <a:cxnLst/>
            <a:rect l="l" t="t" r="r" b="b"/>
            <a:pathLst>
              <a:path w="5880100" h="5957994">
                <a:moveTo>
                  <a:pt x="0" y="0"/>
                </a:moveTo>
                <a:lnTo>
                  <a:pt x="5880100" y="0"/>
                </a:lnTo>
                <a:lnTo>
                  <a:pt x="5880100" y="5957994"/>
                </a:lnTo>
                <a:lnTo>
                  <a:pt x="0" y="595799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F48E4C5-8C10-4F16-A8A9-2D0CA5FF4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957997"/>
            <a:ext cx="12191999" cy="90000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2DE1B176-45A8-43D4-BC6C-0F26FEC02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930C2558-406C-4EB6-B2BE-FACAAE7BC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11900" y="-1"/>
            <a:ext cx="0" cy="59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0C9541-58F3-43D9-8B77-CD81158F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>
                <a:spcAft>
                  <a:spcPts val="600"/>
                </a:spcAft>
              </a:pPr>
              <a:t>2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3807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CFF384FA-A314-44A7-A8D0-A5B072C0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F207D4E-9AD2-486E-974F-2A1243D8B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119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30CDF-208A-4AC2-B112-5BBBAA39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6" y="324001"/>
            <a:ext cx="4525960" cy="6092674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b="1" dirty="0"/>
              <a:t>Solution: Distributed Database Management System </a:t>
            </a:r>
            <a:endParaRPr lang="en-US"/>
          </a:p>
        </p:txBody>
      </p:sp>
      <p:pic>
        <p:nvPicPr>
          <p:cNvPr id="3074" name="Picture 2" descr="Cloud Computing Diagram Stock Illustrations – 13,081 Cloud Computing  Diagram Stock Illustrations, Vectors &amp; Clipart - Dreamstime">
            <a:extLst>
              <a:ext uri="{FF2B5EF4-FFF2-40B4-BE49-F238E27FC236}">
                <a16:creationId xmlns:a16="http://schemas.microsoft.com/office/drawing/2014/main" id="{76A58280-A66D-3CBD-3F62-2A83D45BAF3E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1" r="-1" b="-1"/>
          <a:stretch>
            <a:fillRect/>
          </a:stretch>
        </p:blipFill>
        <p:spPr bwMode="auto">
          <a:xfrm>
            <a:off x="6312734" y="10"/>
            <a:ext cx="5879267" cy="3218390"/>
          </a:xfrm>
          <a:custGeom>
            <a:avLst/>
            <a:gdLst/>
            <a:ahLst/>
            <a:cxnLst/>
            <a:rect l="l" t="t" r="r" b="b"/>
            <a:pathLst>
              <a:path w="5879267" h="3218400">
                <a:moveTo>
                  <a:pt x="0" y="0"/>
                </a:moveTo>
                <a:lnTo>
                  <a:pt x="5879267" y="0"/>
                </a:lnTo>
                <a:lnTo>
                  <a:pt x="5879267" y="3218400"/>
                </a:lnTo>
                <a:lnTo>
                  <a:pt x="0" y="32184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F798243-ADD6-46E9-8AEF-83B3745DE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>
                <a:spcAft>
                  <a:spcPts val="600"/>
                </a:spcAft>
              </a:pPr>
              <a:t>3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C803B7D9-A8DC-4B4E-B297-FDE3A362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93076B2E-01EF-48D3-8414-1FB359F8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11901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7D166-6F42-4BFC-9840-29C0CB0B2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214" y="3644900"/>
            <a:ext cx="4968874" cy="27717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>
                <a:solidFill>
                  <a:schemeClr val="tx2"/>
                </a:solidFill>
              </a:rPr>
              <a:t>A DDMS spreads our data across multiple interconnected servers globally.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Definition:</a:t>
            </a:r>
            <a:r>
              <a:rPr lang="en-US" sz="1600">
                <a:solidFill>
                  <a:schemeClr val="tx2"/>
                </a:solidFill>
              </a:rPr>
              <a:t> Like having separate libraries for different parts of our "financial records book" (data) in various cities.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Key Benefit:</a:t>
            </a:r>
            <a:r>
              <a:rPr lang="en-US" sz="1600">
                <a:solidFill>
                  <a:schemeClr val="tx2"/>
                </a:solidFill>
              </a:rPr>
              <a:t> Data is closer to users, improving speed and reliability.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600" b="1">
                <a:solidFill>
                  <a:schemeClr val="tx2"/>
                </a:solidFill>
              </a:rPr>
              <a:t>How it Works:</a:t>
            </a:r>
            <a:r>
              <a:rPr lang="en-US" sz="1600">
                <a:solidFill>
                  <a:schemeClr val="tx2"/>
                </a:solidFill>
              </a:rPr>
              <a:t> Data can be "fragmented" (split) by region </a:t>
            </a:r>
          </a:p>
        </p:txBody>
      </p:sp>
    </p:spTree>
    <p:extLst>
      <p:ext uri="{BB962C8B-B14F-4D97-AF65-F5344CB8AC3E}">
        <p14:creationId xmlns:p14="http://schemas.microsoft.com/office/powerpoint/2010/main" val="402585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B8EE7-2432-9238-1C09-831A4623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82302347-7821-FF06-6660-21DD1B716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CF0DB727-5C2C-34CD-3067-F4C79840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D4C06EE-2E8A-532F-BF3F-822BB3CCC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956"/>
            <a:ext cx="12191999" cy="180911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72F2F-84CD-4AF2-BF34-09CF3CE7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441325"/>
            <a:ext cx="8734424" cy="720726"/>
          </a:xfrm>
        </p:spPr>
        <p:txBody>
          <a:bodyPr vert="horz" wrap="square" lIns="0" tIns="0" rIns="0" bIns="0" rtlCol="0" anchor="b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/>
              <a:t>DDMS &amp; Data Fragmentation: Faster Access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CEEA-0C78-91D0-7F17-4651B766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2246049"/>
            <a:ext cx="5437185" cy="3266357"/>
          </a:xfrm>
        </p:spPr>
        <p:txBody>
          <a:bodyPr vert="horz" lIns="0" tIns="0" rIns="0" bIns="0" rtlCol="0">
            <a:normAutofit fontScale="92500" lnSpcReduction="20000"/>
          </a:bodyPr>
          <a:lstStyle/>
          <a:p>
            <a:r>
              <a:rPr lang="en-US" b="1" dirty="0"/>
              <a:t>Data Fragmentation</a:t>
            </a:r>
            <a:r>
              <a:rPr lang="en-US" dirty="0"/>
              <a:t> is strategically splitting our data.</a:t>
            </a:r>
          </a:p>
          <a:p>
            <a:pPr lvl="0"/>
            <a:r>
              <a:rPr lang="en-US" b="1" dirty="0"/>
              <a:t>Horizontal Fragmentation (by region):</a:t>
            </a:r>
            <a:r>
              <a:rPr lang="en-US" dirty="0"/>
              <a:t> Storing European client data on a European server, Asian data on an Asian server. </a:t>
            </a:r>
          </a:p>
          <a:p>
            <a:pPr lvl="1"/>
            <a:r>
              <a:rPr lang="en-US" b="1" dirty="0"/>
              <a:t>Advantage:</a:t>
            </a:r>
            <a:r>
              <a:rPr lang="en-US" dirty="0"/>
              <a:t> Our regional teams (e.g., Accounts Payable in London) get super-fast access to relevant client data.</a:t>
            </a:r>
          </a:p>
          <a:p>
            <a:pPr lvl="1"/>
            <a:r>
              <a:rPr lang="en-US" b="1" dirty="0"/>
              <a:t>Impact:</a:t>
            </a:r>
            <a:r>
              <a:rPr lang="en-US" dirty="0"/>
              <a:t> Speeds up daily operations and compliance with local data laws.</a:t>
            </a: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98FD0BD-F596-FEDE-F4E7-FC437AFF2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957997"/>
            <a:ext cx="12191999" cy="90000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512D58C3-1EE8-FCB0-75C7-BD7C22792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34D71365-CF61-BEB8-9047-D26C21CD5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11900" y="-1"/>
            <a:ext cx="0" cy="59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A505AE0-89E7-08BA-374F-8BEB95C5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>
                <a:spcAft>
                  <a:spcPts val="600"/>
                </a:spcAft>
              </a:pPr>
              <a:t>4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  <p:pic>
        <p:nvPicPr>
          <p:cNvPr id="4098" name="Picture 2" descr="164+ Thousand Global Regions Royalty-Free Images, Stock Photos &amp; Pictures |  Shutterstock">
            <a:extLst>
              <a:ext uri="{FF2B5EF4-FFF2-40B4-BE49-F238E27FC236}">
                <a16:creationId xmlns:a16="http://schemas.microsoft.com/office/drawing/2014/main" id="{7773D5A5-9CF2-E709-2DEF-5B9C9147C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278" y="1886552"/>
            <a:ext cx="5732128" cy="407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87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D0214-1EC1-FC0A-27DD-C0F86A85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7" name="Straight Connector 5126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CFF384FA-A314-44A7-A8D0-A5B072C0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2F207D4E-9AD2-486E-974F-2A1243D8B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119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00664-FC46-9C39-C9DC-0A7B1BC9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6" y="324001"/>
            <a:ext cx="4525960" cy="6092674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en-US" b="1" dirty="0"/>
              <a:t>DDMS &amp; Predictive Analytics: Smarter Decisions</a:t>
            </a:r>
            <a:endParaRPr lang="en-US" dirty="0"/>
          </a:p>
        </p:txBody>
      </p:sp>
      <p:pic>
        <p:nvPicPr>
          <p:cNvPr id="5122" name="Picture 2" descr="Stock Crystal Ball Market Stock Illustrations – 134 Stock Crystal Ball  Market Stock Illustrations, Vectors &amp; Clipart - Dreamstime">
            <a:extLst>
              <a:ext uri="{FF2B5EF4-FFF2-40B4-BE49-F238E27FC236}">
                <a16:creationId xmlns:a16="http://schemas.microsoft.com/office/drawing/2014/main" id="{1D6D13B6-5729-51FE-BCC0-32B921EC4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2" r="-1" b="-1"/>
          <a:stretch>
            <a:fillRect/>
          </a:stretch>
        </p:blipFill>
        <p:spPr bwMode="auto">
          <a:xfrm>
            <a:off x="6312734" y="10"/>
            <a:ext cx="5879267" cy="3218390"/>
          </a:xfrm>
          <a:custGeom>
            <a:avLst/>
            <a:gdLst/>
            <a:ahLst/>
            <a:cxnLst/>
            <a:rect l="l" t="t" r="r" b="b"/>
            <a:pathLst>
              <a:path w="5879267" h="3218400">
                <a:moveTo>
                  <a:pt x="0" y="0"/>
                </a:moveTo>
                <a:lnTo>
                  <a:pt x="5879267" y="0"/>
                </a:lnTo>
                <a:lnTo>
                  <a:pt x="5879267" y="3218400"/>
                </a:lnTo>
                <a:lnTo>
                  <a:pt x="0" y="32184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27A329-9E63-4CBC-0224-C1799FA4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958000"/>
            <a:ext cx="900000" cy="900000"/>
          </a:xfrm>
        </p:spPr>
        <p:txBody>
          <a:bodyPr lIns="0" tIns="0" rIns="0" bIns="0" anchor="ctr" anchorCtr="0">
            <a:normAutofit/>
          </a:bodyPr>
          <a:lstStyle/>
          <a:p>
            <a:pPr algn="ctr"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 algn="ctr">
                <a:spcAft>
                  <a:spcPts val="600"/>
                </a:spcAft>
              </a:pPr>
              <a:t>5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  <p:cxnSp>
        <p:nvCxnSpPr>
          <p:cNvPr id="5133" name="Straight Connector 5132">
            <a:extLst>
              <a:ext uri="{FF2B5EF4-FFF2-40B4-BE49-F238E27FC236}">
                <a16:creationId xmlns:a16="http://schemas.microsoft.com/office/drawing/2014/main" id="{C803B7D9-A8DC-4B4E-B297-FDE3A362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>
            <a:extLst>
              <a:ext uri="{FF2B5EF4-FFF2-40B4-BE49-F238E27FC236}">
                <a16:creationId xmlns:a16="http://schemas.microsoft.com/office/drawing/2014/main" id="{93076B2E-01EF-48D3-8414-1FB359F8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11901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2CF2-39D8-7E70-76C7-DFC3F77A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214" y="3644900"/>
            <a:ext cx="4968874" cy="27717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A DDMS powers better forecasts: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 b="1">
                <a:solidFill>
                  <a:schemeClr val="tx2"/>
                </a:solidFill>
              </a:rPr>
              <a:t>Local Predictions:</a:t>
            </a:r>
            <a:r>
              <a:rPr lang="en-US" sz="1400">
                <a:solidFill>
                  <a:schemeClr val="tx2"/>
                </a:solidFill>
              </a:rPr>
              <a:t> Analyze regional data faster to predict things like late payments for European clients specifically. This allows for targeted, proactive actions.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 b="1">
                <a:solidFill>
                  <a:schemeClr val="tx2"/>
                </a:solidFill>
              </a:rPr>
              <a:t>Global Insights (with care):</a:t>
            </a:r>
            <a:r>
              <a:rPr lang="en-US" sz="1400">
                <a:solidFill>
                  <a:schemeClr val="tx2"/>
                </a:solidFill>
              </a:rPr>
              <a:t> Combine data from all regions for overarching trends (e.g., global cash flow forecasts), though this requires careful data aggregation.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 b="1">
                <a:solidFill>
                  <a:schemeClr val="tx2"/>
                </a:solidFill>
              </a:rPr>
              <a:t>Ethical Consideration:</a:t>
            </a:r>
            <a:r>
              <a:rPr lang="en-US" sz="1400">
                <a:solidFill>
                  <a:schemeClr val="tx2"/>
                </a:solidFill>
              </a:rPr>
              <a:t> We must ensure privacy and legal compliance across all regions when using data for predictions.</a:t>
            </a: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8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B557D-A645-3CE7-925E-4C38628D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1" name="Straight Connector 6150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CFF384FA-A314-44A7-A8D0-A5B072C0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4EF099B5-BAEA-4A20-8488-A0A5F0C82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51167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9DD9C-143D-C511-C228-4A96519E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360001"/>
            <a:ext cx="2725737" cy="285480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en-US" sz="2400" b="1"/>
              <a:t>DDMS &amp; Transparency: Building Trust</a:t>
            </a:r>
            <a:endParaRPr lang="en-US" sz="2400"/>
          </a:p>
        </p:txBody>
      </p:sp>
      <p:pic>
        <p:nvPicPr>
          <p:cNvPr id="6146" name="Picture 2" descr="Page 15 | Two Overlapping Cogwheels Images - Free Download on Freepik">
            <a:extLst>
              <a:ext uri="{FF2B5EF4-FFF2-40B4-BE49-F238E27FC236}">
                <a16:creationId xmlns:a16="http://schemas.microsoft.com/office/drawing/2014/main" id="{8D97B87C-1902-87F8-E102-7A17233E5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3" r="1" b="7664"/>
          <a:stretch>
            <a:fillRect/>
          </a:stretch>
        </p:blipFill>
        <p:spPr bwMode="auto">
          <a:xfrm>
            <a:off x="899313" y="3639600"/>
            <a:ext cx="3612362" cy="3218400"/>
          </a:xfrm>
          <a:custGeom>
            <a:avLst/>
            <a:gdLst/>
            <a:ahLst/>
            <a:cxnLst/>
            <a:rect l="l" t="t" r="r" b="b"/>
            <a:pathLst>
              <a:path w="3612362" h="3218400">
                <a:moveTo>
                  <a:pt x="0" y="0"/>
                </a:moveTo>
                <a:lnTo>
                  <a:pt x="3612362" y="0"/>
                </a:lnTo>
                <a:lnTo>
                  <a:pt x="3612362" y="3218400"/>
                </a:lnTo>
                <a:lnTo>
                  <a:pt x="0" y="32184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7B3F61F-BA4B-5001-E236-2E66EAF9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958000"/>
            <a:ext cx="900000" cy="900000"/>
          </a:xfrm>
        </p:spPr>
        <p:txBody>
          <a:bodyPr lIns="0" tIns="0" rIns="0" bIns="0" anchor="ctr" anchorCtr="0">
            <a:normAutofit/>
          </a:bodyPr>
          <a:lstStyle/>
          <a:p>
            <a:pPr algn="ctr"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 algn="ctr">
                <a:spcAft>
                  <a:spcPts val="600"/>
                </a:spcAft>
              </a:pPr>
              <a:t>6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E319365C-02DA-4B2B-8177-5500163F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9" name="Straight Connector 6158">
            <a:extLst>
              <a:ext uri="{FF2B5EF4-FFF2-40B4-BE49-F238E27FC236}">
                <a16:creationId xmlns:a16="http://schemas.microsoft.com/office/drawing/2014/main" id="{3DA6B9F5-B493-48E9-9BCD-D4DDC22CE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8801" y="3639600"/>
            <a:ext cx="361274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3BCE-EB9B-8105-DE2B-48D1526CB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88" y="338400"/>
            <a:ext cx="6769100" cy="60638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Internal Transparency:</a:t>
            </a:r>
            <a:endParaRPr lang="en-US" sz="2500">
              <a:solidFill>
                <a:schemeClr val="tx2"/>
              </a:solidFill>
            </a:endParaRP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Faster Info:</a:t>
            </a:r>
            <a:r>
              <a:rPr lang="en-US" sz="2500">
                <a:solidFill>
                  <a:schemeClr val="tx2"/>
                </a:solidFill>
              </a:rPr>
              <a:t> Our teams quickly access their regional data, improving efficiency and client responses.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Unified View (with design):</a:t>
            </a:r>
            <a:r>
              <a:rPr lang="en-US" sz="2500">
                <a:solidFill>
                  <a:schemeClr val="tx2"/>
                </a:solidFill>
              </a:rPr>
              <a:t> Management can still get consolidated global reports.</a:t>
            </a: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External Transparency:</a:t>
            </a:r>
            <a:endParaRPr lang="en-US" sz="2500">
              <a:solidFill>
                <a:schemeClr val="tx2"/>
              </a:solidFill>
            </a:endParaRP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Faster Client Portals:</a:t>
            </a:r>
            <a:r>
              <a:rPr lang="en-US" sz="2500">
                <a:solidFill>
                  <a:schemeClr val="tx2"/>
                </a:solidFill>
              </a:rPr>
              <a:t> Clients get quicker access to their data from nearby servers.</a:t>
            </a: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2500" b="1">
                <a:solidFill>
                  <a:schemeClr val="tx2"/>
                </a:solidFill>
              </a:rPr>
              <a:t>Enhanced Security/Privacy:</a:t>
            </a:r>
            <a:r>
              <a:rPr lang="en-US" sz="2500">
                <a:solidFill>
                  <a:schemeClr val="tx2"/>
                </a:solidFill>
              </a:rPr>
              <a:t> Demonstrates commitment to local data regulations</a:t>
            </a:r>
          </a:p>
        </p:txBody>
      </p:sp>
    </p:spTree>
    <p:extLst>
      <p:ext uri="{BB962C8B-B14F-4D97-AF65-F5344CB8AC3E}">
        <p14:creationId xmlns:p14="http://schemas.microsoft.com/office/powerpoint/2010/main" val="131239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9" name="Straight Connector 8198">
            <a:extLst>
              <a:ext uri="{FF2B5EF4-FFF2-40B4-BE49-F238E27FC236}">
                <a16:creationId xmlns:a16="http://schemas.microsoft.com/office/drawing/2014/main" id="{36386491-6F13-4235-A32F-9F6D67F1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97A9643C-0F0B-4917-87F3-420FE2F6D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7EF83FF0-437E-4124-9C71-9368F8055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957"/>
            <a:ext cx="4367213" cy="180911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AA461-4ADC-4EC1-914D-6BE3CC449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4" y="441324"/>
            <a:ext cx="3457573" cy="615951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432F4-E8D6-41D1-842D-765009DF5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5" y="2246049"/>
            <a:ext cx="3457572" cy="3266357"/>
          </a:xfrm>
        </p:spPr>
        <p:txBody>
          <a:bodyPr vert="horz" lIns="0" tIns="0" rIns="0" bIns="0" rtlCol="0" anchorCtr="0">
            <a:normAutofit/>
          </a:bodyPr>
          <a:lstStyle/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A DDMS is a </a:t>
            </a:r>
            <a:r>
              <a:rPr lang="en-US" sz="1400" b="1">
                <a:solidFill>
                  <a:schemeClr val="tx2"/>
                </a:solidFill>
              </a:rPr>
              <a:t>strategic investment</a:t>
            </a:r>
            <a:r>
              <a:rPr lang="en-US" sz="1400">
                <a:solidFill>
                  <a:schemeClr val="tx2"/>
                </a:solidFill>
              </a:rPr>
              <a:t> to future-proof our global financial services.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It's crucial for </a:t>
            </a:r>
            <a:r>
              <a:rPr lang="en-US" sz="1400" b="1">
                <a:solidFill>
                  <a:schemeClr val="tx2"/>
                </a:solidFill>
              </a:rPr>
              <a:t>speed, resilience, and compliance.</a:t>
            </a:r>
            <a:endParaRPr lang="en-US" sz="1400">
              <a:solidFill>
                <a:schemeClr val="tx2"/>
              </a:solidFill>
            </a:endParaRP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It allows us to </a:t>
            </a:r>
            <a:r>
              <a:rPr lang="en-US" sz="1400" b="1">
                <a:solidFill>
                  <a:schemeClr val="tx2"/>
                </a:solidFill>
              </a:rPr>
              <a:t>better serve our international clients</a:t>
            </a:r>
            <a:r>
              <a:rPr lang="en-US" sz="1400">
                <a:solidFill>
                  <a:schemeClr val="tx2"/>
                </a:solidFill>
              </a:rPr>
              <a:t> and leverage data for </a:t>
            </a:r>
            <a:r>
              <a:rPr lang="en-US" sz="1400" b="1">
                <a:solidFill>
                  <a:schemeClr val="tx2"/>
                </a:solidFill>
              </a:rPr>
              <a:t>smarter decisions.</a:t>
            </a:r>
            <a:endParaRPr lang="en-US" sz="14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 b="1">
                <a:solidFill>
                  <a:schemeClr val="tx2"/>
                </a:solidFill>
              </a:rPr>
              <a:t>Next Steps:</a:t>
            </a:r>
            <a:endParaRPr lang="en-US" sz="1400">
              <a:solidFill>
                <a:schemeClr val="tx2"/>
              </a:solidFill>
            </a:endParaRP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Detailed technical architecture planning.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Phased implementation strategy.</a:t>
            </a:r>
          </a:p>
          <a:p>
            <a:pPr lvl="0">
              <a:lnSpc>
                <a:spcPct val="110000"/>
              </a:lnSpc>
              <a:buFont typeface="Wingdings 2" panose="05020102010507070707" pitchFamily="18" charset="2"/>
              <a:buChar char="à"/>
            </a:pPr>
            <a:r>
              <a:rPr lang="en-US" sz="1400">
                <a:solidFill>
                  <a:schemeClr val="tx2"/>
                </a:solidFill>
              </a:rPr>
              <a:t>Pilot project selection and execution.</a:t>
            </a:r>
          </a:p>
        </p:txBody>
      </p:sp>
      <p:pic>
        <p:nvPicPr>
          <p:cNvPr id="8194" name="Picture 2" descr="The Pathway to Now | camtaylor.net">
            <a:extLst>
              <a:ext uri="{FF2B5EF4-FFF2-40B4-BE49-F238E27FC236}">
                <a16:creationId xmlns:a16="http://schemas.microsoft.com/office/drawing/2014/main" id="{0495ED32-C445-4900-CA1D-141AD80581E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" r="750"/>
          <a:stretch>
            <a:fillRect/>
          </a:stretch>
        </p:blipFill>
        <p:spPr bwMode="auto">
          <a:xfrm>
            <a:off x="4367212" y="6"/>
            <a:ext cx="7824788" cy="5957994"/>
          </a:xfrm>
          <a:custGeom>
            <a:avLst/>
            <a:gdLst/>
            <a:ahLst/>
            <a:cxnLst/>
            <a:rect l="l" t="t" r="r" b="b"/>
            <a:pathLst>
              <a:path w="7824788" h="5957994">
                <a:moveTo>
                  <a:pt x="0" y="0"/>
                </a:moveTo>
                <a:lnTo>
                  <a:pt x="7824788" y="0"/>
                </a:lnTo>
                <a:lnTo>
                  <a:pt x="7824788" y="5957994"/>
                </a:lnTo>
                <a:lnTo>
                  <a:pt x="0" y="595799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05" name="Straight Connector 8204">
            <a:extLst>
              <a:ext uri="{FF2B5EF4-FFF2-40B4-BE49-F238E27FC236}">
                <a16:creationId xmlns:a16="http://schemas.microsoft.com/office/drawing/2014/main" id="{460F136F-57CE-4B28-BF9B-C0FF6CF99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66021" y="-1"/>
            <a:ext cx="0" cy="59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3F48E4C5-8C10-4F16-A8A9-2D0CA5FF4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957997"/>
            <a:ext cx="12191999" cy="90000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09" name="Straight Connector 8208">
            <a:extLst>
              <a:ext uri="{FF2B5EF4-FFF2-40B4-BE49-F238E27FC236}">
                <a16:creationId xmlns:a16="http://schemas.microsoft.com/office/drawing/2014/main" id="{2DE1B176-45A8-43D4-BC6C-0F26FEC02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0E0E45-AB19-437D-9B70-F67E8B4E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63F9D384-533B-4C4E-B660-F861AA07D173}" type="slidenum">
              <a:rPr lang="en-US">
                <a:ln w="6350">
                  <a:solidFill>
                    <a:schemeClr val="bg2">
                      <a:alpha val="80000"/>
                    </a:schemeClr>
                  </a:solidFill>
                </a:ln>
                <a:noFill/>
              </a:rPr>
              <a:pPr>
                <a:spcAft>
                  <a:spcPts val="600"/>
                </a:spcAft>
              </a:pPr>
              <a:t>7</a:t>
            </a:fld>
            <a:endParaRPr lang="en-US">
              <a:ln w="6350">
                <a:solidFill>
                  <a:schemeClr val="bg2">
                    <a:alpha val="80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6709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ED09-B63B-40C0-96EE-AC8FEDC3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"/>
            <a:ext cx="4363831" cy="204214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45440-1E61-41D7-95AC-D5CA72BE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5" y="2246049"/>
            <a:ext cx="3457572" cy="3266357"/>
          </a:xfrm>
        </p:spPr>
        <p:txBody>
          <a:bodyPr/>
          <a:lstStyle/>
          <a:p>
            <a:r>
              <a:rPr lang="en-US" sz="1600" dirty="0"/>
              <a:t>Gordon Elliott Williams</a:t>
            </a:r>
          </a:p>
          <a:p>
            <a:r>
              <a:rPr lang="en-US" sz="1600" dirty="0">
                <a:hlinkClick r:id="rId2"/>
              </a:rPr>
              <a:t>Gordon.Williams@student.post.edu</a:t>
            </a:r>
            <a:endParaRPr lang="en-US" sz="1600" dirty="0"/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1DD14-4F86-4096-B2F0-9F372E1D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199" y="5957999"/>
            <a:ext cx="1476375" cy="900000"/>
          </a:xfrm>
        </p:spPr>
        <p:txBody>
          <a:bodyPr/>
          <a:lstStyle/>
          <a:p>
            <a:fld id="{63F9D384-533B-4C4E-B660-F861AA07D1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218" name="Picture 2" descr="No photo description available.">
            <a:extLst>
              <a:ext uri="{FF2B5EF4-FFF2-40B4-BE49-F238E27FC236}">
                <a16:creationId xmlns:a16="http://schemas.microsoft.com/office/drawing/2014/main" id="{5A908834-EB27-D725-30F1-5391AC4B3B0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0" b="2143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81007"/>
      </p:ext>
    </p:extLst>
  </p:cSld>
  <p:clrMapOvr>
    <a:masterClrMapping/>
  </p:clrMapOvr>
</p:sld>
</file>

<file path=ppt/theme/theme1.xml><?xml version="1.0" encoding="utf-8"?>
<a:theme xmlns:a="http://schemas.openxmlformats.org/drawingml/2006/main" name="LinesVTI">
  <a:themeElements>
    <a:clrScheme name="Lines">
      <a:dk1>
        <a:sysClr val="windowText" lastClr="000000"/>
      </a:dk1>
      <a:lt1>
        <a:sysClr val="window" lastClr="FFFFFF"/>
      </a:lt1>
      <a:dk2>
        <a:srgbClr val="592F34"/>
      </a:dk2>
      <a:lt2>
        <a:srgbClr val="F8EFE3"/>
      </a:lt2>
      <a:accent1>
        <a:srgbClr val="5B8E96"/>
      </a:accent1>
      <a:accent2>
        <a:srgbClr val="B09BA2"/>
      </a:accent2>
      <a:accent3>
        <a:srgbClr val="E3835D"/>
      </a:accent3>
      <a:accent4>
        <a:srgbClr val="7B99DB"/>
      </a:accent4>
      <a:accent5>
        <a:srgbClr val="D09245"/>
      </a:accent5>
      <a:accent6>
        <a:srgbClr val="96A82C"/>
      </a:accent6>
      <a:hlink>
        <a:srgbClr val="5B8E96"/>
      </a:hlink>
      <a:folHlink>
        <a:srgbClr val="B5826E"/>
      </a:folHlink>
    </a:clrScheme>
    <a:fontScheme name="NH Grotesk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nesVTI" id="{6E3869FE-86F4-49DA-A8B9-3320C89167F7}" vid="{3A76BC48-4881-4AE8-821D-8B9CC9A08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95DBB1-7409-45FB-83E1-90451666BE4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0931085-857D-42EE-BB55-098E5214A0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08400B-C437-4204-A453-9DEFE7A3BD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Lines design</Template>
  <TotalTime>4250</TotalTime>
  <Words>476</Words>
  <Application>Microsoft Office PowerPoint</Application>
  <PresentationFormat>Widescreen</PresentationFormat>
  <Paragraphs>53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Neue Haas Grotesk Text Pro</vt:lpstr>
      <vt:lpstr>Wingdings 2</vt:lpstr>
      <vt:lpstr>LinesVTI</vt:lpstr>
      <vt:lpstr>Enhancing Global Financial Operations with a Distributed Database Management System</vt:lpstr>
      <vt:lpstr>The Challenge: Why A New Database?</vt:lpstr>
      <vt:lpstr>Solution: Distributed Database Management System </vt:lpstr>
      <vt:lpstr>DDMS &amp; Data Fragmentation: Faster Access</vt:lpstr>
      <vt:lpstr>DDMS &amp; Predictive Analytics: Smarter Decisions</vt:lpstr>
      <vt:lpstr>DDMS &amp; Transparency: Building Trust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Williams</dc:creator>
  <cp:lastModifiedBy>Gordon Williams</cp:lastModifiedBy>
  <cp:revision>2</cp:revision>
  <dcterms:created xsi:type="dcterms:W3CDTF">2025-06-18T01:25:16Z</dcterms:created>
  <dcterms:modified xsi:type="dcterms:W3CDTF">2025-06-21T00:16:15Z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