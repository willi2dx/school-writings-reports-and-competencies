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99"/>
    <a:srgbClr val="E7BB01"/>
    <a:srgbClr val="FFF6E7"/>
    <a:srgbClr val="FFEDCB"/>
    <a:srgbClr val="FFCF00"/>
    <a:srgbClr val="FF0000"/>
    <a:srgbClr val="745D00"/>
    <a:srgbClr val="FFF5CC"/>
    <a:srgbClr val="0070C0"/>
    <a:srgbClr val="0062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39" autoAdjust="0"/>
    <p:restoredTop sz="94687" autoAdjust="0"/>
  </p:normalViewPr>
  <p:slideViewPr>
    <p:cSldViewPr snapToGrid="0">
      <p:cViewPr varScale="1">
        <p:scale>
          <a:sx n="87" d="100"/>
          <a:sy n="87" d="100"/>
        </p:scale>
        <p:origin x="84" y="23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ctrTitle"/>
          </p:nvPr>
        </p:nvSpPr>
        <p:spPr>
          <a:xfrm>
            <a:off x="838200" y="2125663"/>
            <a:ext cx="10515600" cy="914400"/>
          </a:xfrm>
        </p:spPr>
        <p:txBody>
          <a:bodyPr anchor="ctr">
            <a:noAutofit/>
          </a:bodyPr>
          <a:lstStyle>
            <a:lvl1pPr algn="ctr">
              <a:defRPr sz="3400">
                <a:solidFill>
                  <a:schemeClr val="bg1"/>
                </a:solidFill>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4724400" y="3589338"/>
            <a:ext cx="2743200" cy="731520"/>
          </a:xfrm>
        </p:spPr>
        <p:txBody>
          <a:bodyPr>
            <a:noAutofit/>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date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9"/>
          <p:cNvSpPr>
            <a:spLocks noGrp="1"/>
          </p:cNvSpPr>
          <p:nvPr>
            <p:ph type="body" sz="quarter" idx="10" hasCustomPrompt="1"/>
          </p:nvPr>
        </p:nvSpPr>
        <p:spPr>
          <a:xfrm>
            <a:off x="2888443" y="6301527"/>
            <a:ext cx="8805672" cy="457200"/>
          </a:xfrm>
        </p:spPr>
        <p:txBody>
          <a:bodyPr anchor="b">
            <a:noAutofit/>
          </a:bodyPr>
          <a:lstStyle>
            <a:lvl1pPr marL="0" indent="0">
              <a:buNone/>
              <a:defRPr sz="1400">
                <a:solidFill>
                  <a:schemeClr val="bg1"/>
                </a:solidFill>
              </a:defRPr>
            </a:lvl1pPr>
          </a:lstStyle>
          <a:p>
            <a:pPr lvl="0"/>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527062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ctrTitle"/>
          </p:nvPr>
        </p:nvSpPr>
        <p:spPr>
          <a:xfrm>
            <a:off x="838200" y="3310516"/>
            <a:ext cx="10515600" cy="914400"/>
          </a:xfrm>
        </p:spPr>
        <p:txBody>
          <a:bodyPr anchor="ctr">
            <a:noAutofit/>
          </a:bodyPr>
          <a:lstStyle>
            <a:lvl1pPr algn="ctr">
              <a:defRPr sz="3400">
                <a:solidFill>
                  <a:schemeClr val="bg1"/>
                </a:solidFill>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1066800" y="2249929"/>
            <a:ext cx="10058400" cy="731520"/>
          </a:xfrm>
        </p:spPr>
        <p:txBody>
          <a:bodyPr anchor="ctr">
            <a:noAutofit/>
          </a:bodyPr>
          <a:lstStyle>
            <a:lvl1pPr marL="0" indent="0" algn="ctr">
              <a:buNone/>
              <a:defRPr sz="5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Unit 1</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9"/>
          <p:cNvSpPr>
            <a:spLocks noGrp="1"/>
          </p:cNvSpPr>
          <p:nvPr>
            <p:ph type="body" sz="quarter" idx="10" hasCustomPrompt="1"/>
          </p:nvPr>
        </p:nvSpPr>
        <p:spPr>
          <a:xfrm>
            <a:off x="2888443" y="6301527"/>
            <a:ext cx="8805672" cy="457200"/>
          </a:xfrm>
        </p:spPr>
        <p:txBody>
          <a:bodyPr anchor="b">
            <a:normAutofit/>
          </a:bodyPr>
          <a:lstStyle>
            <a:lvl1pPr marL="0" indent="0">
              <a:buNone/>
              <a:defRPr sz="1400">
                <a:solidFill>
                  <a:schemeClr val="bg1"/>
                </a:solidFill>
              </a:defRPr>
            </a:lvl1pPr>
          </a:lstStyle>
          <a:p>
            <a:pPr lvl="0"/>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67583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ctrTitle"/>
          </p:nvPr>
        </p:nvSpPr>
        <p:spPr>
          <a:xfrm>
            <a:off x="4043966" y="3671128"/>
            <a:ext cx="7309834" cy="914400"/>
          </a:xfrm>
        </p:spPr>
        <p:txBody>
          <a:bodyPr anchor="ctr">
            <a:noAutofit/>
          </a:bodyPr>
          <a:lstStyle>
            <a:lvl1pPr algn="l">
              <a:defRPr sz="3400">
                <a:solidFill>
                  <a:schemeClr val="bg1"/>
                </a:solidFill>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4043966" y="2597660"/>
            <a:ext cx="3515933" cy="731520"/>
          </a:xfrm>
        </p:spPr>
        <p:txBody>
          <a:bodyPr anchor="ctr">
            <a:noAutofit/>
          </a:bodyPr>
          <a:lstStyle>
            <a:lvl1pPr marL="0" indent="0" algn="l">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9"/>
          <p:cNvSpPr>
            <a:spLocks noGrp="1"/>
          </p:cNvSpPr>
          <p:nvPr>
            <p:ph type="body" sz="quarter" idx="10" hasCustomPrompt="1"/>
          </p:nvPr>
        </p:nvSpPr>
        <p:spPr>
          <a:xfrm>
            <a:off x="2888443" y="6301527"/>
            <a:ext cx="8805672" cy="457200"/>
          </a:xfrm>
        </p:spPr>
        <p:txBody>
          <a:bodyPr anchor="b">
            <a:noAutofit/>
          </a:bodyPr>
          <a:lstStyle>
            <a:lvl1pPr marL="0" indent="0">
              <a:buNone/>
              <a:defRPr sz="1400">
                <a:solidFill>
                  <a:schemeClr val="bg1"/>
                </a:solidFill>
              </a:defRPr>
            </a:lvl1pPr>
          </a:lstStyle>
          <a:p>
            <a:pPr lvl="0"/>
            <a:r>
              <a:rPr lang="en-US" dirty="0"/>
              <a:t>[Author Name], [Book Title], [#] Edition. © [Insert Year] Cengage. All Rights Reserved. May not be scanned, copied or duplicated, or posted to a publicly accessible website, in whole or in part.</a:t>
            </a:r>
          </a:p>
        </p:txBody>
      </p:sp>
      <p:sp>
        <p:nvSpPr>
          <p:cNvPr id="5" name="Content Placeholder 4"/>
          <p:cNvSpPr>
            <a:spLocks noGrp="1"/>
          </p:cNvSpPr>
          <p:nvPr>
            <p:ph sz="quarter" idx="11" hasCustomPrompt="1"/>
          </p:nvPr>
        </p:nvSpPr>
        <p:spPr>
          <a:xfrm>
            <a:off x="245144" y="231774"/>
            <a:ext cx="3346704" cy="4315968"/>
          </a:xfrm>
        </p:spPr>
        <p:txBody>
          <a:bodyPr>
            <a:noAutofit/>
          </a:bodyPr>
          <a:lstStyle>
            <a:lvl1pPr marL="0" indent="0">
              <a:buNone/>
              <a:defRPr/>
            </a:lvl1pPr>
          </a:lstStyle>
          <a:p>
            <a:pPr lvl="0"/>
            <a:r>
              <a:rPr lang="en-US" dirty="0"/>
              <a:t>Add picture here</a:t>
            </a:r>
          </a:p>
        </p:txBody>
      </p:sp>
    </p:spTree>
    <p:extLst>
      <p:ext uri="{BB962C8B-B14F-4D97-AF65-F5344CB8AC3E}">
        <p14:creationId xmlns:p14="http://schemas.microsoft.com/office/powerpoint/2010/main" val="2657070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85151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10515600" cy="228600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idx="10"/>
          </p:nvPr>
        </p:nvSpPr>
        <p:spPr>
          <a:xfrm>
            <a:off x="838200" y="3806822"/>
            <a:ext cx="10515600" cy="228600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47973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10515600" cy="109728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idx="10"/>
          </p:nvPr>
        </p:nvSpPr>
        <p:spPr>
          <a:xfrm>
            <a:off x="838200" y="2543597"/>
            <a:ext cx="10515600" cy="109728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p:nvPr>
        </p:nvSpPr>
        <p:spPr>
          <a:xfrm>
            <a:off x="838200" y="3769569"/>
            <a:ext cx="10515600" cy="109728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idx="12"/>
          </p:nvPr>
        </p:nvSpPr>
        <p:spPr>
          <a:xfrm>
            <a:off x="838200" y="4995542"/>
            <a:ext cx="10515600" cy="109728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6256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5029200" cy="1097280"/>
          </a:xfrm>
        </p:spPr>
        <p:txBody>
          <a:bodyPr>
            <a:noAutofit/>
          </a:bodyPr>
          <a:lstStyle>
            <a:lvl1pPr marL="365760" indent="-365760">
              <a:defRPr/>
            </a:lvl1pPr>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idx="10"/>
          </p:nvPr>
        </p:nvSpPr>
        <p:spPr>
          <a:xfrm>
            <a:off x="6324600" y="1317625"/>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p:nvPr>
        </p:nvSpPr>
        <p:spPr>
          <a:xfrm>
            <a:off x="838200" y="2543597"/>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idx="12"/>
          </p:nvPr>
        </p:nvSpPr>
        <p:spPr>
          <a:xfrm>
            <a:off x="6324600" y="2543597"/>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3"/>
          </p:nvPr>
        </p:nvSpPr>
        <p:spPr>
          <a:xfrm>
            <a:off x="838200" y="3769569"/>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p:cNvSpPr>
            <a:spLocks noGrp="1"/>
          </p:cNvSpPr>
          <p:nvPr>
            <p:ph idx="14"/>
          </p:nvPr>
        </p:nvSpPr>
        <p:spPr>
          <a:xfrm>
            <a:off x="6324600" y="3769569"/>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p:cNvSpPr>
            <a:spLocks noGrp="1"/>
          </p:cNvSpPr>
          <p:nvPr>
            <p:ph idx="15"/>
          </p:nvPr>
        </p:nvSpPr>
        <p:spPr>
          <a:xfrm>
            <a:off x="838200" y="4995542"/>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6"/>
          </p:nvPr>
        </p:nvSpPr>
        <p:spPr>
          <a:xfrm>
            <a:off x="6324600" y="4995542"/>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09272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5" name="Content Placeholder 2"/>
          <p:cNvSpPr>
            <a:spLocks noGrp="1"/>
          </p:cNvSpPr>
          <p:nvPr>
            <p:ph idx="10"/>
          </p:nvPr>
        </p:nvSpPr>
        <p:spPr>
          <a:xfrm>
            <a:off x="838200" y="2126360"/>
            <a:ext cx="10515600" cy="731520"/>
          </a:xfrm>
        </p:spPr>
        <p:txBody>
          <a:bodyPr>
            <a:noAutofit/>
          </a:bodyPr>
          <a:lstStyle>
            <a:lvl1pPr marL="228600" indent="-228600">
              <a:defRPr lang="en-US" sz="28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6" name="Content Placeholder 2"/>
          <p:cNvSpPr>
            <a:spLocks noGrp="1"/>
          </p:cNvSpPr>
          <p:nvPr>
            <p:ph idx="11"/>
          </p:nvPr>
        </p:nvSpPr>
        <p:spPr>
          <a:xfrm>
            <a:off x="838200" y="2935095"/>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7" name="Content Placeholder 2"/>
          <p:cNvSpPr>
            <a:spLocks noGrp="1"/>
          </p:cNvSpPr>
          <p:nvPr>
            <p:ph idx="12"/>
          </p:nvPr>
        </p:nvSpPr>
        <p:spPr>
          <a:xfrm>
            <a:off x="838200" y="3743830"/>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9" name="Content Placeholder 2"/>
          <p:cNvSpPr>
            <a:spLocks noGrp="1"/>
          </p:cNvSpPr>
          <p:nvPr>
            <p:ph idx="13"/>
          </p:nvPr>
        </p:nvSpPr>
        <p:spPr>
          <a:xfrm>
            <a:off x="838200" y="4552565"/>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10" name="Content Placeholder 2"/>
          <p:cNvSpPr>
            <a:spLocks noGrp="1"/>
          </p:cNvSpPr>
          <p:nvPr>
            <p:ph idx="14"/>
          </p:nvPr>
        </p:nvSpPr>
        <p:spPr>
          <a:xfrm>
            <a:off x="838200" y="5361302"/>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11"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4190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5029200" cy="4754880"/>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idx="10"/>
          </p:nvPr>
        </p:nvSpPr>
        <p:spPr>
          <a:xfrm>
            <a:off x="6324600" y="1317625"/>
            <a:ext cx="5029200" cy="4754880"/>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50736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914400"/>
          </a:xfrm>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5029200" cy="548640"/>
          </a:xfrm>
        </p:spPr>
        <p:txBody>
          <a:bodyPr>
            <a:noAutofit/>
          </a:bodyPr>
          <a:lstStyle>
            <a:lvl1pPr marL="0" indent="0" algn="ctr">
              <a:buNone/>
              <a:defRPr sz="2800" b="1">
                <a:solidFill>
                  <a:srgbClr val="006298"/>
                </a:solidFill>
              </a:defRPr>
            </a:lvl1pPr>
          </a:lstStyle>
          <a:p>
            <a:pPr lvl="0"/>
            <a:r>
              <a:rPr lang="en-US"/>
              <a:t>Edit Master text styles</a:t>
            </a:r>
          </a:p>
        </p:txBody>
      </p:sp>
      <p:sp>
        <p:nvSpPr>
          <p:cNvPr id="5" name="Content Placeholder 2"/>
          <p:cNvSpPr>
            <a:spLocks noGrp="1"/>
          </p:cNvSpPr>
          <p:nvPr>
            <p:ph idx="10"/>
          </p:nvPr>
        </p:nvSpPr>
        <p:spPr>
          <a:xfrm>
            <a:off x="838200" y="2017486"/>
            <a:ext cx="5029200" cy="4055019"/>
          </a:xfrm>
        </p:spPr>
        <p:txBody>
          <a:bodyPr>
            <a:no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p:nvPr>
        </p:nvSpPr>
        <p:spPr>
          <a:xfrm>
            <a:off x="6324600" y="1317625"/>
            <a:ext cx="5029200" cy="548640"/>
          </a:xfrm>
        </p:spPr>
        <p:txBody>
          <a:bodyPr>
            <a:noAutofit/>
          </a:bodyPr>
          <a:lstStyle>
            <a:lvl1pPr marL="0" indent="0" algn="ctr">
              <a:buNone/>
              <a:defRPr sz="2800" b="1">
                <a:solidFill>
                  <a:srgbClr val="006298"/>
                </a:solidFill>
              </a:defRPr>
            </a:lvl1pPr>
            <a:lvl2pPr>
              <a:defRPr sz="2400"/>
            </a:lvl2pPr>
            <a:lvl3pPr>
              <a:defRPr sz="2000"/>
            </a:lvl3pPr>
            <a:lvl4pPr>
              <a:defRPr sz="1800"/>
            </a:lvl4pPr>
            <a:lvl5pPr>
              <a:defRPr sz="1800"/>
            </a:lvl5pPr>
          </a:lstStyle>
          <a:p>
            <a:pPr lvl="0"/>
            <a:r>
              <a:rPr lang="en-US"/>
              <a:t>Edit Master text styles</a:t>
            </a:r>
          </a:p>
        </p:txBody>
      </p:sp>
      <p:sp>
        <p:nvSpPr>
          <p:cNvPr id="7" name="Content Placeholder 2"/>
          <p:cNvSpPr>
            <a:spLocks noGrp="1"/>
          </p:cNvSpPr>
          <p:nvPr>
            <p:ph idx="12"/>
          </p:nvPr>
        </p:nvSpPr>
        <p:spPr>
          <a:xfrm>
            <a:off x="6324600" y="2017486"/>
            <a:ext cx="5029200" cy="4055019"/>
          </a:xfrm>
        </p:spPr>
        <p:txBody>
          <a:bodyPr>
            <a:no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98976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914400"/>
          </a:xfrm>
        </p:spPr>
        <p:txBody>
          <a:bodyPr>
            <a:noAutofit/>
          </a:bodyPr>
          <a:lstStyle/>
          <a:p>
            <a:r>
              <a:rPr lang="en-US"/>
              <a:t>Click to edit Master title style</a:t>
            </a:r>
            <a:endParaRPr lang="en-US" dirty="0"/>
          </a:p>
        </p:txBody>
      </p:sp>
      <p:sp>
        <p:nvSpPr>
          <p:cNvPr id="3" name="Content Placeholder 2"/>
          <p:cNvSpPr>
            <a:spLocks noGrp="1"/>
          </p:cNvSpPr>
          <p:nvPr>
            <p:ph idx="1" hasCustomPrompt="1"/>
          </p:nvPr>
        </p:nvSpPr>
        <p:spPr>
          <a:xfrm>
            <a:off x="838200" y="1317625"/>
            <a:ext cx="10515600" cy="548640"/>
          </a:xfrm>
        </p:spPr>
        <p:txBody>
          <a:bodyPr>
            <a:noAutofit/>
          </a:bodyPr>
          <a:lstStyle>
            <a:lvl1pPr marL="0" indent="0" algn="l">
              <a:buNone/>
              <a:defRPr sz="2800" b="1">
                <a:solidFill>
                  <a:srgbClr val="006298"/>
                </a:solidFill>
              </a:defRPr>
            </a:lvl1pPr>
          </a:lstStyle>
          <a:p>
            <a:pPr lvl="0"/>
            <a:r>
              <a:rPr lang="en-US" dirty="0"/>
              <a:t>Section Header</a:t>
            </a:r>
          </a:p>
        </p:txBody>
      </p:sp>
      <p:sp>
        <p:nvSpPr>
          <p:cNvPr id="5" name="Content Placeholder 2"/>
          <p:cNvSpPr>
            <a:spLocks noGrp="1"/>
          </p:cNvSpPr>
          <p:nvPr>
            <p:ph idx="10"/>
          </p:nvPr>
        </p:nvSpPr>
        <p:spPr>
          <a:xfrm>
            <a:off x="838200" y="1988185"/>
            <a:ext cx="10515600" cy="1554480"/>
          </a:xfrm>
        </p:spPr>
        <p:txBody>
          <a:bodyPr>
            <a:no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hasCustomPrompt="1"/>
          </p:nvPr>
        </p:nvSpPr>
        <p:spPr>
          <a:xfrm>
            <a:off x="838200" y="3872137"/>
            <a:ext cx="10515600" cy="548640"/>
          </a:xfrm>
        </p:spPr>
        <p:txBody>
          <a:bodyPr>
            <a:noAutofit/>
          </a:bodyPr>
          <a:lstStyle>
            <a:lvl1pPr marL="0" indent="0" algn="l">
              <a:buNone/>
              <a:defRPr sz="2800" b="1">
                <a:solidFill>
                  <a:srgbClr val="006298"/>
                </a:solidFill>
              </a:defRPr>
            </a:lvl1pPr>
            <a:lvl2pPr>
              <a:defRPr sz="2400"/>
            </a:lvl2pPr>
            <a:lvl3pPr>
              <a:defRPr sz="2000"/>
            </a:lvl3pPr>
            <a:lvl4pPr>
              <a:defRPr sz="1800"/>
            </a:lvl4pPr>
            <a:lvl5pPr>
              <a:defRPr sz="1800"/>
            </a:lvl5pPr>
          </a:lstStyle>
          <a:p>
            <a:pPr lvl="0"/>
            <a:r>
              <a:rPr lang="en-US" dirty="0"/>
              <a:t>Section Header</a:t>
            </a:r>
          </a:p>
        </p:txBody>
      </p:sp>
      <p:sp>
        <p:nvSpPr>
          <p:cNvPr id="7" name="Content Placeholder 2"/>
          <p:cNvSpPr>
            <a:spLocks noGrp="1"/>
          </p:cNvSpPr>
          <p:nvPr>
            <p:ph idx="12"/>
          </p:nvPr>
        </p:nvSpPr>
        <p:spPr>
          <a:xfrm>
            <a:off x="838200" y="4518025"/>
            <a:ext cx="10515600" cy="1554480"/>
          </a:xfrm>
        </p:spPr>
        <p:txBody>
          <a:bodyPr>
            <a:no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834361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914400"/>
          </a:xfrm>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3300984" cy="548640"/>
          </a:xfrm>
        </p:spPr>
        <p:txBody>
          <a:bodyPr>
            <a:noAutofit/>
          </a:bodyPr>
          <a:lstStyle>
            <a:lvl1pPr marL="0" indent="0" algn="ctr">
              <a:buNone/>
              <a:defRPr sz="2000" b="1">
                <a:solidFill>
                  <a:srgbClr val="006298"/>
                </a:solidFill>
              </a:defRPr>
            </a:lvl1pPr>
          </a:lstStyle>
          <a:p>
            <a:pPr lvl="0"/>
            <a:r>
              <a:rPr lang="en-US"/>
              <a:t>Edit Master text styles</a:t>
            </a:r>
          </a:p>
        </p:txBody>
      </p:sp>
      <p:sp>
        <p:nvSpPr>
          <p:cNvPr id="5" name="Content Placeholder 2"/>
          <p:cNvSpPr>
            <a:spLocks noGrp="1"/>
          </p:cNvSpPr>
          <p:nvPr>
            <p:ph idx="10"/>
          </p:nvPr>
        </p:nvSpPr>
        <p:spPr>
          <a:xfrm>
            <a:off x="838200" y="2017486"/>
            <a:ext cx="3300984" cy="4055019"/>
          </a:xfrm>
        </p:spPr>
        <p:txBody>
          <a:bodyPr>
            <a:no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p:nvPr>
        </p:nvSpPr>
        <p:spPr>
          <a:xfrm>
            <a:off x="4445508" y="1317625"/>
            <a:ext cx="3300984" cy="548640"/>
          </a:xfrm>
        </p:spPr>
        <p:txBody>
          <a:bodyPr>
            <a:noAutofit/>
          </a:bodyPr>
          <a:lstStyle>
            <a:lvl1pPr marL="0" indent="0" algn="ctr">
              <a:buNone/>
              <a:defRPr sz="2000" b="1">
                <a:solidFill>
                  <a:srgbClr val="006298"/>
                </a:solidFill>
              </a:defRPr>
            </a:lvl1pPr>
            <a:lvl2pPr>
              <a:defRPr sz="2400"/>
            </a:lvl2pPr>
            <a:lvl3pPr>
              <a:defRPr sz="2000"/>
            </a:lvl3pPr>
            <a:lvl4pPr>
              <a:defRPr sz="1800"/>
            </a:lvl4pPr>
            <a:lvl5pPr>
              <a:defRPr sz="1800"/>
            </a:lvl5pPr>
          </a:lstStyle>
          <a:p>
            <a:pPr lvl="0"/>
            <a:r>
              <a:rPr lang="en-US"/>
              <a:t>Edit Master text styles</a:t>
            </a:r>
          </a:p>
        </p:txBody>
      </p:sp>
      <p:sp>
        <p:nvSpPr>
          <p:cNvPr id="7" name="Content Placeholder 2"/>
          <p:cNvSpPr>
            <a:spLocks noGrp="1"/>
          </p:cNvSpPr>
          <p:nvPr>
            <p:ph idx="12"/>
          </p:nvPr>
        </p:nvSpPr>
        <p:spPr>
          <a:xfrm>
            <a:off x="4445508" y="2017486"/>
            <a:ext cx="3300984" cy="4055019"/>
          </a:xfrm>
        </p:spPr>
        <p:txBody>
          <a:bodyPr>
            <a:no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3"/>
          </p:nvPr>
        </p:nvSpPr>
        <p:spPr>
          <a:xfrm>
            <a:off x="8052816" y="1317625"/>
            <a:ext cx="3300984" cy="548640"/>
          </a:xfrm>
        </p:spPr>
        <p:txBody>
          <a:bodyPr>
            <a:noAutofit/>
          </a:bodyPr>
          <a:lstStyle>
            <a:lvl1pPr marL="0" indent="0" algn="ctr">
              <a:buNone/>
              <a:defRPr sz="2000" b="1">
                <a:solidFill>
                  <a:srgbClr val="006298"/>
                </a:solidFill>
              </a:defRPr>
            </a:lvl1pPr>
            <a:lvl2pPr>
              <a:defRPr sz="1800"/>
            </a:lvl2pPr>
            <a:lvl3pPr>
              <a:defRPr sz="1600"/>
            </a:lvl3pPr>
            <a:lvl4pPr>
              <a:defRPr sz="1400"/>
            </a:lvl4pPr>
            <a:lvl5pPr>
              <a:defRPr sz="1400"/>
            </a:lvl5pPr>
          </a:lstStyle>
          <a:p>
            <a:pPr lvl="0"/>
            <a:r>
              <a:rPr lang="en-US"/>
              <a:t>Edit Master text styles</a:t>
            </a:r>
          </a:p>
        </p:txBody>
      </p:sp>
      <p:sp>
        <p:nvSpPr>
          <p:cNvPr id="10" name="Content Placeholder 2"/>
          <p:cNvSpPr>
            <a:spLocks noGrp="1"/>
          </p:cNvSpPr>
          <p:nvPr>
            <p:ph idx="14"/>
          </p:nvPr>
        </p:nvSpPr>
        <p:spPr>
          <a:xfrm>
            <a:off x="8052816" y="2017486"/>
            <a:ext cx="3300984" cy="4055019"/>
          </a:xfrm>
        </p:spPr>
        <p:txBody>
          <a:bodyPr>
            <a:no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073454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4"/>
            <a:ext cx="10515600" cy="3399519"/>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5" name="Content Placeholder 2"/>
          <p:cNvSpPr>
            <a:spLocks noGrp="1"/>
          </p:cNvSpPr>
          <p:nvPr>
            <p:ph idx="10" hasCustomPrompt="1"/>
          </p:nvPr>
        </p:nvSpPr>
        <p:spPr>
          <a:xfrm>
            <a:off x="838200" y="5138056"/>
            <a:ext cx="10515600" cy="954765"/>
          </a:xfrm>
        </p:spPr>
        <p:txBody>
          <a:bodyPr>
            <a:noAutofit/>
          </a:bodyPr>
          <a:lstStyle>
            <a:lvl1pPr marL="0" indent="0">
              <a:buNone/>
              <a:defRPr sz="2000">
                <a:solidFill>
                  <a:srgbClr val="006298"/>
                </a:solidFill>
              </a:defRPr>
            </a:lvl1pPr>
          </a:lstStyle>
          <a:p>
            <a:pPr lvl="0"/>
            <a:r>
              <a:rPr lang="en-US" dirty="0"/>
              <a:t>Click to add caption to accompany content. </a:t>
            </a:r>
          </a:p>
        </p:txBody>
      </p:sp>
      <p:sp>
        <p:nvSpPr>
          <p:cNvPr id="6"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470683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5" name="Content Placeholder 2"/>
          <p:cNvSpPr>
            <a:spLocks noGrp="1"/>
          </p:cNvSpPr>
          <p:nvPr>
            <p:ph idx="10" hasCustomPrompt="1"/>
          </p:nvPr>
        </p:nvSpPr>
        <p:spPr>
          <a:xfrm>
            <a:off x="7358743" y="4484914"/>
            <a:ext cx="3995056" cy="1607907"/>
          </a:xfrm>
        </p:spPr>
        <p:txBody>
          <a:bodyPr>
            <a:noAutofit/>
          </a:bodyPr>
          <a:lstStyle>
            <a:lvl1pPr marL="0" indent="0">
              <a:buNone/>
              <a:defRPr sz="2000">
                <a:solidFill>
                  <a:srgbClr val="006298"/>
                </a:solidFill>
              </a:defRPr>
            </a:lvl1pPr>
          </a:lstStyle>
          <a:p>
            <a:pPr lvl="0"/>
            <a:r>
              <a:rPr lang="en-US" dirty="0"/>
              <a:t>Click to add caption to accompany content. </a:t>
            </a:r>
          </a:p>
        </p:txBody>
      </p:sp>
      <p:sp>
        <p:nvSpPr>
          <p:cNvPr id="6" name="Picture Placeholder 5"/>
          <p:cNvSpPr>
            <a:spLocks noGrp="1"/>
          </p:cNvSpPr>
          <p:nvPr>
            <p:ph type="pic" sz="quarter" idx="11"/>
          </p:nvPr>
        </p:nvSpPr>
        <p:spPr>
          <a:xfrm>
            <a:off x="838199" y="1538514"/>
            <a:ext cx="6201229" cy="4554311"/>
          </a:xfrm>
        </p:spPr>
        <p:txBody>
          <a:bodyPr>
            <a:noAutofit/>
          </a:bodyPr>
          <a:lstStyle>
            <a:lvl1pPr marL="0" indent="0">
              <a:buNone/>
              <a:defRPr/>
            </a:lvl1pPr>
          </a:lstStyle>
          <a:p>
            <a:r>
              <a:rPr lang="en-US" dirty="0"/>
              <a:t>Click icon to add picture</a:t>
            </a:r>
          </a:p>
        </p:txBody>
      </p:sp>
      <p:sp>
        <p:nvSpPr>
          <p:cNvPr id="7"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70027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36525"/>
            <a:ext cx="10515600" cy="9144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317625"/>
            <a:ext cx="10515600" cy="475488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9101587"/>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62" r:id="rId5"/>
    <p:sldLayoutId id="2147483665" r:id="rId6"/>
    <p:sldLayoutId id="2147483667" r:id="rId7"/>
    <p:sldLayoutId id="2147483666" r:id="rId8"/>
    <p:sldLayoutId id="2147483663" r:id="rId9"/>
    <p:sldLayoutId id="2147483664" r:id="rId10"/>
    <p:sldLayoutId id="2147483668" r:id="rId11"/>
    <p:sldLayoutId id="2147483669" r:id="rId12"/>
    <p:sldLayoutId id="2147483670" r:id="rId13"/>
    <p:sldLayoutId id="2147483671" r:id="rId14"/>
  </p:sldLayoutIdLst>
  <p:txStyles>
    <p:titleStyle>
      <a:lvl1pPr algn="ctr" defTabSz="914400" rtl="0" eaLnBrk="1" latinLnBrk="0" hangingPunct="1">
        <a:lnSpc>
          <a:spcPct val="90000"/>
        </a:lnSpc>
        <a:spcBef>
          <a:spcPct val="0"/>
        </a:spcBef>
        <a:buNone/>
        <a:defRPr sz="3400" b="1" kern="1200">
          <a:solidFill>
            <a:srgbClr val="004A78"/>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spcAft>
          <a:spcPts val="600"/>
        </a:spcAft>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600"/>
        </a:spcBef>
        <a:spcAft>
          <a:spcPts val="60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600"/>
        </a:spcBef>
        <a:spcAft>
          <a:spcPts val="60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br>
              <a:rPr lang="en-US" dirty="0"/>
            </a:br>
            <a:r>
              <a:rPr lang="en-US" dirty="0"/>
              <a:t>Corporate Governance</a:t>
            </a:r>
          </a:p>
        </p:txBody>
      </p:sp>
      <p:sp>
        <p:nvSpPr>
          <p:cNvPr id="3" name="Subtitle 2"/>
          <p:cNvSpPr>
            <a:spLocks noGrp="1"/>
          </p:cNvSpPr>
          <p:nvPr>
            <p:ph type="subTitle" idx="1"/>
          </p:nvPr>
        </p:nvSpPr>
        <p:spPr/>
        <p:txBody>
          <a:bodyPr/>
          <a:lstStyle/>
          <a:p>
            <a:r>
              <a:rPr lang="en-US" dirty="0"/>
              <a:t>CHAPTER 13</a:t>
            </a:r>
          </a:p>
        </p:txBody>
      </p:sp>
      <p:sp>
        <p:nvSpPr>
          <p:cNvPr id="4" name="Text Placeholder 3"/>
          <p:cNvSpPr>
            <a:spLocks noGrp="1"/>
          </p:cNvSpPr>
          <p:nvPr>
            <p:ph type="body" sz="quarter" idx="10"/>
          </p:nvPr>
        </p:nvSpPr>
        <p:spPr/>
        <p:txBody>
          <a:bodyPr>
            <a:normAutofit fontScale="77500" lnSpcReduction="20000"/>
          </a:bodyPr>
          <a:lstStyle/>
          <a:p>
            <a:pPr>
              <a:lnSpc>
                <a:spcPct val="120000"/>
              </a:lnSpc>
            </a:pPr>
            <a:r>
              <a:rPr lang="en-US" dirty="0"/>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10382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in Chapter</a:t>
            </a:r>
          </a:p>
        </p:txBody>
      </p:sp>
      <p:sp>
        <p:nvSpPr>
          <p:cNvPr id="3" name="Content Placeholder 2"/>
          <p:cNvSpPr>
            <a:spLocks noGrp="1"/>
          </p:cNvSpPr>
          <p:nvPr>
            <p:ph idx="1"/>
          </p:nvPr>
        </p:nvSpPr>
        <p:spPr/>
        <p:txBody>
          <a:bodyPr/>
          <a:lstStyle/>
          <a:p>
            <a:r>
              <a:rPr lang="en-US" dirty="0"/>
              <a:t>Agency Conflicts</a:t>
            </a:r>
          </a:p>
          <a:p>
            <a:r>
              <a:rPr lang="en-US" dirty="0"/>
              <a:t>Corporate Governance</a:t>
            </a:r>
          </a:p>
        </p:txBody>
      </p:sp>
    </p:spTree>
    <p:extLst>
      <p:ext uri="{BB962C8B-B14F-4D97-AF65-F5344CB8AC3E}">
        <p14:creationId xmlns:p14="http://schemas.microsoft.com/office/powerpoint/2010/main" val="2100919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Corporate Governance and Corporate Value</a:t>
            </a:r>
          </a:p>
        </p:txBody>
      </p:sp>
      <p:pic>
        <p:nvPicPr>
          <p:cNvPr id="1026" name="Picture 2" descr="A flowchart shows corporate governance which leads to operating decisions and financing decisions. From operating decisions it leads to free cash flow (FCF). From financing decisions it leads to weighted average cost of capital (WACC). From free cash flow (FCF) and weighted average cost of capital (WACC) it further leads to value equals FCF subscript 1 divides (1 + W A C C) superscript 1 + FCF subscript 2 divides (1 + WACC) superscript 2 +---+ FCF subscript infinity divides (1 + WACC) superscript infinity."/>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14320" y="1448716"/>
            <a:ext cx="7363360" cy="44923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9397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an agency relationship?</a:t>
            </a:r>
          </a:p>
        </p:txBody>
      </p:sp>
      <p:sp>
        <p:nvSpPr>
          <p:cNvPr id="3" name="Content Placeholder 2"/>
          <p:cNvSpPr>
            <a:spLocks noGrp="1"/>
          </p:cNvSpPr>
          <p:nvPr>
            <p:ph idx="1"/>
          </p:nvPr>
        </p:nvSpPr>
        <p:spPr>
          <a:xfrm>
            <a:off x="838199" y="1317625"/>
            <a:ext cx="10736179" cy="4754880"/>
          </a:xfrm>
        </p:spPr>
        <p:txBody>
          <a:bodyPr/>
          <a:lstStyle/>
          <a:p>
            <a:pPr marL="0" indent="0">
              <a:spcBef>
                <a:spcPts val="1200"/>
              </a:spcBef>
              <a:buNone/>
            </a:pPr>
            <a:r>
              <a:rPr lang="en-US" dirty="0"/>
              <a:t>An agency relationship arises whenever one or more individuals, called </a:t>
            </a:r>
            <a:r>
              <a:rPr lang="en-US" i="1" dirty="0">
                <a:solidFill>
                  <a:srgbClr val="333399"/>
                </a:solidFill>
              </a:rPr>
              <a:t>principals</a:t>
            </a:r>
            <a:r>
              <a:rPr lang="en-US" dirty="0">
                <a:solidFill>
                  <a:srgbClr val="333399"/>
                </a:solidFill>
              </a:rPr>
              <a:t>,</a:t>
            </a:r>
            <a:r>
              <a:rPr lang="en-US" dirty="0"/>
              <a:t> (1) hires another individual or organization, called an </a:t>
            </a:r>
            <a:r>
              <a:rPr lang="en-US" i="1" dirty="0">
                <a:solidFill>
                  <a:srgbClr val="333399"/>
                </a:solidFill>
              </a:rPr>
              <a:t>agent</a:t>
            </a:r>
            <a:r>
              <a:rPr lang="en-US" dirty="0">
                <a:solidFill>
                  <a:srgbClr val="333399"/>
                </a:solidFill>
              </a:rPr>
              <a:t>,</a:t>
            </a:r>
            <a:r>
              <a:rPr lang="en-US" dirty="0"/>
              <a:t> to perform some service and (2) then delegates decision-making authority to that agent.</a:t>
            </a:r>
          </a:p>
        </p:txBody>
      </p:sp>
    </p:spTree>
    <p:extLst>
      <p:ext uri="{BB962C8B-B14F-4D97-AF65-F5344CB8AC3E}">
        <p14:creationId xmlns:p14="http://schemas.microsoft.com/office/powerpoint/2010/main" val="2451083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1053" y="136525"/>
            <a:ext cx="11389894" cy="914400"/>
          </a:xfrm>
        </p:spPr>
        <p:txBody>
          <a:bodyPr/>
          <a:lstStyle/>
          <a:p>
            <a:r>
              <a:rPr lang="en-US" sz="3000" dirty="0"/>
              <a:t>If you are the only employee, and only your money is invested in the business, would any agency problems exist?</a:t>
            </a:r>
          </a:p>
        </p:txBody>
      </p:sp>
      <p:sp>
        <p:nvSpPr>
          <p:cNvPr id="3" name="Content Placeholder 2"/>
          <p:cNvSpPr>
            <a:spLocks noGrp="1"/>
          </p:cNvSpPr>
          <p:nvPr>
            <p:ph idx="1"/>
          </p:nvPr>
        </p:nvSpPr>
        <p:spPr>
          <a:xfrm>
            <a:off x="838199" y="1317625"/>
            <a:ext cx="10736179" cy="4754880"/>
          </a:xfrm>
        </p:spPr>
        <p:txBody>
          <a:bodyPr/>
          <a:lstStyle/>
          <a:p>
            <a:pPr marL="0" indent="0">
              <a:spcBef>
                <a:spcPts val="1200"/>
              </a:spcBef>
              <a:buFont typeface="Wingdings" pitchFamily="2" charset="2"/>
              <a:buNone/>
            </a:pPr>
            <a:r>
              <a:rPr lang="en-US" dirty="0"/>
              <a:t>No agency problem would exist.  A potential agency problem arises whenever the manager of a firm owns less than 100 percent of the firm’s common stock, or the firm borrows.  You own 100 percent of the firm.</a:t>
            </a:r>
          </a:p>
        </p:txBody>
      </p:sp>
    </p:spTree>
    <p:extLst>
      <p:ext uri="{BB962C8B-B14F-4D97-AF65-F5344CB8AC3E}">
        <p14:creationId xmlns:p14="http://schemas.microsoft.com/office/powerpoint/2010/main" val="131777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1053" y="136525"/>
            <a:ext cx="11389894" cy="914400"/>
          </a:xfrm>
        </p:spPr>
        <p:txBody>
          <a:bodyPr/>
          <a:lstStyle/>
          <a:p>
            <a:r>
              <a:rPr lang="en-US" dirty="0"/>
              <a:t>Would hiring additional people create</a:t>
            </a:r>
            <a:br>
              <a:rPr lang="en-US" dirty="0"/>
            </a:br>
            <a:r>
              <a:rPr lang="en-US" dirty="0"/>
              <a:t>agency problems?</a:t>
            </a:r>
          </a:p>
        </p:txBody>
      </p:sp>
      <p:sp>
        <p:nvSpPr>
          <p:cNvPr id="3" name="Content Placeholder 2"/>
          <p:cNvSpPr>
            <a:spLocks noGrp="1"/>
          </p:cNvSpPr>
          <p:nvPr>
            <p:ph idx="1"/>
          </p:nvPr>
        </p:nvSpPr>
        <p:spPr>
          <a:xfrm>
            <a:off x="838199" y="1317625"/>
            <a:ext cx="10736179" cy="4754880"/>
          </a:xfrm>
        </p:spPr>
        <p:txBody>
          <a:bodyPr/>
          <a:lstStyle/>
          <a:p>
            <a:pPr marL="0" indent="0">
              <a:spcBef>
                <a:spcPts val="1200"/>
              </a:spcBef>
              <a:buFont typeface="Wingdings" pitchFamily="2" charset="2"/>
              <a:buNone/>
            </a:pPr>
            <a:r>
              <a:rPr lang="en-US" dirty="0"/>
              <a:t>An agency relationship could exist between you and your employees if you, the principal, hired the employees to perform some service and delegated some decision-making authority to them.</a:t>
            </a:r>
          </a:p>
        </p:txBody>
      </p:sp>
    </p:spTree>
    <p:extLst>
      <p:ext uri="{BB962C8B-B14F-4D97-AF65-F5344CB8AC3E}">
        <p14:creationId xmlns:p14="http://schemas.microsoft.com/office/powerpoint/2010/main" val="1019868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1053" y="136525"/>
            <a:ext cx="11389894" cy="914400"/>
          </a:xfrm>
        </p:spPr>
        <p:txBody>
          <a:bodyPr/>
          <a:lstStyle/>
          <a:p>
            <a:r>
              <a:rPr lang="en-US" dirty="0"/>
              <a:t>Owner/managers versus Outside Shareholders</a:t>
            </a:r>
          </a:p>
        </p:txBody>
      </p:sp>
      <p:sp>
        <p:nvSpPr>
          <p:cNvPr id="3" name="Content Placeholder 2"/>
          <p:cNvSpPr>
            <a:spLocks noGrp="1"/>
          </p:cNvSpPr>
          <p:nvPr>
            <p:ph idx="1"/>
          </p:nvPr>
        </p:nvSpPr>
        <p:spPr>
          <a:xfrm>
            <a:off x="838199" y="1317625"/>
            <a:ext cx="10736179" cy="4754880"/>
          </a:xfrm>
        </p:spPr>
        <p:txBody>
          <a:bodyPr/>
          <a:lstStyle/>
          <a:p>
            <a:r>
              <a:rPr lang="en-US" dirty="0"/>
              <a:t>Benefits of being an owner/manager:</a:t>
            </a:r>
          </a:p>
          <a:p>
            <a:pPr lvl="1"/>
            <a:r>
              <a:rPr lang="en-US" dirty="0"/>
              <a:t>Increase wealth due to owning company</a:t>
            </a:r>
          </a:p>
          <a:p>
            <a:pPr lvl="1"/>
            <a:r>
              <a:rPr lang="en-US" dirty="0"/>
              <a:t>Perquisites (perks):</a:t>
            </a:r>
          </a:p>
          <a:p>
            <a:pPr lvl="2"/>
            <a:r>
              <a:rPr lang="en-US" dirty="0"/>
              <a:t>Luxurious offices</a:t>
            </a:r>
          </a:p>
          <a:p>
            <a:pPr lvl="2"/>
            <a:r>
              <a:rPr lang="en-US" dirty="0"/>
              <a:t>Executive assistants</a:t>
            </a:r>
          </a:p>
          <a:p>
            <a:pPr lvl="2"/>
            <a:r>
              <a:rPr lang="en-US" dirty="0"/>
              <a:t>Expense accounts</a:t>
            </a:r>
          </a:p>
          <a:p>
            <a:pPr lvl="2"/>
            <a:r>
              <a:rPr lang="en-US" dirty="0"/>
              <a:t>Limousines and auto allowances</a:t>
            </a:r>
          </a:p>
          <a:p>
            <a:pPr lvl="2"/>
            <a:r>
              <a:rPr lang="en-US" dirty="0"/>
              <a:t>Country club memberships</a:t>
            </a:r>
          </a:p>
          <a:p>
            <a:pPr lvl="2"/>
            <a:r>
              <a:rPr lang="en-US" dirty="0"/>
              <a:t>Generous retirement plan</a:t>
            </a:r>
          </a:p>
        </p:txBody>
      </p:sp>
    </p:spTree>
    <p:extLst>
      <p:ext uri="{BB962C8B-B14F-4D97-AF65-F5344CB8AC3E}">
        <p14:creationId xmlns:p14="http://schemas.microsoft.com/office/powerpoint/2010/main" val="2718284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1053" y="136525"/>
            <a:ext cx="11389894" cy="914400"/>
          </a:xfrm>
        </p:spPr>
        <p:txBody>
          <a:bodyPr/>
          <a:lstStyle/>
          <a:p>
            <a:r>
              <a:rPr lang="en-US" dirty="0"/>
              <a:t>Who bears the costs of the perks?</a:t>
            </a:r>
          </a:p>
        </p:txBody>
      </p:sp>
      <p:sp>
        <p:nvSpPr>
          <p:cNvPr id="3" name="Content Placeholder 2"/>
          <p:cNvSpPr>
            <a:spLocks noGrp="1"/>
          </p:cNvSpPr>
          <p:nvPr>
            <p:ph idx="1"/>
          </p:nvPr>
        </p:nvSpPr>
        <p:spPr>
          <a:xfrm>
            <a:off x="838199" y="1317625"/>
            <a:ext cx="10736179" cy="4754880"/>
          </a:xfrm>
        </p:spPr>
        <p:txBody>
          <a:bodyPr/>
          <a:lstStyle/>
          <a:p>
            <a:pPr>
              <a:spcBef>
                <a:spcPts val="1200"/>
              </a:spcBef>
            </a:pPr>
            <a:r>
              <a:rPr lang="en-US" dirty="0"/>
              <a:t>If the owner/manager owns all the stock, the owner/manager bears all costs.</a:t>
            </a:r>
          </a:p>
          <a:p>
            <a:pPr>
              <a:spcBef>
                <a:spcPts val="1200"/>
              </a:spcBef>
            </a:pPr>
            <a:r>
              <a:rPr lang="en-US" dirty="0"/>
              <a:t>If there are also outside shareholders, they bear some of the cost due to the owner/manager’s perks.</a:t>
            </a:r>
          </a:p>
          <a:p>
            <a:pPr>
              <a:spcBef>
                <a:spcPts val="1200"/>
              </a:spcBef>
            </a:pPr>
            <a:r>
              <a:rPr lang="en-US" dirty="0"/>
              <a:t>Therefore, minority shareholders will pay less for shares of stock—this is an agency cost.</a:t>
            </a:r>
          </a:p>
        </p:txBody>
      </p:sp>
    </p:spTree>
    <p:extLst>
      <p:ext uri="{BB962C8B-B14F-4D97-AF65-F5344CB8AC3E}">
        <p14:creationId xmlns:p14="http://schemas.microsoft.com/office/powerpoint/2010/main" val="2704049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Borrowers versus Lenders</a:t>
            </a:r>
          </a:p>
        </p:txBody>
      </p:sp>
      <p:sp>
        <p:nvSpPr>
          <p:cNvPr id="3" name="Content Placeholder 2"/>
          <p:cNvSpPr>
            <a:spLocks noGrp="1"/>
          </p:cNvSpPr>
          <p:nvPr>
            <p:ph idx="1"/>
          </p:nvPr>
        </p:nvSpPr>
        <p:spPr/>
        <p:txBody>
          <a:bodyPr/>
          <a:lstStyle/>
          <a:p>
            <a:pPr>
              <a:spcBef>
                <a:spcPts val="1200"/>
              </a:spcBef>
            </a:pPr>
            <a:r>
              <a:rPr lang="en-US" dirty="0"/>
              <a:t>After the loan is originated, borrowers can make decisions that affect the lender:</a:t>
            </a:r>
          </a:p>
          <a:p>
            <a:pPr lvl="1">
              <a:spcBef>
                <a:spcPts val="1200"/>
              </a:spcBef>
            </a:pPr>
            <a:r>
              <a:rPr lang="en-US" dirty="0"/>
              <a:t>Invest in risky projects.</a:t>
            </a:r>
          </a:p>
          <a:p>
            <a:pPr lvl="2">
              <a:spcBef>
                <a:spcPts val="1200"/>
              </a:spcBef>
            </a:pPr>
            <a:r>
              <a:rPr lang="en-US" dirty="0"/>
              <a:t>Who benefits most if there is a small payoff, medium payoff, or big payoff?</a:t>
            </a:r>
          </a:p>
          <a:p>
            <a:pPr lvl="2">
              <a:spcBef>
                <a:spcPts val="1200"/>
              </a:spcBef>
            </a:pPr>
            <a:r>
              <a:rPr lang="en-US" dirty="0"/>
              <a:t>Who loses most if there is a small loss, medium loss, or big loss?</a:t>
            </a:r>
          </a:p>
          <a:p>
            <a:pPr lvl="1">
              <a:spcBef>
                <a:spcPts val="1200"/>
              </a:spcBef>
            </a:pPr>
            <a:r>
              <a:rPr lang="en-US" dirty="0"/>
              <a:t>Take on additional debt</a:t>
            </a:r>
          </a:p>
        </p:txBody>
      </p:sp>
    </p:spTree>
    <p:extLst>
      <p:ext uri="{BB962C8B-B14F-4D97-AF65-F5344CB8AC3E}">
        <p14:creationId xmlns:p14="http://schemas.microsoft.com/office/powerpoint/2010/main" val="3147619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Agency Cost of Debt</a:t>
            </a:r>
          </a:p>
        </p:txBody>
      </p:sp>
      <p:sp>
        <p:nvSpPr>
          <p:cNvPr id="3" name="Content Placeholder 2"/>
          <p:cNvSpPr>
            <a:spLocks noGrp="1"/>
          </p:cNvSpPr>
          <p:nvPr>
            <p:ph idx="1"/>
          </p:nvPr>
        </p:nvSpPr>
        <p:spPr/>
        <p:txBody>
          <a:bodyPr/>
          <a:lstStyle/>
          <a:p>
            <a:r>
              <a:rPr lang="en-US" dirty="0"/>
              <a:t>Creditors anticipate possible harmful actions by stockholders</a:t>
            </a:r>
          </a:p>
          <a:p>
            <a:pPr lvl="1"/>
            <a:r>
              <a:rPr lang="en-US" dirty="0"/>
              <a:t>Creditors charge higher interest rate.</a:t>
            </a:r>
          </a:p>
          <a:p>
            <a:pPr lvl="1"/>
            <a:r>
              <a:rPr lang="en-US" dirty="0"/>
              <a:t>Company’s cost of capital goes up.</a:t>
            </a:r>
          </a:p>
          <a:p>
            <a:pPr lvl="1"/>
            <a:r>
              <a:rPr lang="en-US" dirty="0"/>
              <a:t>Value of company goes down.</a:t>
            </a:r>
          </a:p>
          <a:p>
            <a:r>
              <a:rPr lang="en-US" dirty="0"/>
              <a:t>This is an agency cost.</a:t>
            </a:r>
          </a:p>
        </p:txBody>
      </p:sp>
    </p:spTree>
    <p:extLst>
      <p:ext uri="{BB962C8B-B14F-4D97-AF65-F5344CB8AC3E}">
        <p14:creationId xmlns:p14="http://schemas.microsoft.com/office/powerpoint/2010/main" val="551199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actions reduce agency cost of debt?</a:t>
            </a:r>
          </a:p>
        </p:txBody>
      </p:sp>
      <p:sp>
        <p:nvSpPr>
          <p:cNvPr id="3" name="Content Placeholder 2"/>
          <p:cNvSpPr>
            <a:spLocks noGrp="1"/>
          </p:cNvSpPr>
          <p:nvPr>
            <p:ph idx="1"/>
          </p:nvPr>
        </p:nvSpPr>
        <p:spPr/>
        <p:txBody>
          <a:bodyPr/>
          <a:lstStyle/>
          <a:p>
            <a:r>
              <a:rPr lang="en-US" dirty="0"/>
              <a:t>Securing the loan with company’s assets.</a:t>
            </a:r>
          </a:p>
          <a:p>
            <a:r>
              <a:rPr lang="en-US" dirty="0"/>
              <a:t>Placing restrictive covenants in debt agreements. The borrower must:</a:t>
            </a:r>
          </a:p>
          <a:p>
            <a:pPr lvl="1"/>
            <a:r>
              <a:rPr lang="en-US" dirty="0"/>
              <a:t>Maintain profitability ratios and retained earnings at a certain level before making any distributions to shareholders.</a:t>
            </a:r>
          </a:p>
          <a:p>
            <a:pPr lvl="1"/>
            <a:r>
              <a:rPr lang="en-US" dirty="0"/>
              <a:t>Maintain debt ratios at specified levels.</a:t>
            </a:r>
          </a:p>
          <a:p>
            <a:pPr lvl="1"/>
            <a:r>
              <a:rPr lang="en-US" dirty="0"/>
              <a:t>Not issue more debt.</a:t>
            </a:r>
          </a:p>
        </p:txBody>
      </p:sp>
    </p:spTree>
    <p:extLst>
      <p:ext uri="{BB962C8B-B14F-4D97-AF65-F5344CB8AC3E}">
        <p14:creationId xmlns:p14="http://schemas.microsoft.com/office/powerpoint/2010/main" val="1175403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Modern Corporation</a:t>
            </a:r>
          </a:p>
        </p:txBody>
      </p:sp>
      <p:sp>
        <p:nvSpPr>
          <p:cNvPr id="3" name="Content Placeholder 2"/>
          <p:cNvSpPr>
            <a:spLocks noGrp="1"/>
          </p:cNvSpPr>
          <p:nvPr>
            <p:ph idx="1"/>
          </p:nvPr>
        </p:nvSpPr>
        <p:spPr/>
        <p:txBody>
          <a:bodyPr/>
          <a:lstStyle/>
          <a:p>
            <a:r>
              <a:rPr lang="en-US" dirty="0"/>
              <a:t>Many shareholders, none who own a controlling interest in the company.</a:t>
            </a:r>
          </a:p>
          <a:p>
            <a:r>
              <a:rPr lang="en-US" dirty="0"/>
              <a:t>Decision-making delegated by shareholders to an elected board of directors.</a:t>
            </a:r>
          </a:p>
          <a:p>
            <a:r>
              <a:rPr lang="en-US" dirty="0"/>
              <a:t>Board delegates most decision-making to hired executives, who then hire other employees and delegate some decision-making.</a:t>
            </a:r>
          </a:p>
          <a:p>
            <a:r>
              <a:rPr lang="en-US" dirty="0"/>
              <a:t>Potential agency conflict between shareholders and managers.</a:t>
            </a:r>
          </a:p>
        </p:txBody>
      </p:sp>
    </p:spTree>
    <p:extLst>
      <p:ext uri="{BB962C8B-B14F-4D97-AF65-F5344CB8AC3E}">
        <p14:creationId xmlns:p14="http://schemas.microsoft.com/office/powerpoint/2010/main" val="4040705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Six Potential Problems with Managerial</a:t>
            </a:r>
            <a:br>
              <a:rPr lang="en-US" dirty="0"/>
            </a:br>
            <a:r>
              <a:rPr lang="en-US" dirty="0"/>
              <a:t>Behavior (1 of 2)</a:t>
            </a:r>
          </a:p>
        </p:txBody>
      </p:sp>
      <p:sp>
        <p:nvSpPr>
          <p:cNvPr id="3" name="Content Placeholder 2"/>
          <p:cNvSpPr>
            <a:spLocks noGrp="1"/>
          </p:cNvSpPr>
          <p:nvPr>
            <p:ph idx="1"/>
          </p:nvPr>
        </p:nvSpPr>
        <p:spPr/>
        <p:txBody>
          <a:bodyPr/>
          <a:lstStyle/>
          <a:p>
            <a:r>
              <a:rPr lang="en-US" dirty="0"/>
              <a:t>Expend too little time and effort.</a:t>
            </a:r>
          </a:p>
          <a:p>
            <a:r>
              <a:rPr lang="en-US" dirty="0"/>
              <a:t>Consume too many </a:t>
            </a:r>
            <a:r>
              <a:rPr lang="en-US" dirty="0" err="1"/>
              <a:t>nonpecuniary</a:t>
            </a:r>
            <a:r>
              <a:rPr lang="en-US" dirty="0"/>
              <a:t> benefits.</a:t>
            </a:r>
          </a:p>
          <a:p>
            <a:r>
              <a:rPr lang="en-US" dirty="0"/>
              <a:t>Avoid difficult decisions (e.g., close plant) out of loyalty to friends in company.</a:t>
            </a:r>
          </a:p>
        </p:txBody>
      </p:sp>
    </p:spTree>
    <p:extLst>
      <p:ext uri="{BB962C8B-B14F-4D97-AF65-F5344CB8AC3E}">
        <p14:creationId xmlns:p14="http://schemas.microsoft.com/office/powerpoint/2010/main" val="2841572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Six Problems with Managerial</a:t>
            </a:r>
            <a:br>
              <a:rPr lang="en-US" dirty="0"/>
            </a:br>
            <a:r>
              <a:rPr lang="en-US" dirty="0"/>
              <a:t>Behavior (2 of 2)</a:t>
            </a:r>
          </a:p>
        </p:txBody>
      </p:sp>
      <p:sp>
        <p:nvSpPr>
          <p:cNvPr id="3" name="Content Placeholder 2"/>
          <p:cNvSpPr>
            <a:spLocks noGrp="1"/>
          </p:cNvSpPr>
          <p:nvPr>
            <p:ph idx="1"/>
          </p:nvPr>
        </p:nvSpPr>
        <p:spPr/>
        <p:txBody>
          <a:bodyPr/>
          <a:lstStyle/>
          <a:p>
            <a:pPr>
              <a:spcBef>
                <a:spcPts val="1200"/>
              </a:spcBef>
            </a:pPr>
            <a:r>
              <a:rPr lang="en-US" dirty="0"/>
              <a:t>Reject risky positive NPV projects to avoid looking bad if project fails; take on risky negative NPV projects to try and hit a home run.</a:t>
            </a:r>
          </a:p>
          <a:p>
            <a:pPr>
              <a:spcBef>
                <a:spcPts val="1200"/>
              </a:spcBef>
            </a:pPr>
            <a:r>
              <a:rPr lang="en-US" dirty="0"/>
              <a:t>Avoid returning capital to investors by making excess investments in marketable securities or by paying too much for acquisitions.</a:t>
            </a:r>
          </a:p>
          <a:p>
            <a:pPr>
              <a:spcBef>
                <a:spcPts val="1200"/>
              </a:spcBef>
            </a:pPr>
            <a:r>
              <a:rPr lang="en-US" dirty="0"/>
              <a:t>Massage information releases or manage earnings to avoid revealing bad news.</a:t>
            </a:r>
          </a:p>
        </p:txBody>
      </p:sp>
    </p:spTree>
    <p:extLst>
      <p:ext uri="{BB962C8B-B14F-4D97-AF65-F5344CB8AC3E}">
        <p14:creationId xmlns:p14="http://schemas.microsoft.com/office/powerpoint/2010/main" val="4263974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Corporate Governance</a:t>
            </a:r>
          </a:p>
        </p:txBody>
      </p:sp>
      <p:sp>
        <p:nvSpPr>
          <p:cNvPr id="3" name="Content Placeholder 2"/>
          <p:cNvSpPr>
            <a:spLocks noGrp="1"/>
          </p:cNvSpPr>
          <p:nvPr>
            <p:ph idx="1"/>
          </p:nvPr>
        </p:nvSpPr>
        <p:spPr/>
        <p:txBody>
          <a:bodyPr/>
          <a:lstStyle/>
          <a:p>
            <a:r>
              <a:rPr lang="en-US" dirty="0"/>
              <a:t>The set of laws, rules, and procedures that influence a company’s operations and the decisions made by its managers.</a:t>
            </a:r>
          </a:p>
          <a:p>
            <a:pPr lvl="1"/>
            <a:r>
              <a:rPr lang="en-US" dirty="0"/>
              <a:t>Sticks (threat of removal)</a:t>
            </a:r>
          </a:p>
          <a:p>
            <a:pPr lvl="1"/>
            <a:r>
              <a:rPr lang="en-US" dirty="0"/>
              <a:t>Carrots (compensation) </a:t>
            </a:r>
          </a:p>
        </p:txBody>
      </p:sp>
    </p:spTree>
    <p:extLst>
      <p:ext uri="{BB962C8B-B14F-4D97-AF65-F5344CB8AC3E}">
        <p14:creationId xmlns:p14="http://schemas.microsoft.com/office/powerpoint/2010/main" val="1986773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Corporate Governance Provisions Under</a:t>
            </a:r>
            <a:br>
              <a:rPr lang="en-US" dirty="0"/>
            </a:br>
            <a:r>
              <a:rPr lang="en-US" dirty="0"/>
              <a:t>a Firm’s Control</a:t>
            </a:r>
          </a:p>
        </p:txBody>
      </p:sp>
      <p:sp>
        <p:nvSpPr>
          <p:cNvPr id="3" name="Content Placeholder 2"/>
          <p:cNvSpPr>
            <a:spLocks noGrp="1"/>
          </p:cNvSpPr>
          <p:nvPr>
            <p:ph idx="1"/>
          </p:nvPr>
        </p:nvSpPr>
        <p:spPr/>
        <p:txBody>
          <a:bodyPr/>
          <a:lstStyle/>
          <a:p>
            <a:r>
              <a:rPr lang="en-US" dirty="0"/>
              <a:t>Board of directors</a:t>
            </a:r>
          </a:p>
          <a:p>
            <a:r>
              <a:rPr lang="en-US" dirty="0"/>
              <a:t>Charter provisions affecting takeovers</a:t>
            </a:r>
          </a:p>
          <a:p>
            <a:r>
              <a:rPr lang="en-US" dirty="0"/>
              <a:t>Compensation plans</a:t>
            </a:r>
          </a:p>
          <a:p>
            <a:r>
              <a:rPr lang="en-US" dirty="0"/>
              <a:t>Capital structure choices</a:t>
            </a:r>
          </a:p>
          <a:p>
            <a:r>
              <a:rPr lang="en-US" dirty="0"/>
              <a:t>Internal accounting control systems</a:t>
            </a:r>
          </a:p>
        </p:txBody>
      </p:sp>
    </p:spTree>
    <p:extLst>
      <p:ext uri="{BB962C8B-B14F-4D97-AF65-F5344CB8AC3E}">
        <p14:creationId xmlns:p14="http://schemas.microsoft.com/office/powerpoint/2010/main" val="3875902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Effective Boards of Directors (1 of 4)</a:t>
            </a:r>
          </a:p>
        </p:txBody>
      </p:sp>
      <p:sp>
        <p:nvSpPr>
          <p:cNvPr id="3" name="Content Placeholder 2"/>
          <p:cNvSpPr>
            <a:spLocks noGrp="1"/>
          </p:cNvSpPr>
          <p:nvPr>
            <p:ph idx="1"/>
          </p:nvPr>
        </p:nvSpPr>
        <p:spPr/>
        <p:txBody>
          <a:bodyPr/>
          <a:lstStyle/>
          <a:p>
            <a:r>
              <a:rPr lang="en-US" dirty="0"/>
              <a:t>Election mechanisms make it easier for minority shareholders to gain seats:</a:t>
            </a:r>
          </a:p>
          <a:p>
            <a:pPr lvl="1"/>
            <a:r>
              <a:rPr lang="en-US" dirty="0"/>
              <a:t>Not a “classified” board (i.e., all board members elected each year, not just those with multi-year staggered terms)</a:t>
            </a:r>
          </a:p>
          <a:p>
            <a:pPr lvl="1"/>
            <a:r>
              <a:rPr lang="en-US" dirty="0"/>
              <a:t>Board elections allow cumulative voting</a:t>
            </a:r>
          </a:p>
        </p:txBody>
      </p:sp>
    </p:spTree>
    <p:extLst>
      <p:ext uri="{BB962C8B-B14F-4D97-AF65-F5344CB8AC3E}">
        <p14:creationId xmlns:p14="http://schemas.microsoft.com/office/powerpoint/2010/main" val="657971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Effective Boards of Directors (2 of 4)</a:t>
            </a:r>
          </a:p>
        </p:txBody>
      </p:sp>
      <p:sp>
        <p:nvSpPr>
          <p:cNvPr id="3" name="Content Placeholder 2"/>
          <p:cNvSpPr>
            <a:spLocks noGrp="1"/>
          </p:cNvSpPr>
          <p:nvPr>
            <p:ph idx="1"/>
          </p:nvPr>
        </p:nvSpPr>
        <p:spPr/>
        <p:txBody>
          <a:bodyPr/>
          <a:lstStyle/>
          <a:p>
            <a:r>
              <a:rPr lang="en-US" dirty="0"/>
              <a:t>CEO is not chairman of the board and does not have undue influence over the nominating committee.</a:t>
            </a:r>
          </a:p>
          <a:p>
            <a:r>
              <a:rPr lang="en-US" dirty="0"/>
              <a:t>Board has a majority of outside directors (i.e., those who do not have another position in the company) with business expertise.</a:t>
            </a:r>
          </a:p>
        </p:txBody>
      </p:sp>
    </p:spTree>
    <p:extLst>
      <p:ext uri="{BB962C8B-B14F-4D97-AF65-F5344CB8AC3E}">
        <p14:creationId xmlns:p14="http://schemas.microsoft.com/office/powerpoint/2010/main" val="3930685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Effective Boards of Directors (3 of 4)</a:t>
            </a:r>
          </a:p>
        </p:txBody>
      </p:sp>
      <p:sp>
        <p:nvSpPr>
          <p:cNvPr id="3" name="Content Placeholder 2"/>
          <p:cNvSpPr>
            <a:spLocks noGrp="1"/>
          </p:cNvSpPr>
          <p:nvPr>
            <p:ph idx="1"/>
          </p:nvPr>
        </p:nvSpPr>
        <p:spPr/>
        <p:txBody>
          <a:bodyPr/>
          <a:lstStyle/>
          <a:p>
            <a:r>
              <a:rPr lang="en-US" dirty="0"/>
              <a:t>Is not an interlocking board (CEO of company A sits on board of company B, CEO of B sits on board of A).</a:t>
            </a:r>
          </a:p>
          <a:p>
            <a:r>
              <a:rPr lang="en-US" dirty="0"/>
              <a:t>Board members are not unduly busy (i.e., set on too many other boards or have too many other business activities)</a:t>
            </a:r>
          </a:p>
        </p:txBody>
      </p:sp>
    </p:spTree>
    <p:extLst>
      <p:ext uri="{BB962C8B-B14F-4D97-AF65-F5344CB8AC3E}">
        <p14:creationId xmlns:p14="http://schemas.microsoft.com/office/powerpoint/2010/main" val="219833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Effective Boards of Directors (4 of 4)</a:t>
            </a:r>
          </a:p>
        </p:txBody>
      </p:sp>
      <p:sp>
        <p:nvSpPr>
          <p:cNvPr id="3" name="Content Placeholder 2"/>
          <p:cNvSpPr>
            <a:spLocks noGrp="1"/>
          </p:cNvSpPr>
          <p:nvPr>
            <p:ph idx="1"/>
          </p:nvPr>
        </p:nvSpPr>
        <p:spPr/>
        <p:txBody>
          <a:bodyPr/>
          <a:lstStyle/>
          <a:p>
            <a:r>
              <a:rPr lang="en-US" dirty="0"/>
              <a:t>Compensation for board directors is appropriate</a:t>
            </a:r>
          </a:p>
          <a:p>
            <a:pPr lvl="1"/>
            <a:r>
              <a:rPr lang="en-US" dirty="0"/>
              <a:t>Not so high that it encourages cronyism with CEO</a:t>
            </a:r>
          </a:p>
          <a:p>
            <a:pPr lvl="1"/>
            <a:r>
              <a:rPr lang="en-US" dirty="0"/>
              <a:t>Not all compensation is fixed salary (i.e., some compensation is linked to firm performance or stock performance)</a:t>
            </a:r>
          </a:p>
        </p:txBody>
      </p:sp>
    </p:spTree>
    <p:extLst>
      <p:ext uri="{BB962C8B-B14F-4D97-AF65-F5344CB8AC3E}">
        <p14:creationId xmlns:p14="http://schemas.microsoft.com/office/powerpoint/2010/main" val="508904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Anti-Takeover Provisions</a:t>
            </a:r>
          </a:p>
        </p:txBody>
      </p:sp>
      <p:sp>
        <p:nvSpPr>
          <p:cNvPr id="3" name="Content Placeholder 2"/>
          <p:cNvSpPr>
            <a:spLocks noGrp="1"/>
          </p:cNvSpPr>
          <p:nvPr>
            <p:ph idx="1"/>
          </p:nvPr>
        </p:nvSpPr>
        <p:spPr/>
        <p:txBody>
          <a:bodyPr/>
          <a:lstStyle/>
          <a:p>
            <a:r>
              <a:rPr lang="en-US" dirty="0"/>
              <a:t>Targeted share repurchases (i.e., greenmail)</a:t>
            </a:r>
          </a:p>
          <a:p>
            <a:r>
              <a:rPr lang="en-US" dirty="0"/>
              <a:t>Shareholder rights provisions (i.e., poison pills)</a:t>
            </a:r>
          </a:p>
          <a:p>
            <a:r>
              <a:rPr lang="en-US" dirty="0"/>
              <a:t>Restricted voting rights plans</a:t>
            </a:r>
          </a:p>
        </p:txBody>
      </p:sp>
    </p:spTree>
    <p:extLst>
      <p:ext uri="{BB962C8B-B14F-4D97-AF65-F5344CB8AC3E}">
        <p14:creationId xmlns:p14="http://schemas.microsoft.com/office/powerpoint/2010/main" val="10434101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Stock Options in Compensation Plans (1 of 2)</a:t>
            </a:r>
          </a:p>
        </p:txBody>
      </p:sp>
      <p:sp>
        <p:nvSpPr>
          <p:cNvPr id="3" name="Content Placeholder 2"/>
          <p:cNvSpPr>
            <a:spLocks noGrp="1"/>
          </p:cNvSpPr>
          <p:nvPr>
            <p:ph idx="1"/>
          </p:nvPr>
        </p:nvSpPr>
        <p:spPr/>
        <p:txBody>
          <a:bodyPr/>
          <a:lstStyle/>
          <a:p>
            <a:r>
              <a:rPr lang="en-US" dirty="0"/>
              <a:t>Gives owner of option the right to buy a share of the company’s stock at a specified price (called the strike price or exercise price) even if the actual stock price is higher.</a:t>
            </a:r>
          </a:p>
          <a:p>
            <a:r>
              <a:rPr lang="en-US" dirty="0"/>
              <a:t>Usually can’t exercise the option for several years (called the vesting period).</a:t>
            </a:r>
          </a:p>
        </p:txBody>
      </p:sp>
    </p:spTree>
    <p:extLst>
      <p:ext uri="{BB962C8B-B14F-4D97-AF65-F5344CB8AC3E}">
        <p14:creationId xmlns:p14="http://schemas.microsoft.com/office/powerpoint/2010/main" val="32351023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Stock Options in Compensation Plans (2 of 2)</a:t>
            </a:r>
          </a:p>
        </p:txBody>
      </p:sp>
      <p:sp>
        <p:nvSpPr>
          <p:cNvPr id="3" name="Content Placeholder 2"/>
          <p:cNvSpPr>
            <a:spLocks noGrp="1"/>
          </p:cNvSpPr>
          <p:nvPr>
            <p:ph idx="1"/>
          </p:nvPr>
        </p:nvSpPr>
        <p:spPr/>
        <p:txBody>
          <a:bodyPr/>
          <a:lstStyle/>
          <a:p>
            <a:r>
              <a:rPr lang="en-US" dirty="0"/>
              <a:t>Can’t exercise the option after a certain number of years (called the expiration, or maturity, date).</a:t>
            </a:r>
          </a:p>
        </p:txBody>
      </p:sp>
    </p:spTree>
    <p:extLst>
      <p:ext uri="{BB962C8B-B14F-4D97-AF65-F5344CB8AC3E}">
        <p14:creationId xmlns:p14="http://schemas.microsoft.com/office/powerpoint/2010/main" val="19067613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with Stock Options</a:t>
            </a:r>
          </a:p>
        </p:txBody>
      </p:sp>
      <p:sp>
        <p:nvSpPr>
          <p:cNvPr id="3" name="Content Placeholder 2"/>
          <p:cNvSpPr>
            <a:spLocks noGrp="1"/>
          </p:cNvSpPr>
          <p:nvPr>
            <p:ph idx="1"/>
          </p:nvPr>
        </p:nvSpPr>
        <p:spPr/>
        <p:txBody>
          <a:bodyPr/>
          <a:lstStyle/>
          <a:p>
            <a:r>
              <a:rPr lang="en-US" dirty="0"/>
              <a:t>Manager can underperform market or peer group, yet still reap rewards from options as long as the stock price increases to above the exercise cost.</a:t>
            </a:r>
          </a:p>
          <a:p>
            <a:r>
              <a:rPr lang="en-US" dirty="0"/>
              <a:t>Options sometimes encourage managers to falsify financial statements or take excessive risks.</a:t>
            </a:r>
          </a:p>
        </p:txBody>
      </p:sp>
    </p:spTree>
    <p:extLst>
      <p:ext uri="{BB962C8B-B14F-4D97-AF65-F5344CB8AC3E}">
        <p14:creationId xmlns:p14="http://schemas.microsoft.com/office/powerpoint/2010/main" val="2641808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 Ownership</a:t>
            </a:r>
          </a:p>
        </p:txBody>
      </p:sp>
      <p:sp>
        <p:nvSpPr>
          <p:cNvPr id="3" name="Content Placeholder 2"/>
          <p:cNvSpPr>
            <a:spLocks noGrp="1"/>
          </p:cNvSpPr>
          <p:nvPr>
            <p:ph idx="1"/>
          </p:nvPr>
        </p:nvSpPr>
        <p:spPr/>
        <p:txBody>
          <a:bodyPr/>
          <a:lstStyle/>
          <a:p>
            <a:r>
              <a:rPr lang="en-US" dirty="0"/>
              <a:t>Outside investor owns large amount (i.e., block) of company’s shares</a:t>
            </a:r>
          </a:p>
          <a:p>
            <a:pPr lvl="1"/>
            <a:r>
              <a:rPr lang="en-US" dirty="0"/>
              <a:t>Institutional investors, such as </a:t>
            </a:r>
            <a:r>
              <a:rPr lang="en-US" dirty="0" err="1"/>
              <a:t>CalPERS</a:t>
            </a:r>
            <a:r>
              <a:rPr lang="en-US" dirty="0"/>
              <a:t> or TIAA-CREF</a:t>
            </a:r>
          </a:p>
          <a:p>
            <a:r>
              <a:rPr lang="en-US" dirty="0" err="1"/>
              <a:t>Blockholders</a:t>
            </a:r>
            <a:r>
              <a:rPr lang="en-US" dirty="0"/>
              <a:t> often monitor managers and take active role, leading to better corporate governance</a:t>
            </a:r>
          </a:p>
        </p:txBody>
      </p:sp>
    </p:spTree>
    <p:extLst>
      <p:ext uri="{BB962C8B-B14F-4D97-AF65-F5344CB8AC3E}">
        <p14:creationId xmlns:p14="http://schemas.microsoft.com/office/powerpoint/2010/main" val="2710024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Regulatory Systems and Laws</a:t>
            </a:r>
          </a:p>
        </p:txBody>
      </p:sp>
      <p:sp>
        <p:nvSpPr>
          <p:cNvPr id="3" name="Content Placeholder 2"/>
          <p:cNvSpPr>
            <a:spLocks noGrp="1"/>
          </p:cNvSpPr>
          <p:nvPr>
            <p:ph idx="1"/>
          </p:nvPr>
        </p:nvSpPr>
        <p:spPr/>
        <p:txBody>
          <a:bodyPr/>
          <a:lstStyle/>
          <a:p>
            <a:r>
              <a:rPr lang="en-US" dirty="0"/>
              <a:t>Companies in countries with strong protection for investors tend to have:</a:t>
            </a:r>
          </a:p>
          <a:p>
            <a:pPr lvl="1"/>
            <a:r>
              <a:rPr lang="en-US" dirty="0"/>
              <a:t>Better access to financial markets</a:t>
            </a:r>
          </a:p>
          <a:p>
            <a:pPr lvl="1"/>
            <a:r>
              <a:rPr lang="en-US" dirty="0"/>
              <a:t>A lower cost of equity</a:t>
            </a:r>
          </a:p>
          <a:p>
            <a:pPr lvl="1"/>
            <a:r>
              <a:rPr lang="en-US" dirty="0"/>
              <a:t>Increased market liquidity</a:t>
            </a:r>
          </a:p>
          <a:p>
            <a:pPr lvl="1"/>
            <a:r>
              <a:rPr lang="en-US" dirty="0"/>
              <a:t>Less noise in stock prices</a:t>
            </a:r>
          </a:p>
        </p:txBody>
      </p:sp>
    </p:spTree>
    <p:extLst>
      <p:ext uri="{BB962C8B-B14F-4D97-AF65-F5344CB8AC3E}">
        <p14:creationId xmlns:p14="http://schemas.microsoft.com/office/powerpoint/2010/main" val="3778764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_PPT_Template_Cengage_MPS.potx" id="{6A341ED2-E63B-4177-9AAF-670EA0822A4A}" vid="{9F6311B6-333D-45C7-A3D7-227D14483E8E}"/>
    </a:ext>
  </a:extLst>
</a:theme>
</file>

<file path=docProps/app.xml><?xml version="1.0" encoding="utf-8"?>
<Properties xmlns="http://schemas.openxmlformats.org/officeDocument/2006/extended-properties" xmlns:vt="http://schemas.openxmlformats.org/officeDocument/2006/docPropsVTypes">
  <Template>Accessible_PPT_Template_Cengage_MPS</Template>
  <TotalTime>2501</TotalTime>
  <Words>1147</Words>
  <Application>Microsoft Office PowerPoint</Application>
  <PresentationFormat>Widescreen</PresentationFormat>
  <Paragraphs>104</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Arial</vt:lpstr>
      <vt:lpstr>Wingdings</vt:lpstr>
      <vt:lpstr>Office Theme</vt:lpstr>
      <vt:lpstr> Corporate Governance</vt:lpstr>
      <vt:lpstr>Topics in Chapter</vt:lpstr>
      <vt:lpstr>Corporate Governance and Corporate Value</vt:lpstr>
      <vt:lpstr>What is an agency relationship?</vt:lpstr>
      <vt:lpstr>If you are the only employee, and only your money is invested in the business, would any agency problems exist?</vt:lpstr>
      <vt:lpstr>Would hiring additional people create agency problems?</vt:lpstr>
      <vt:lpstr>Owner/managers versus Outside Shareholders</vt:lpstr>
      <vt:lpstr>Who bears the costs of the perks?</vt:lpstr>
      <vt:lpstr>Borrowers versus Lenders</vt:lpstr>
      <vt:lpstr>Agency Cost of Debt</vt:lpstr>
      <vt:lpstr>What actions reduce agency cost of debt?</vt:lpstr>
      <vt:lpstr>The Modern Corporation</vt:lpstr>
      <vt:lpstr>Six Potential Problems with Managerial Behavior (1 of 2)</vt:lpstr>
      <vt:lpstr>Six Problems with Managerial Behavior (2 of 2)</vt:lpstr>
      <vt:lpstr>Corporate Governance</vt:lpstr>
      <vt:lpstr>Corporate Governance Provisions Under a Firm’s Control</vt:lpstr>
      <vt:lpstr>Effective Boards of Directors (1 of 4)</vt:lpstr>
      <vt:lpstr>Effective Boards of Directors (2 of 4)</vt:lpstr>
      <vt:lpstr>Effective Boards of Directors (3 of 4)</vt:lpstr>
      <vt:lpstr>Effective Boards of Directors (4 of 4)</vt:lpstr>
      <vt:lpstr>Anti-Takeover Provisions</vt:lpstr>
      <vt:lpstr>Stock Options in Compensation Plans (1 of 2)</vt:lpstr>
      <vt:lpstr>Stock Options in Compensation Plans (2 of 2)</vt:lpstr>
      <vt:lpstr>Problems with Stock Options</vt:lpstr>
      <vt:lpstr>Block Ownership</vt:lpstr>
      <vt:lpstr>Regulatory Systems and Laws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Prasanna kumar. Tripathy</dc:creator>
  <cp:lastModifiedBy>Gordon Elliott Williams</cp:lastModifiedBy>
  <cp:revision>1068</cp:revision>
  <dcterms:created xsi:type="dcterms:W3CDTF">2018-12-18T04:30:03Z</dcterms:created>
  <dcterms:modified xsi:type="dcterms:W3CDTF">2021-11-24T23:36:57Z</dcterms:modified>
</cp:coreProperties>
</file>