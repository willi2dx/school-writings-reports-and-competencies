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15"/>
  </p:notesMasterIdLst>
  <p:handoutMasterIdLst>
    <p:handoutMasterId r:id="rId16"/>
  </p:handoutMasterIdLst>
  <p:sldIdLst>
    <p:sldId id="256" r:id="rId5"/>
    <p:sldId id="292" r:id="rId6"/>
    <p:sldId id="264" r:id="rId7"/>
    <p:sldId id="306" r:id="rId8"/>
    <p:sldId id="307" r:id="rId9"/>
    <p:sldId id="297" r:id="rId10"/>
    <p:sldId id="304" r:id="rId11"/>
    <p:sldId id="285" r:id="rId12"/>
    <p:sldId id="294" r:id="rId13"/>
    <p:sldId id="30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0" autoAdjust="0"/>
    <p:restoredTop sz="95388" autoAdjust="0"/>
  </p:normalViewPr>
  <p:slideViewPr>
    <p:cSldViewPr snapToGrid="0" showGuides="1">
      <p:cViewPr varScale="1">
        <p:scale>
          <a:sx n="77" d="100"/>
          <a:sy n="77" d="100"/>
        </p:scale>
        <p:origin x="114" y="702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89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6CC28-7A45-2197-2FE5-A58AD37AC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0971D-E94A-D31F-A656-2811F28A1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38851-61C8-7B60-85BC-02FACEC83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907A0-C30B-608E-C5EB-D786CA4B8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850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C206C-C3FD-9E3A-9FAD-24909BB52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000E5-D907-1177-39C1-8A206F6B7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AA352-DB37-F025-D5E8-C48803104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1E70A-AC11-DB24-0216-3E98A83F5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475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6BE5F-1B31-9AE6-F18F-3752C343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E409B-AF85-71C2-8C52-A00347719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1A3C2-7253-630A-B1F8-FCB884FF7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4F182-CC30-DA47-8C6D-4D55F571C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065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81671-B733-70D1-9ABD-0B1E3299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2B2B3-1446-7239-A07B-C85889AC5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B7AA0-E732-9226-11AF-5A784E756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27E53-552E-E9DA-D8DE-99672728A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317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19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464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33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05124"/>
            <a:ext cx="11272649" cy="1062716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7201" y="2234979"/>
            <a:ext cx="11272648" cy="3969606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71548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264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A0AD703-0A43-5323-CCB2-832D424EF2D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2151" y="2862479"/>
            <a:ext cx="3672970" cy="3491849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to add text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27B629-9CBE-3ECF-2D88-F07AACD037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970" y="666985"/>
            <a:ext cx="7497880" cy="5687344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DD7D93-4C4D-E385-9F8C-40536F0BD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99FA72-244D-9DC3-C9B7-E7DAD50A0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5A4F6F-66FD-CDA5-7F8F-F5FD6382C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7734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923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7" r:id="rId14"/>
    <p:sldLayoutId id="2147483821" r:id="rId15"/>
    <p:sldLayoutId id="214748382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3B76D8-2E40-A706-78FC-AFA9D09574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07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50000">
                <a:schemeClr val="tx2">
                  <a:alpha val="35000"/>
                </a:schemeClr>
              </a:gs>
              <a:gs pos="100000">
                <a:schemeClr val="tx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10905059" cy="33303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</a:rPr>
              <a:t>Foundations of Effective Database Design</a:t>
            </a:r>
            <a:br>
              <a:rPr lang="en-US" sz="3600">
                <a:solidFill>
                  <a:schemeClr val="bg1"/>
                </a:solidFill>
              </a:rPr>
            </a:br>
            <a:r>
              <a:rPr lang="en-US" sz="3600">
                <a:solidFill>
                  <a:schemeClr val="bg1"/>
                </a:solidFill>
              </a:rPr>
              <a:t>Balancing Integrity, Performance, and Scalability</a:t>
            </a:r>
            <a:br>
              <a:rPr lang="en-US" sz="3600">
                <a:solidFill>
                  <a:schemeClr val="bg1"/>
                </a:solidFill>
              </a:rPr>
            </a:br>
            <a:endParaRPr lang="en-US" sz="3600">
              <a:solidFill>
                <a:schemeClr val="bg1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E5597F-CE67-4085-9548-E6A8036D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93881" y="4035362"/>
            <a:ext cx="540423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63EBED-692E-F411-C854-E73855CAC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2EBBE-8AC6-AAAA-65A0-2AE933EAA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46454" y="1132792"/>
            <a:ext cx="3657600" cy="35108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331FA093-C737-F7DE-8AED-CCE03B3F8975}"/>
              </a:ext>
            </a:extLst>
          </p:cNvPr>
          <p:cNvSpPr txBox="1">
            <a:spLocks/>
          </p:cNvSpPr>
          <p:nvPr/>
        </p:nvSpPr>
        <p:spPr>
          <a:xfrm>
            <a:off x="4446534" y="104337"/>
            <a:ext cx="7595613" cy="143854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</a:rPr>
              <a:t>Data Integrity:</a:t>
            </a:r>
            <a:r>
              <a:rPr lang="en-US" dirty="0">
                <a:solidFill>
                  <a:srgbClr val="002060"/>
                </a:solidFill>
              </a:rPr>
              <a:t> Ensuring accuracy and consistency (Entity and Referential integrity).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ABF5ED55-1B15-DE27-B2E8-0B4202BCAE8A}"/>
              </a:ext>
            </a:extLst>
          </p:cNvPr>
          <p:cNvSpPr txBox="1">
            <a:spLocks/>
          </p:cNvSpPr>
          <p:nvPr/>
        </p:nvSpPr>
        <p:spPr>
          <a:xfrm>
            <a:off x="4469163" y="1811081"/>
            <a:ext cx="7595613" cy="143854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</a:rPr>
              <a:t>Reduced Redundancy:</a:t>
            </a:r>
            <a:r>
              <a:rPr lang="en-US" dirty="0">
                <a:solidFill>
                  <a:srgbClr val="002060"/>
                </a:solidFill>
              </a:rPr>
              <a:t> Minimizing duplicate data to save space and prevent errors.</a:t>
            </a:r>
          </a:p>
        </p:txBody>
      </p:sp>
      <p:sp>
        <p:nvSpPr>
          <p:cNvPr id="6" name="Title 10">
            <a:extLst>
              <a:ext uri="{FF2B5EF4-FFF2-40B4-BE49-F238E27FC236}">
                <a16:creationId xmlns:a16="http://schemas.microsoft.com/office/drawing/2014/main" id="{7F486550-3337-9920-230A-30DBA6AA84C5}"/>
              </a:ext>
            </a:extLst>
          </p:cNvPr>
          <p:cNvSpPr txBox="1">
            <a:spLocks/>
          </p:cNvSpPr>
          <p:nvPr/>
        </p:nvSpPr>
        <p:spPr>
          <a:xfrm>
            <a:off x="4469163" y="3517826"/>
            <a:ext cx="7595613" cy="143854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</a:rPr>
              <a:t>Scalability:</a:t>
            </a:r>
            <a:r>
              <a:rPr lang="en-US" dirty="0">
                <a:solidFill>
                  <a:srgbClr val="002060"/>
                </a:solidFill>
              </a:rPr>
              <a:t> The ability to handle growth without a total redesign.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A00C67E7-2275-F980-9605-B6C031D10AE4}"/>
              </a:ext>
            </a:extLst>
          </p:cNvPr>
          <p:cNvSpPr txBox="1">
            <a:spLocks/>
          </p:cNvSpPr>
          <p:nvPr/>
        </p:nvSpPr>
        <p:spPr>
          <a:xfrm>
            <a:off x="4446533" y="5189646"/>
            <a:ext cx="7595613" cy="143854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</a:rPr>
              <a:t>Security:</a:t>
            </a:r>
            <a:r>
              <a:rPr lang="en-US" dirty="0">
                <a:solidFill>
                  <a:srgbClr val="002060"/>
                </a:solidFill>
              </a:rPr>
              <a:t> Restricting access via schemas and permissions.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84" y="863695"/>
            <a:ext cx="3666045" cy="4848173"/>
          </a:xfrm>
          <a:prstGeom prst="ellips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CORE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2201125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D169E8C-6B2C-8F77-2318-4F612BEBE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FF0FD1A0-C075-EE18-B3AE-363C242D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607" y="260795"/>
            <a:ext cx="4943856" cy="900176"/>
          </a:xfr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Challenge of Complexity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75D4415B-26AF-B911-48C6-789C3E2B8359}"/>
              </a:ext>
            </a:extLst>
          </p:cNvPr>
          <p:cNvSpPr txBox="1">
            <a:spLocks/>
          </p:cNvSpPr>
          <p:nvPr/>
        </p:nvSpPr>
        <p:spPr>
          <a:xfrm>
            <a:off x="363254" y="1507420"/>
            <a:ext cx="4571999" cy="15078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/>
              <a:t>The "Trade-off" Trap:</a:t>
            </a:r>
            <a:r>
              <a:rPr lang="en-US" dirty="0"/>
              <a:t> High performance often conflicts with high data integrity.</a:t>
            </a: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0EADEA23-6BB6-BE76-DF09-75C37F8DC7D9}"/>
              </a:ext>
            </a:extLst>
          </p:cNvPr>
          <p:cNvSpPr txBox="1">
            <a:spLocks/>
          </p:cNvSpPr>
          <p:nvPr/>
        </p:nvSpPr>
        <p:spPr>
          <a:xfrm>
            <a:off x="7143251" y="1507421"/>
            <a:ext cx="4571997" cy="15078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/>
              <a:t>Maintenance Hurdles:</a:t>
            </a:r>
            <a:r>
              <a:rPr lang="en-US" dirty="0"/>
              <a:t> Complex designs require specialized knowledge (DBAs).</a:t>
            </a:r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6CE129D0-BC36-CC36-7E9C-88CB3264401B}"/>
              </a:ext>
            </a:extLst>
          </p:cNvPr>
          <p:cNvSpPr txBox="1">
            <a:spLocks/>
          </p:cNvSpPr>
          <p:nvPr/>
        </p:nvSpPr>
        <p:spPr>
          <a:xfrm>
            <a:off x="3911536" y="4893250"/>
            <a:ext cx="4571997" cy="13668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/>
              <a:t>Rigidity:</a:t>
            </a:r>
            <a:r>
              <a:rPr lang="en-US" dirty="0"/>
              <a:t> Once a schema is "set in stone," changing it can break connected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52BC6-F886-7755-7AF5-8ADFE250D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98C0A9-4F63-9CD8-75F4-32BBE982D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DCECF6BC-3880-1FAC-EE1B-340FC3A86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537" y="217709"/>
            <a:ext cx="4943856" cy="1346547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Dive: Data Normalization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1FBC4132-086F-AA1E-FD02-784824D1D747}"/>
              </a:ext>
            </a:extLst>
          </p:cNvPr>
          <p:cNvSpPr txBox="1">
            <a:spLocks/>
          </p:cNvSpPr>
          <p:nvPr/>
        </p:nvSpPr>
        <p:spPr>
          <a:xfrm>
            <a:off x="72435" y="939263"/>
            <a:ext cx="4461988" cy="40040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process of organizing data to minimize redundancy and dependency.</a:t>
            </a: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923D70DA-6B40-1D48-2A7B-D62AD365E170}"/>
              </a:ext>
            </a:extLst>
          </p:cNvPr>
          <p:cNvSpPr txBox="1">
            <a:spLocks/>
          </p:cNvSpPr>
          <p:nvPr/>
        </p:nvSpPr>
        <p:spPr>
          <a:xfrm>
            <a:off x="7506507" y="939263"/>
            <a:ext cx="4571998" cy="3866760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Isolate data so that additions, deletions, and modifications can be made in just one table and then propagated through the rest of the database via defined relationships.</a:t>
            </a:r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E83E3F10-572A-7F99-A996-EE145CE70A3E}"/>
              </a:ext>
            </a:extLst>
          </p:cNvPr>
          <p:cNvSpPr txBox="1">
            <a:spLocks/>
          </p:cNvSpPr>
          <p:nvPr/>
        </p:nvSpPr>
        <p:spPr>
          <a:xfrm>
            <a:off x="3753254" y="3128513"/>
            <a:ext cx="4571997" cy="3629565"/>
          </a:xfrm>
          <a:prstGeom prst="up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it, "Update Anomalies" occur (e.g., changing a customer's address in one place but not another).</a:t>
            </a:r>
          </a:p>
        </p:txBody>
      </p:sp>
    </p:spTree>
    <p:extLst>
      <p:ext uri="{BB962C8B-B14F-4D97-AF65-F5344CB8AC3E}">
        <p14:creationId xmlns:p14="http://schemas.microsoft.com/office/powerpoint/2010/main" val="2773602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BAB8D-410A-3F8E-8344-C2BB6D8F5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B3003A-FA83-65D7-9D92-599128912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97534" cy="6868014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DEFE36AD-C190-CC0F-1F03-6613B7D90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47800"/>
            <a:ext cx="5778674" cy="90017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Stages/STEPS of Normalization 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DFD1507C-5BFF-B3F0-3BC9-F74A88F3F106}"/>
              </a:ext>
            </a:extLst>
          </p:cNvPr>
          <p:cNvSpPr txBox="1">
            <a:spLocks/>
          </p:cNvSpPr>
          <p:nvPr/>
        </p:nvSpPr>
        <p:spPr>
          <a:xfrm>
            <a:off x="4097463" y="5205833"/>
            <a:ext cx="4571999" cy="150788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1NF (First Normal Form):</a:t>
            </a:r>
            <a:r>
              <a:rPr lang="en-US" dirty="0">
                <a:solidFill>
                  <a:schemeClr val="tx1"/>
                </a:solidFill>
              </a:rPr>
              <a:t> Eliminate repeating groups; ensure each cell has a single value.</a:t>
            </a: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F4582E06-679B-AFF2-7725-7E3197CFF980}"/>
              </a:ext>
            </a:extLst>
          </p:cNvPr>
          <p:cNvSpPr txBox="1">
            <a:spLocks/>
          </p:cNvSpPr>
          <p:nvPr/>
        </p:nvSpPr>
        <p:spPr>
          <a:xfrm>
            <a:off x="4097465" y="3200335"/>
            <a:ext cx="4571997" cy="150788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2NF (Second Normal Form):</a:t>
            </a:r>
            <a:r>
              <a:rPr lang="en-US" dirty="0">
                <a:solidFill>
                  <a:schemeClr val="tx1"/>
                </a:solidFill>
              </a:rPr>
              <a:t> Meet 1NF and ensure all non-key columns depend on the primary key.</a:t>
            </a:r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6B55365D-0107-E683-709D-032FF133D73A}"/>
              </a:ext>
            </a:extLst>
          </p:cNvPr>
          <p:cNvSpPr txBox="1">
            <a:spLocks/>
          </p:cNvSpPr>
          <p:nvPr/>
        </p:nvSpPr>
        <p:spPr>
          <a:xfrm>
            <a:off x="4097463" y="1335858"/>
            <a:ext cx="4571997" cy="136686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3NF (Third Normal Form):</a:t>
            </a:r>
            <a:r>
              <a:rPr lang="en-US" dirty="0">
                <a:solidFill>
                  <a:schemeClr val="tx1"/>
                </a:solidFill>
              </a:rPr>
              <a:t> Meet 2NF and ensure no "transitive dependencies" (non-key columns shouldn't depend on other non-key columns).</a:t>
            </a:r>
          </a:p>
        </p:txBody>
      </p:sp>
    </p:spTree>
    <p:extLst>
      <p:ext uri="{BB962C8B-B14F-4D97-AF65-F5344CB8AC3E}">
        <p14:creationId xmlns:p14="http://schemas.microsoft.com/office/powerpoint/2010/main" val="598815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EF877-24B4-187A-255D-C4D388E8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2C1843-B70E-E003-6489-54B436131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276"/>
            <a:ext cx="12192000" cy="6871276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59500-BD2C-1E46-B741-99236840B108}"/>
              </a:ext>
            </a:extLst>
          </p:cNvPr>
          <p:cNvSpPr txBox="1"/>
          <p:nvPr/>
        </p:nvSpPr>
        <p:spPr>
          <a:xfrm>
            <a:off x="473788" y="714413"/>
            <a:ext cx="10977202" cy="90886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masis MT Pro Black" panose="02040A04050005020304" pitchFamily="18" charset="0"/>
              </a:rPr>
              <a:t>According to Coronel and Morris (2019), normalization is essential because it eliminates </a:t>
            </a:r>
            <a:r>
              <a:rPr lang="en-US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Data Anomalies</a:t>
            </a:r>
            <a:r>
              <a:rPr lang="en-US" dirty="0">
                <a:solidFill>
                  <a:schemeClr val="bg1"/>
                </a:solidFill>
                <a:latin typeface="Amasis MT Pro Black" panose="02040A040500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04E3A-6E95-B340-6939-3FA85517FDF2}"/>
              </a:ext>
            </a:extLst>
          </p:cNvPr>
          <p:cNvSpPr txBox="1"/>
          <p:nvPr/>
        </p:nvSpPr>
        <p:spPr>
          <a:xfrm>
            <a:off x="446533" y="4461354"/>
            <a:ext cx="10977203" cy="168789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masis MT Pro Black" panose="02040A04050005020304" pitchFamily="18" charset="0"/>
              </a:rPr>
              <a:t>In an unnormalized system, deleting a "Course" might accidentally delete a "Student" because they share the same row. Normalization separates these entities, preserving data history even as relationships change.</a:t>
            </a:r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84EB91D6-B3DF-C093-BFC2-470B3179F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4329" y="2308371"/>
            <a:ext cx="4941518" cy="1380991"/>
          </a:xfrm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Evidence of Normalization Benefits</a:t>
            </a:r>
          </a:p>
        </p:txBody>
      </p:sp>
    </p:spTree>
    <p:extLst>
      <p:ext uri="{BB962C8B-B14F-4D97-AF65-F5344CB8AC3E}">
        <p14:creationId xmlns:p14="http://schemas.microsoft.com/office/powerpoint/2010/main" val="511577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2F47C-557D-2A53-0FA1-A165F60BC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1EE38C7-21DB-FFC8-C18C-D82736A03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6"/>
            <a:ext cx="12192000" cy="6851643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2EB53169-BE67-E5F2-E481-780A5D649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880"/>
            <a:ext cx="11304740" cy="566167"/>
          </a:xfr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dirty="0"/>
              <a:t>Design Challenges: The Performance Hit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18CBB64C-192B-3084-34DB-4F675041F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60323"/>
            <a:ext cx="11277600" cy="118262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The Downside of Normalization: As you break tables apart (normalize), the database must perform more JOIN operations to retrieve data.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A04C24E-3F1E-17C1-046F-2A1EC807F95D}"/>
              </a:ext>
            </a:extLst>
          </p:cNvPr>
          <p:cNvSpPr txBox="1">
            <a:spLocks/>
          </p:cNvSpPr>
          <p:nvPr/>
        </p:nvSpPr>
        <p:spPr>
          <a:xfrm>
            <a:off x="430060" y="3777140"/>
            <a:ext cx="11304739" cy="118262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chemeClr val="bg1"/>
                </a:solidFill>
              </a:rPr>
              <a:t>Consequence: High-level normalization can slow down read-heavy systems (like a website's product catalog).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EF41C4-B66B-C3AA-D02D-F4192E63020D}"/>
              </a:ext>
            </a:extLst>
          </p:cNvPr>
          <p:cNvSpPr txBox="1">
            <a:spLocks/>
          </p:cNvSpPr>
          <p:nvPr/>
        </p:nvSpPr>
        <p:spPr>
          <a:xfrm>
            <a:off x="430061" y="5575808"/>
            <a:ext cx="11304739" cy="118262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chemeClr val="bg1"/>
                </a:solidFill>
              </a:rPr>
              <a:t>The Solution: Sometimes designers use "Denormalization"—purposefully adding redundancy back in—to boost speed.</a:t>
            </a:r>
          </a:p>
        </p:txBody>
      </p:sp>
    </p:spTree>
    <p:extLst>
      <p:ext uri="{BB962C8B-B14F-4D97-AF65-F5344CB8AC3E}">
        <p14:creationId xmlns:p14="http://schemas.microsoft.com/office/powerpoint/2010/main" val="336518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A31646-1B26-45C9-5748-8FCBF68FE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75CA5C-1557-2ED4-9816-4A311F166A5F}"/>
              </a:ext>
            </a:extLst>
          </p:cNvPr>
          <p:cNvSpPr txBox="1"/>
          <p:nvPr/>
        </p:nvSpPr>
        <p:spPr>
          <a:xfrm>
            <a:off x="1957415" y="5520846"/>
            <a:ext cx="913360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Whether using SQL (Relational) or NoSQL, understanding how data relates is the key to longevity.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4D9A8-B4EC-60E0-92B7-D2B72211C46E}"/>
              </a:ext>
            </a:extLst>
          </p:cNvPr>
          <p:cNvSpPr txBox="1"/>
          <p:nvPr/>
        </p:nvSpPr>
        <p:spPr>
          <a:xfrm>
            <a:off x="1957415" y="746140"/>
            <a:ext cx="9133605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Conclusion: The Modern Database</a:t>
            </a:r>
          </a:p>
          <a:p>
            <a:r>
              <a:rPr lang="en-US" sz="2400" dirty="0"/>
              <a:t>Effective design isn't about following one rule perfectly; it’s about choosing the right tool for the job.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B045D6AF-532B-394C-0C6F-38B6628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B25D-9615-9332-C32E-4F458417E1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Gordon Elliott Williams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University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BIA575_30 Data Storage methods 2025-26 Term 4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3 Discussion Board: Database Design Principles PowerPoint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Michael Saxton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February 5, 2026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7A5774F-F032-EC54-D97E-91B443354D8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1551" b="215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7095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63FC0CD-F19B-4D9C-9C47-EB7E9D16E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203E9-3162-F705-2A27-2A01F7B3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4" y="809447"/>
            <a:ext cx="2809597" cy="1428750"/>
          </a:xfr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E70159E-5269-4C18-AA0B-D50513DB3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BBE9C8C-98B2-41C2-B47B-9A396CBA2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ECCA3D-5ECA-4A8B-B9D7-CE6DEB72B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D49526-F7B2-DAD4-B311-52A8EDB0E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0788" y="723901"/>
            <a:ext cx="8577945" cy="583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1720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{71567268-2451-4324-B9DA-59C97424638D}TF44327b14-72fa-4a42-8e82-8afcf10927fa9096c001_win32-283260f3ca19</Template>
  <TotalTime>189</TotalTime>
  <Words>467</Words>
  <Application>Microsoft Office PowerPoint</Application>
  <PresentationFormat>Widescreen</PresentationFormat>
  <Paragraphs>45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Amasis MT Pro Black</vt:lpstr>
      <vt:lpstr>Calibri</vt:lpstr>
      <vt:lpstr>Gill Sans MT</vt:lpstr>
      <vt:lpstr>Times New Roman</vt:lpstr>
      <vt:lpstr>Wingdings 2</vt:lpstr>
      <vt:lpstr>DividendVTI</vt:lpstr>
      <vt:lpstr>Foundations of Effective Database Design Balancing Integrity, Performance, and Scalability </vt:lpstr>
      <vt:lpstr>CORE DESIGN PRINCIPLES</vt:lpstr>
      <vt:lpstr>The Challenge of Complexity</vt:lpstr>
      <vt:lpstr>Deep Dive: Data Normalization</vt:lpstr>
      <vt:lpstr>The Stages/STEPS of Normalization </vt:lpstr>
      <vt:lpstr>Evidence of Normalization Benefits</vt:lpstr>
      <vt:lpstr>Design Challenges: The Performance Hit</vt:lpstr>
      <vt:lpstr>PowerPoint Presentation</vt:lpstr>
      <vt:lpstr>Thank you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Williams</dc:creator>
  <cp:lastModifiedBy>Gordon Williams</cp:lastModifiedBy>
  <cp:revision>5</cp:revision>
  <dcterms:created xsi:type="dcterms:W3CDTF">2026-01-07T02:32:12Z</dcterms:created>
  <dcterms:modified xsi:type="dcterms:W3CDTF">2026-02-05T09:16:11Z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