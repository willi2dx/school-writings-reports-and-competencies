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BB01"/>
    <a:srgbClr val="0000CC"/>
    <a:srgbClr val="F6E7CB"/>
    <a:srgbClr val="FAF3E7"/>
    <a:srgbClr val="333399"/>
    <a:srgbClr val="FF0000"/>
    <a:srgbClr val="745D00"/>
    <a:srgbClr val="FFF5CC"/>
    <a:srgbClr val="0070C0"/>
    <a:srgbClr val="0062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92" autoAdjust="0"/>
    <p:restoredTop sz="94687" autoAdjust="0"/>
  </p:normalViewPr>
  <p:slideViewPr>
    <p:cSldViewPr snapToGrid="0">
      <p:cViewPr varScale="1">
        <p:scale>
          <a:sx n="87" d="100"/>
          <a:sy n="87" d="100"/>
        </p:scale>
        <p:origin x="108" y="2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2125663"/>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724400" y="3589338"/>
            <a:ext cx="2743200" cy="731520"/>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2706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3310516"/>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066800" y="2249929"/>
            <a:ext cx="10058400" cy="731520"/>
          </a:xfrm>
        </p:spPr>
        <p:txBody>
          <a:bodyPr anchor="ctr">
            <a:noAutofit/>
          </a:bodyPr>
          <a:lstStyle>
            <a:lvl1pPr marL="0" indent="0" algn="ctr">
              <a:buNone/>
              <a:defRPr sz="5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Unit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rm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675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4043966" y="3671128"/>
            <a:ext cx="7309834" cy="914400"/>
          </a:xfrm>
        </p:spPr>
        <p:txBody>
          <a:bodyPr anchor="ctr">
            <a:noAutofit/>
          </a:bodyPr>
          <a:lstStyle>
            <a:lvl1pPr algn="l">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043966" y="2597660"/>
            <a:ext cx="3515933" cy="731520"/>
          </a:xfrm>
        </p:spPr>
        <p:txBody>
          <a:bodyPr anchor="ctr">
            <a:no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
        <p:nvSpPr>
          <p:cNvPr id="5" name="Content Placeholder 4"/>
          <p:cNvSpPr>
            <a:spLocks noGrp="1"/>
          </p:cNvSpPr>
          <p:nvPr>
            <p:ph sz="quarter" idx="11" hasCustomPrompt="1"/>
          </p:nvPr>
        </p:nvSpPr>
        <p:spPr>
          <a:xfrm>
            <a:off x="245144" y="231774"/>
            <a:ext cx="3346704" cy="4315968"/>
          </a:xfrm>
        </p:spPr>
        <p:txBody>
          <a:bodyPr>
            <a:noAutofit/>
          </a:bodyPr>
          <a:lstStyle>
            <a:lvl1pPr marL="0" indent="0">
              <a:buNone/>
              <a:defRPr/>
            </a:lvl1pPr>
          </a:lstStyle>
          <a:p>
            <a:pPr lvl="0"/>
            <a:r>
              <a:rPr lang="en-US" dirty="0"/>
              <a:t>Add picture here</a:t>
            </a:r>
          </a:p>
        </p:txBody>
      </p:sp>
    </p:spTree>
    <p:extLst>
      <p:ext uri="{BB962C8B-B14F-4D97-AF65-F5344CB8AC3E}">
        <p14:creationId xmlns:p14="http://schemas.microsoft.com/office/powerpoint/2010/main" val="265707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515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3806822"/>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97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2543597"/>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3769569"/>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838200" y="4995542"/>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256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1097280"/>
          </a:xfrm>
        </p:spPr>
        <p:txBody>
          <a:bodyPr>
            <a:noAutofit/>
          </a:bodyPr>
          <a:lstStyle>
            <a:lvl1pPr marL="365760" indent="-365760">
              <a:defRPr/>
            </a:lvl1pPr>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63246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3"/>
          </p:nvPr>
        </p:nvSpPr>
        <p:spPr>
          <a:xfrm>
            <a:off x="8382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4"/>
          </p:nvPr>
        </p:nvSpPr>
        <p:spPr>
          <a:xfrm>
            <a:off x="63246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5"/>
          </p:nvPr>
        </p:nvSpPr>
        <p:spPr>
          <a:xfrm>
            <a:off x="8382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6"/>
          </p:nvPr>
        </p:nvSpPr>
        <p:spPr>
          <a:xfrm>
            <a:off x="63246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0927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p:nvPr>
        </p:nvSpPr>
        <p:spPr>
          <a:xfrm>
            <a:off x="838200" y="2126360"/>
            <a:ext cx="10515600" cy="731520"/>
          </a:xfrm>
        </p:spPr>
        <p:txBody>
          <a:bodyPr>
            <a:noAutofit/>
          </a:bodyPr>
          <a:lstStyle>
            <a:lvl1pPr marL="228600" indent="-228600">
              <a:defRPr lang="en-US" sz="28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6" name="Content Placeholder 2"/>
          <p:cNvSpPr>
            <a:spLocks noGrp="1"/>
          </p:cNvSpPr>
          <p:nvPr>
            <p:ph idx="11"/>
          </p:nvPr>
        </p:nvSpPr>
        <p:spPr>
          <a:xfrm>
            <a:off x="838200" y="293509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7" name="Content Placeholder 2"/>
          <p:cNvSpPr>
            <a:spLocks noGrp="1"/>
          </p:cNvSpPr>
          <p:nvPr>
            <p:ph idx="12"/>
          </p:nvPr>
        </p:nvSpPr>
        <p:spPr>
          <a:xfrm>
            <a:off x="838200" y="3743830"/>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9" name="Content Placeholder 2"/>
          <p:cNvSpPr>
            <a:spLocks noGrp="1"/>
          </p:cNvSpPr>
          <p:nvPr>
            <p:ph idx="13"/>
          </p:nvPr>
        </p:nvSpPr>
        <p:spPr>
          <a:xfrm>
            <a:off x="838200" y="455256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0" name="Content Placeholder 2"/>
          <p:cNvSpPr>
            <a:spLocks noGrp="1"/>
          </p:cNvSpPr>
          <p:nvPr>
            <p:ph idx="14"/>
          </p:nvPr>
        </p:nvSpPr>
        <p:spPr>
          <a:xfrm>
            <a:off x="838200" y="5361302"/>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190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0736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548640"/>
          </a:xfrm>
        </p:spPr>
        <p:txBody>
          <a:bodyPr>
            <a:noAutofit/>
          </a:bodyPr>
          <a:lstStyle>
            <a:lvl1pPr marL="0" indent="0" algn="ctr">
              <a:buNone/>
              <a:defRPr sz="28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6324600" y="1317625"/>
            <a:ext cx="5029200" cy="548640"/>
          </a:xfrm>
        </p:spPr>
        <p:txBody>
          <a:bodyPr>
            <a:noAutofit/>
          </a:bodyPr>
          <a:lstStyle>
            <a:lvl1pPr marL="0" indent="0" algn="ctr">
              <a:buNone/>
              <a:defRPr sz="28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63246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897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hasCustomPrompt="1"/>
          </p:nvPr>
        </p:nvSpPr>
        <p:spPr>
          <a:xfrm>
            <a:off x="838200" y="1317625"/>
            <a:ext cx="10515600" cy="548640"/>
          </a:xfrm>
        </p:spPr>
        <p:txBody>
          <a:bodyPr>
            <a:noAutofit/>
          </a:bodyPr>
          <a:lstStyle>
            <a:lvl1pPr marL="0" indent="0" algn="l">
              <a:buNone/>
              <a:defRPr sz="2800" b="1">
                <a:solidFill>
                  <a:srgbClr val="006298"/>
                </a:solidFill>
              </a:defRPr>
            </a:lvl1pPr>
          </a:lstStyle>
          <a:p>
            <a:pPr lvl="0"/>
            <a:r>
              <a:rPr lang="en-US" dirty="0"/>
              <a:t>Section Header</a:t>
            </a:r>
          </a:p>
        </p:txBody>
      </p:sp>
      <p:sp>
        <p:nvSpPr>
          <p:cNvPr id="5" name="Content Placeholder 2"/>
          <p:cNvSpPr>
            <a:spLocks noGrp="1"/>
          </p:cNvSpPr>
          <p:nvPr>
            <p:ph idx="10"/>
          </p:nvPr>
        </p:nvSpPr>
        <p:spPr>
          <a:xfrm>
            <a:off x="838200" y="198818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hasCustomPrompt="1"/>
          </p:nvPr>
        </p:nvSpPr>
        <p:spPr>
          <a:xfrm>
            <a:off x="838200" y="3872137"/>
            <a:ext cx="10515600" cy="548640"/>
          </a:xfrm>
        </p:spPr>
        <p:txBody>
          <a:bodyPr>
            <a:noAutofit/>
          </a:bodyPr>
          <a:lstStyle>
            <a:lvl1pPr marL="0" indent="0" algn="l">
              <a:buNone/>
              <a:defRPr sz="2800" b="1">
                <a:solidFill>
                  <a:srgbClr val="006298"/>
                </a:solidFill>
              </a:defRPr>
            </a:lvl1pPr>
            <a:lvl2pPr>
              <a:defRPr sz="2400"/>
            </a:lvl2pPr>
            <a:lvl3pPr>
              <a:defRPr sz="2000"/>
            </a:lvl3pPr>
            <a:lvl4pPr>
              <a:defRPr sz="1800"/>
            </a:lvl4pPr>
            <a:lvl5pPr>
              <a:defRPr sz="1800"/>
            </a:lvl5pPr>
          </a:lstStyle>
          <a:p>
            <a:pPr lvl="0"/>
            <a:r>
              <a:rPr lang="en-US" dirty="0"/>
              <a:t>Section Header</a:t>
            </a:r>
          </a:p>
        </p:txBody>
      </p:sp>
      <p:sp>
        <p:nvSpPr>
          <p:cNvPr id="7" name="Content Placeholder 2"/>
          <p:cNvSpPr>
            <a:spLocks noGrp="1"/>
          </p:cNvSpPr>
          <p:nvPr>
            <p:ph idx="12"/>
          </p:nvPr>
        </p:nvSpPr>
        <p:spPr>
          <a:xfrm>
            <a:off x="838200" y="451802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83436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3300984" cy="548640"/>
          </a:xfrm>
        </p:spPr>
        <p:txBody>
          <a:bodyPr>
            <a:noAutofit/>
          </a:bodyPr>
          <a:lstStyle>
            <a:lvl1pPr marL="0" indent="0" algn="ctr">
              <a:buNone/>
              <a:defRPr sz="20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4445508" y="1317625"/>
            <a:ext cx="3300984" cy="548640"/>
          </a:xfrm>
        </p:spPr>
        <p:txBody>
          <a:bodyPr>
            <a:noAutofit/>
          </a:bodyPr>
          <a:lstStyle>
            <a:lvl1pPr marL="0" indent="0" algn="ctr">
              <a:buNone/>
              <a:defRPr sz="20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4445508"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8052816" y="1317625"/>
            <a:ext cx="3300984" cy="548640"/>
          </a:xfrm>
        </p:spPr>
        <p:txBody>
          <a:bodyPr>
            <a:noAutofit/>
          </a:bodyPr>
          <a:lstStyle>
            <a:lvl1pPr marL="0" indent="0" algn="ctr">
              <a:buNone/>
              <a:defRPr sz="2000" b="1">
                <a:solidFill>
                  <a:srgbClr val="006298"/>
                </a:solidFill>
              </a:defRPr>
            </a:lvl1pPr>
            <a:lvl2pPr>
              <a:defRPr sz="1800"/>
            </a:lvl2pPr>
            <a:lvl3pPr>
              <a:defRPr sz="1600"/>
            </a:lvl3pPr>
            <a:lvl4pPr>
              <a:defRPr sz="1400"/>
            </a:lvl4pPr>
            <a:lvl5pPr>
              <a:defRPr sz="1400"/>
            </a:lvl5pPr>
          </a:lstStyle>
          <a:p>
            <a:pPr lvl="0"/>
            <a:r>
              <a:rPr lang="en-US"/>
              <a:t>Edit Master text styles</a:t>
            </a:r>
          </a:p>
        </p:txBody>
      </p:sp>
      <p:sp>
        <p:nvSpPr>
          <p:cNvPr id="10" name="Content Placeholder 2"/>
          <p:cNvSpPr>
            <a:spLocks noGrp="1"/>
          </p:cNvSpPr>
          <p:nvPr>
            <p:ph idx="14"/>
          </p:nvPr>
        </p:nvSpPr>
        <p:spPr>
          <a:xfrm>
            <a:off x="8052816"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07345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4"/>
            <a:ext cx="10515600" cy="3399519"/>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hasCustomPrompt="1"/>
          </p:nvPr>
        </p:nvSpPr>
        <p:spPr>
          <a:xfrm>
            <a:off x="838200" y="5138056"/>
            <a:ext cx="10515600" cy="954765"/>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068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5" name="Content Placeholder 2"/>
          <p:cNvSpPr>
            <a:spLocks noGrp="1"/>
          </p:cNvSpPr>
          <p:nvPr>
            <p:ph idx="10" hasCustomPrompt="1"/>
          </p:nvPr>
        </p:nvSpPr>
        <p:spPr>
          <a:xfrm>
            <a:off x="7358743" y="4484914"/>
            <a:ext cx="3995056" cy="1607907"/>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Picture Placeholder 5"/>
          <p:cNvSpPr>
            <a:spLocks noGrp="1"/>
          </p:cNvSpPr>
          <p:nvPr>
            <p:ph type="pic" sz="quarter" idx="11"/>
          </p:nvPr>
        </p:nvSpPr>
        <p:spPr>
          <a:xfrm>
            <a:off x="838199" y="1538514"/>
            <a:ext cx="6201229" cy="4554311"/>
          </a:xfrm>
        </p:spPr>
        <p:txBody>
          <a:bodyPr>
            <a:noAutofit/>
          </a:bodyPr>
          <a:lstStyle>
            <a:lvl1pPr marL="0" indent="0">
              <a:buNone/>
              <a:defRPr/>
            </a:lvl1pPr>
          </a:lstStyle>
          <a:p>
            <a:r>
              <a:rPr lang="en-US" dirty="0"/>
              <a:t>Click icon to add picture</a:t>
            </a:r>
          </a:p>
        </p:txBody>
      </p:sp>
      <p:sp>
        <p:nvSpPr>
          <p:cNvPr id="7"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002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9144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17625"/>
            <a:ext cx="10515600" cy="475488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1015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62" r:id="rId5"/>
    <p:sldLayoutId id="2147483665" r:id="rId6"/>
    <p:sldLayoutId id="2147483667" r:id="rId7"/>
    <p:sldLayoutId id="2147483666" r:id="rId8"/>
    <p:sldLayoutId id="2147483663" r:id="rId9"/>
    <p:sldLayoutId id="2147483664" r:id="rId10"/>
    <p:sldLayoutId id="2147483668" r:id="rId11"/>
    <p:sldLayoutId id="2147483669" r:id="rId12"/>
    <p:sldLayoutId id="2147483670" r:id="rId13"/>
    <p:sldLayoutId id="2147483671" r:id="rId14"/>
  </p:sldLayoutIdLst>
  <p:txStyles>
    <p:titleStyle>
      <a:lvl1pPr algn="ctr" defTabSz="914400" rtl="0" eaLnBrk="1" latinLnBrk="0" hangingPunct="1">
        <a:lnSpc>
          <a:spcPct val="90000"/>
        </a:lnSpc>
        <a:spcBef>
          <a:spcPct val="0"/>
        </a:spcBef>
        <a:buNone/>
        <a:defRPr sz="3400" b="1" kern="1200">
          <a:solidFill>
            <a:srgbClr val="004A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spcAft>
          <a:spcPts val="6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Corporate Valuation and Financial Planning</a:t>
            </a:r>
          </a:p>
        </p:txBody>
      </p:sp>
      <p:sp>
        <p:nvSpPr>
          <p:cNvPr id="3" name="Subtitle 2"/>
          <p:cNvSpPr>
            <a:spLocks noGrp="1"/>
          </p:cNvSpPr>
          <p:nvPr>
            <p:ph type="subTitle" idx="1"/>
          </p:nvPr>
        </p:nvSpPr>
        <p:spPr/>
        <p:txBody>
          <a:bodyPr/>
          <a:lstStyle/>
          <a:p>
            <a:r>
              <a:rPr lang="en-US" dirty="0"/>
              <a:t>CHAPTER 12</a:t>
            </a:r>
          </a:p>
        </p:txBody>
      </p:sp>
      <p:sp>
        <p:nvSpPr>
          <p:cNvPr id="4" name="Text Placeholder 3"/>
          <p:cNvSpPr>
            <a:spLocks noGrp="1"/>
          </p:cNvSpPr>
          <p:nvPr>
            <p:ph type="body" sz="quarter" idx="10"/>
          </p:nvPr>
        </p:nvSpPr>
        <p:spPr/>
        <p:txBody>
          <a:bodyPr>
            <a:normAutofit fontScale="77500" lnSpcReduction="20000"/>
          </a:bodyPr>
          <a:lstStyle/>
          <a:p>
            <a:pPr>
              <a:lnSpc>
                <a:spcPct val="120000"/>
              </a:lnSpc>
            </a:pPr>
            <a:r>
              <a:rPr lang="en-US" dirty="0"/>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038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in Chapter</a:t>
            </a:r>
          </a:p>
        </p:txBody>
      </p:sp>
      <p:sp>
        <p:nvSpPr>
          <p:cNvPr id="3" name="Content Placeholder 2"/>
          <p:cNvSpPr>
            <a:spLocks noGrp="1"/>
          </p:cNvSpPr>
          <p:nvPr>
            <p:ph idx="1"/>
          </p:nvPr>
        </p:nvSpPr>
        <p:spPr/>
        <p:txBody>
          <a:bodyPr/>
          <a:lstStyle/>
          <a:p>
            <a:r>
              <a:rPr lang="en-US" dirty="0"/>
              <a:t>Financial planning</a:t>
            </a:r>
          </a:p>
          <a:p>
            <a:r>
              <a:rPr lang="en-US" dirty="0"/>
              <a:t>Additional funds needed (AFN) equation</a:t>
            </a:r>
          </a:p>
          <a:p>
            <a:r>
              <a:rPr lang="en-US" dirty="0"/>
              <a:t>Forecasted financial statements</a:t>
            </a:r>
          </a:p>
          <a:p>
            <a:pPr lvl="1"/>
            <a:r>
              <a:rPr lang="en-US" dirty="0"/>
              <a:t>Operating input data</a:t>
            </a:r>
          </a:p>
          <a:p>
            <a:pPr lvl="1"/>
            <a:r>
              <a:rPr lang="en-US" dirty="0"/>
              <a:t>Financial policy issues</a:t>
            </a:r>
          </a:p>
          <a:p>
            <a:r>
              <a:rPr lang="en-US" dirty="0"/>
              <a:t>Changing ratios</a:t>
            </a:r>
          </a:p>
        </p:txBody>
      </p:sp>
    </p:spTree>
    <p:extLst>
      <p:ext uri="{BB962C8B-B14F-4D97-AF65-F5344CB8AC3E}">
        <p14:creationId xmlns:p14="http://schemas.microsoft.com/office/powerpoint/2010/main" val="210091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Intrinsic Value: Financial Forecasting</a:t>
            </a:r>
          </a:p>
        </p:txBody>
      </p:sp>
      <p:pic>
        <p:nvPicPr>
          <p:cNvPr id="1026" name="Picture 2" descr="A flowchart shows the Corporate Valuation and Financial Planning. A blue arrow points forecasting: Operating assumptions and a red upward arrow points Forecasting: Financial policy assumption further leads to free cash flow (F C F). Forecasting: Financial policy assumption leads to weighted average cost of capital (W A C C). Value equals F C F subscript 1 divides (1 + W A C C) super subscript 1 + F C F subscript 2 divides (1 + W A C C) super subscript 2 + till + F C F infinity divides (1 + W A C C) super subscript infinity."/>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2321"/>
          <a:stretch/>
        </p:blipFill>
        <p:spPr bwMode="auto">
          <a:xfrm>
            <a:off x="2338933" y="1317625"/>
            <a:ext cx="7514134" cy="485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542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Planning Process</a:t>
            </a:r>
          </a:p>
        </p:txBody>
      </p:sp>
      <p:sp>
        <p:nvSpPr>
          <p:cNvPr id="3" name="Content Placeholder 2"/>
          <p:cNvSpPr>
            <a:spLocks noGrp="1"/>
          </p:cNvSpPr>
          <p:nvPr>
            <p:ph idx="1"/>
          </p:nvPr>
        </p:nvSpPr>
        <p:spPr/>
        <p:txBody>
          <a:bodyPr/>
          <a:lstStyle/>
          <a:p>
            <a:r>
              <a:rPr lang="en-US" dirty="0"/>
              <a:t>Forecast financial statements under alternative operating plans.</a:t>
            </a:r>
          </a:p>
          <a:p>
            <a:r>
              <a:rPr lang="en-US" dirty="0"/>
              <a:t>Forecast the free cash flows to determine the estimated intrinsic stock price.</a:t>
            </a:r>
          </a:p>
          <a:p>
            <a:r>
              <a:rPr lang="en-US" dirty="0"/>
              <a:t>Determine amount of financing needed to support the plan.</a:t>
            </a:r>
          </a:p>
        </p:txBody>
      </p:sp>
    </p:spTree>
    <p:extLst>
      <p:ext uri="{BB962C8B-B14F-4D97-AF65-F5344CB8AC3E}">
        <p14:creationId xmlns:p14="http://schemas.microsoft.com/office/powerpoint/2010/main" val="1713087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Balance Sheet, Hatfield, 12/31/19Planning Process</a:t>
            </a:r>
          </a:p>
        </p:txBody>
      </p:sp>
      <p:graphicFrame>
        <p:nvGraphicFramePr>
          <p:cNvPr id="5" name="Table 2" descr="A table shows a balance sheet, hatfield of 12/13/19. Assets are cash, accts.rec and inventories for 2019 are $90, 1260 and 1440. The total C A and Net fixed assets for 2019 are $2790 and 3600. The total assets are $6390. Liab.&amp; Equity is accts. Pay &amp; accruals and line of credit for 2019 are $1620 and 0. The total C L and long term debt for 2019 are $1620 and 1800. The total liabilities, common stock and retained earnings for 2019 are $3420, $2100 and 870. The total common equ for 2019 is $2970. The total liab .&amp; equity for 2019 is $6390."/>
          <p:cNvGraphicFramePr>
            <a:graphicFrameLocks noGrp="1"/>
          </p:cNvGraphicFramePr>
          <p:nvPr>
            <p:ph idx="1"/>
            <p:extLst>
              <p:ext uri="{D42A27DB-BD31-4B8C-83A1-F6EECF244321}">
                <p14:modId xmlns:p14="http://schemas.microsoft.com/office/powerpoint/2010/main" val="701953536"/>
              </p:ext>
            </p:extLst>
          </p:nvPr>
        </p:nvGraphicFramePr>
        <p:xfrm>
          <a:off x="1104900" y="1143000"/>
          <a:ext cx="9982200" cy="4563290"/>
        </p:xfrm>
        <a:graphic>
          <a:graphicData uri="http://schemas.openxmlformats.org/drawingml/2006/table">
            <a:tbl>
              <a:tblPr firstRow="1" bandRow="1"/>
              <a:tblGrid>
                <a:gridCol w="2976019">
                  <a:extLst>
                    <a:ext uri="{9D8B030D-6E8A-4147-A177-3AD203B41FA5}">
                      <a16:colId xmlns:a16="http://schemas.microsoft.com/office/drawing/2014/main" val="20000"/>
                    </a:ext>
                  </a:extLst>
                </a:gridCol>
                <a:gridCol w="1344009">
                  <a:extLst>
                    <a:ext uri="{9D8B030D-6E8A-4147-A177-3AD203B41FA5}">
                      <a16:colId xmlns:a16="http://schemas.microsoft.com/office/drawing/2014/main" val="20001"/>
                    </a:ext>
                  </a:extLst>
                </a:gridCol>
                <a:gridCol w="4128027">
                  <a:extLst>
                    <a:ext uri="{9D8B030D-6E8A-4147-A177-3AD203B41FA5}">
                      <a16:colId xmlns:a16="http://schemas.microsoft.com/office/drawing/2014/main" val="20002"/>
                    </a:ext>
                  </a:extLst>
                </a:gridCol>
                <a:gridCol w="1534145">
                  <a:extLst>
                    <a:ext uri="{9D8B030D-6E8A-4147-A177-3AD203B41FA5}">
                      <a16:colId xmlns:a16="http://schemas.microsoft.com/office/drawing/2014/main" val="20003"/>
                    </a:ext>
                  </a:extLst>
                </a:gridCol>
              </a:tblGrid>
              <a:tr h="456329">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nSpc>
                          <a:spcPct val="100000"/>
                        </a:lnSpc>
                        <a:spcBef>
                          <a:spcPts val="0"/>
                        </a:spcBef>
                        <a:spcAft>
                          <a:spcPts val="1000"/>
                        </a:spcAft>
                      </a:pPr>
                      <a:r>
                        <a:rPr lang="en-US" sz="2800" dirty="0">
                          <a:solidFill>
                            <a:schemeClr val="tx1"/>
                          </a:solidFill>
                          <a:effectLst/>
                          <a:latin typeface="Arial" panose="020B0604020202020204" pitchFamily="34" charset="0"/>
                          <a:cs typeface="Arial" panose="020B0604020202020204" pitchFamily="34" charset="0"/>
                        </a:rPr>
                        <a:t>Assets</a:t>
                      </a:r>
                      <a:endParaRPr lang="en-US" sz="2800" dirty="0">
                        <a:solidFill>
                          <a:schemeClr val="tx1"/>
                        </a:solidFill>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lnSpc>
                          <a:spcPct val="100000"/>
                        </a:lnSpc>
                        <a:spcBef>
                          <a:spcPts val="0"/>
                        </a:spcBef>
                        <a:spcAft>
                          <a:spcPts val="1000"/>
                        </a:spcAft>
                      </a:pPr>
                      <a:r>
                        <a:rPr lang="en-US" sz="2800" dirty="0">
                          <a:solidFill>
                            <a:schemeClr val="tx1"/>
                          </a:solidFill>
                          <a:effectLst/>
                          <a:latin typeface="Arial" panose="020B0604020202020204" pitchFamily="34" charset="0"/>
                          <a:cs typeface="Arial" panose="020B0604020202020204" pitchFamily="34" charset="0"/>
                        </a:rPr>
                        <a:t>2019 </a:t>
                      </a:r>
                      <a:endParaRPr lang="en-US" sz="2800" dirty="0">
                        <a:solidFill>
                          <a:schemeClr val="tx1"/>
                        </a:solidFill>
                        <a:effectLst/>
                        <a:latin typeface="Arial" panose="020B0604020202020204" pitchFamily="34" charset="0"/>
                        <a:ea typeface="Calibri"/>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182880" marR="0">
                        <a:lnSpc>
                          <a:spcPct val="100000"/>
                        </a:lnSpc>
                        <a:spcBef>
                          <a:spcPts val="0"/>
                        </a:spcBef>
                        <a:spcAft>
                          <a:spcPts val="1000"/>
                        </a:spcAft>
                      </a:pPr>
                      <a:r>
                        <a:rPr lang="en-US" sz="2800" dirty="0">
                          <a:solidFill>
                            <a:schemeClr val="tx1"/>
                          </a:solidFill>
                          <a:effectLst/>
                          <a:latin typeface="Arial" panose="020B0604020202020204" pitchFamily="34" charset="0"/>
                          <a:cs typeface="Arial" panose="020B0604020202020204" pitchFamily="34" charset="0"/>
                        </a:rPr>
                        <a:t>Liab. &amp; Equity</a:t>
                      </a:r>
                      <a:endParaRPr lang="en-US" sz="2800" dirty="0">
                        <a:solidFill>
                          <a:schemeClr val="tx1"/>
                        </a:solidFill>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lnSpc>
                          <a:spcPct val="100000"/>
                        </a:lnSpc>
                        <a:spcBef>
                          <a:spcPts val="0"/>
                        </a:spcBef>
                        <a:spcAft>
                          <a:spcPts val="1000"/>
                        </a:spcAft>
                      </a:pPr>
                      <a:r>
                        <a:rPr lang="en-US" sz="2800" dirty="0">
                          <a:solidFill>
                            <a:schemeClr val="tx1"/>
                          </a:solidFill>
                          <a:effectLst/>
                          <a:latin typeface="Arial" panose="020B0604020202020204" pitchFamily="34" charset="0"/>
                          <a:cs typeface="Arial" panose="020B0604020202020204" pitchFamily="34" charset="0"/>
                        </a:rPr>
                        <a:t>2019 </a:t>
                      </a:r>
                      <a:endParaRPr lang="en-US" sz="2800" dirty="0">
                        <a:solidFill>
                          <a:schemeClr val="tx1"/>
                        </a:solidFill>
                        <a:effectLst/>
                        <a:latin typeface="Arial" panose="020B0604020202020204" pitchFamily="34" charset="0"/>
                        <a:ea typeface="Calibri"/>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Cash</a:t>
                      </a:r>
                      <a:endParaRPr lang="en-US" sz="2800" b="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$90</a:t>
                      </a: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Accts. pay. &amp; accruals</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$1,620</a:t>
                      </a:r>
                      <a:endParaRPr lang="en-US" sz="280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Accts. rec.</a:t>
                      </a:r>
                      <a:endParaRPr lang="en-US" sz="2800" b="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1,260</a:t>
                      </a: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Line of credit</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0</a:t>
                      </a:r>
                      <a:endParaRPr lang="en-US" sz="2800" dirty="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Inventories</a:t>
                      </a:r>
                      <a:endParaRPr lang="en-US" sz="2800" b="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1,440</a:t>
                      </a: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Total CL</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$1,620</a:t>
                      </a:r>
                      <a:endParaRPr lang="en-US" sz="280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marR="0" algn="l" defTabSz="914400" rtl="0" eaLnBrk="1" latinLnBrk="0" hangingPunct="1">
                        <a:lnSpc>
                          <a:spcPct val="100000"/>
                        </a:lnSpc>
                        <a:spcBef>
                          <a:spcPts val="0"/>
                        </a:spcBef>
                        <a:spcAft>
                          <a:spcPts val="1000"/>
                        </a:spcAft>
                      </a:pPr>
                      <a:r>
                        <a:rPr lang="en-US" sz="2800" kern="1200" dirty="0">
                          <a:solidFill>
                            <a:schemeClr val="dk1"/>
                          </a:solidFill>
                          <a:effectLst/>
                          <a:latin typeface="Arial" panose="020B0604020202020204" pitchFamily="34" charset="0"/>
                          <a:ea typeface=""/>
                          <a:cs typeface="Arial" panose="020B0604020202020204" pitchFamily="34" charset="0"/>
                        </a:rPr>
                        <a:t>Total CA</a:t>
                      </a: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$2,790</a:t>
                      </a: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Long-term debt</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1,800</a:t>
                      </a:r>
                      <a:endParaRPr lang="en-US" sz="2800" dirty="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Net fixed assets</a:t>
                      </a:r>
                      <a:endParaRPr lang="en-US" sz="2800" b="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3,600</a:t>
                      </a: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marR="0" algn="l" defTabSz="914400" rtl="0" eaLnBrk="1" latinLnBrk="0" hangingPunct="1">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T</a:t>
                      </a:r>
                      <a:r>
                        <a:rPr lang="en-US" sz="2800" kern="1200" dirty="0">
                          <a:solidFill>
                            <a:schemeClr val="dk1"/>
                          </a:solidFill>
                          <a:effectLst/>
                          <a:latin typeface="Arial" panose="020B0604020202020204" pitchFamily="34" charset="0"/>
                          <a:ea typeface=""/>
                          <a:cs typeface="Arial" panose="020B0604020202020204" pitchFamily="34" charset="0"/>
                        </a:rPr>
                        <a:t>otal liabilities</a:t>
                      </a: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$3,420</a:t>
                      </a:r>
                      <a:endParaRPr lang="en-US" sz="280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marR="0" algn="l" defTabSz="914400" rtl="0" eaLnBrk="1" latinLnBrk="0" hangingPunct="1">
                        <a:lnSpc>
                          <a:spcPct val="100000"/>
                        </a:lnSpc>
                        <a:spcBef>
                          <a:spcPts val="0"/>
                        </a:spcBef>
                        <a:spcAft>
                          <a:spcPts val="1000"/>
                        </a:spcAft>
                      </a:pPr>
                      <a:r>
                        <a:rPr lang="en-US" sz="2800" kern="1200" dirty="0">
                          <a:solidFill>
                            <a:schemeClr val="dk1"/>
                          </a:solidFill>
                          <a:effectLst/>
                          <a:latin typeface="Arial" panose="020B0604020202020204" pitchFamily="34" charset="0"/>
                          <a:ea typeface=""/>
                          <a:cs typeface="Arial" panose="020B0604020202020204" pitchFamily="34" charset="0"/>
                        </a:rPr>
                        <a:t>Total assets</a:t>
                      </a: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$6,390</a:t>
                      </a: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Common stock</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$2,100</a:t>
                      </a:r>
                      <a:endParaRPr lang="en-US" sz="2800" dirty="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 </a:t>
                      </a:r>
                      <a:endParaRPr lang="en-US" sz="2800" b="0" dirty="0">
                        <a:effectLst/>
                        <a:latin typeface="Arial" panose="020B0604020202020204" pitchFamily="34" charset="0"/>
                        <a:ea typeface="Calibri"/>
                        <a:cs typeface="Arial" panose="020B0604020202020204" pitchFamily="34" charset="0"/>
                      </a:endParaRPr>
                    </a:p>
                  </a:txBody>
                  <a:tcPr marL="85562" marR="85562"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 </a:t>
                      </a:r>
                      <a:endParaRPr lang="en-US" sz="2800" dirty="0">
                        <a:effectLst/>
                        <a:latin typeface="Arial" panose="020B0604020202020204" pitchFamily="34" charset="0"/>
                        <a:ea typeface="Calibri"/>
                        <a:cs typeface="Arial" panose="020B0604020202020204" pitchFamily="34" charset="0"/>
                      </a:endParaRPr>
                    </a:p>
                  </a:txBody>
                  <a:tcPr marL="85562" marR="85562"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Retained earnings</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870</a:t>
                      </a:r>
                      <a:endParaRPr lang="en-US" sz="2800" dirty="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 </a:t>
                      </a:r>
                      <a:endParaRPr lang="en-US" sz="2800" b="0" dirty="0">
                        <a:effectLst/>
                        <a:latin typeface="Arial" panose="020B0604020202020204" pitchFamily="34" charset="0"/>
                        <a:ea typeface="Calibri"/>
                        <a:cs typeface="Arial" panose="020B0604020202020204" pitchFamily="34" charset="0"/>
                      </a:endParaRPr>
                    </a:p>
                  </a:txBody>
                  <a:tcPr marL="85562" marR="85562"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 </a:t>
                      </a:r>
                      <a:endParaRPr lang="en-US" sz="2800" dirty="0">
                        <a:effectLst/>
                        <a:latin typeface="Arial" panose="020B0604020202020204" pitchFamily="34" charset="0"/>
                        <a:ea typeface="Calibri"/>
                        <a:cs typeface="Arial" panose="020B0604020202020204" pitchFamily="34" charset="0"/>
                      </a:endParaRPr>
                    </a:p>
                  </a:txBody>
                  <a:tcPr marL="85562" marR="85562"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marR="0" algn="l" defTabSz="914400" rtl="0" eaLnBrk="1" latinLnBrk="0" hangingPunct="1">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T</a:t>
                      </a:r>
                      <a:r>
                        <a:rPr lang="en-US" sz="2800" kern="1200" dirty="0">
                          <a:solidFill>
                            <a:schemeClr val="dk1"/>
                          </a:solidFill>
                          <a:effectLst/>
                          <a:latin typeface="Arial" panose="020B0604020202020204" pitchFamily="34" charset="0"/>
                          <a:ea typeface=""/>
                          <a:cs typeface="Arial" panose="020B0604020202020204" pitchFamily="34" charset="0"/>
                        </a:rPr>
                        <a:t>otal common </a:t>
                      </a:r>
                      <a:r>
                        <a:rPr lang="en-US" sz="2800" kern="1200" dirty="0" err="1">
                          <a:solidFill>
                            <a:schemeClr val="dk1"/>
                          </a:solidFill>
                          <a:effectLst/>
                          <a:latin typeface="Arial" panose="020B0604020202020204" pitchFamily="34" charset="0"/>
                          <a:ea typeface=""/>
                          <a:cs typeface="Arial" panose="020B0604020202020204" pitchFamily="34" charset="0"/>
                        </a:rPr>
                        <a:t>equ</a:t>
                      </a:r>
                      <a:r>
                        <a:rPr lang="en-US" sz="2800" kern="1200" dirty="0">
                          <a:solidFill>
                            <a:schemeClr val="dk1"/>
                          </a:solidFill>
                          <a:effectLst/>
                          <a:latin typeface="Arial" panose="020B0604020202020204" pitchFamily="34" charset="0"/>
                          <a:ea typeface=""/>
                          <a:cs typeface="Arial" panose="020B0604020202020204" pitchFamily="34" charset="0"/>
                        </a:rPr>
                        <a:t>.</a:t>
                      </a: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$2,970</a:t>
                      </a:r>
                      <a:endParaRPr lang="en-US" sz="2800" dirty="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456329">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 </a:t>
                      </a:r>
                      <a:endParaRPr lang="en-US" sz="2800" b="0" dirty="0">
                        <a:effectLst/>
                        <a:latin typeface="Arial" panose="020B0604020202020204" pitchFamily="34" charset="0"/>
                        <a:ea typeface="Calibri"/>
                        <a:cs typeface="Arial" panose="020B0604020202020204" pitchFamily="34" charset="0"/>
                      </a:endParaRPr>
                    </a:p>
                  </a:txBody>
                  <a:tcPr marL="85562" marR="85562"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 </a:t>
                      </a:r>
                      <a:endParaRPr lang="en-US" sz="2800" dirty="0">
                        <a:effectLst/>
                        <a:latin typeface="Arial" panose="020B0604020202020204" pitchFamily="34" charset="0"/>
                        <a:ea typeface="Calibri"/>
                        <a:cs typeface="Arial" panose="020B0604020202020204" pitchFamily="34" charset="0"/>
                      </a:endParaRPr>
                    </a:p>
                  </a:txBody>
                  <a:tcPr marL="85562" marR="85562"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1000"/>
                        </a:spcAft>
                      </a:pPr>
                      <a:r>
                        <a:rPr lang="en-US" sz="2800" dirty="0">
                          <a:effectLst/>
                          <a:latin typeface="Arial" panose="020B0604020202020204" pitchFamily="34" charset="0"/>
                          <a:cs typeface="Arial" panose="020B0604020202020204" pitchFamily="34" charset="0"/>
                        </a:rPr>
                        <a:t>Total liab. &amp; equity</a:t>
                      </a:r>
                      <a:endParaRPr lang="en-US" sz="2800" dirty="0">
                        <a:effectLst/>
                        <a:latin typeface="Arial" panose="020B0604020202020204" pitchFamily="34" charset="0"/>
                        <a:ea typeface="Calibri"/>
                        <a:cs typeface="Arial" panose="020B0604020202020204" pitchFamily="34" charset="0"/>
                      </a:endParaRPr>
                    </a:p>
                  </a:txBody>
                  <a:tcPr marL="85562" marR="85562"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00000"/>
                        </a:lnSpc>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$6,390</a:t>
                      </a:r>
                      <a:endParaRPr lang="en-US" sz="2800" dirty="0">
                        <a:effectLst/>
                        <a:latin typeface="Arial" panose="020B0604020202020204" pitchFamily="34" charset="0"/>
                        <a:ea typeface="Calibri" panose="020F0502020204030204" pitchFamily="34" charset="0"/>
                        <a:cs typeface="Arial" panose="020B0604020202020204" pitchFamily="34" charset="0"/>
                      </a:endParaRPr>
                    </a:p>
                  </a:txBody>
                  <a:tcPr marL="85562" marR="85562"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901947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Income Statement, Hatfield, 2019</a:t>
            </a:r>
          </a:p>
        </p:txBody>
      </p:sp>
      <p:graphicFrame>
        <p:nvGraphicFramePr>
          <p:cNvPr id="12" name="Table 2" descr="A table shows income statement, hatfield 2019. Income statements are sales, Op.costs (excl.depr) and depreciation for 2019 are $9000.9, 8100.9 and 360.0. The E B I T and interest for 2019 are $540.0 and 144.0. The pretax earnings and taxes 40 percent for 2019 are $396.0 and 99.0. The net income for 2019 is $297.0. Additional data are dividends, add. To R E, common shares, E P S, D P S and ending stock price for 2019 are $100, $197, 50, $5.94, $2.00 and $41.00."/>
          <p:cNvGraphicFramePr>
            <a:graphicFrameLocks noGrp="1"/>
          </p:cNvGraphicFramePr>
          <p:nvPr>
            <p:ph idx="1"/>
            <p:extLst>
              <p:ext uri="{D42A27DB-BD31-4B8C-83A1-F6EECF244321}">
                <p14:modId xmlns:p14="http://schemas.microsoft.com/office/powerpoint/2010/main" val="1351457986"/>
              </p:ext>
            </p:extLst>
          </p:nvPr>
        </p:nvGraphicFramePr>
        <p:xfrm>
          <a:off x="650231" y="1458914"/>
          <a:ext cx="10891539" cy="3940173"/>
        </p:xfrm>
        <a:graphic>
          <a:graphicData uri="http://schemas.openxmlformats.org/drawingml/2006/table">
            <a:tbl>
              <a:tblPr firstRow="1" bandRow="1"/>
              <a:tblGrid>
                <a:gridCol w="3630512">
                  <a:extLst>
                    <a:ext uri="{9D8B030D-6E8A-4147-A177-3AD203B41FA5}">
                      <a16:colId xmlns:a16="http://schemas.microsoft.com/office/drawing/2014/main" val="20000"/>
                    </a:ext>
                  </a:extLst>
                </a:gridCol>
                <a:gridCol w="2028816">
                  <a:extLst>
                    <a:ext uri="{9D8B030D-6E8A-4147-A177-3AD203B41FA5}">
                      <a16:colId xmlns:a16="http://schemas.microsoft.com/office/drawing/2014/main" val="20001"/>
                    </a:ext>
                  </a:extLst>
                </a:gridCol>
                <a:gridCol w="3556589">
                  <a:extLst>
                    <a:ext uri="{9D8B030D-6E8A-4147-A177-3AD203B41FA5}">
                      <a16:colId xmlns:a16="http://schemas.microsoft.com/office/drawing/2014/main" val="20002"/>
                    </a:ext>
                  </a:extLst>
                </a:gridCol>
                <a:gridCol w="1675622">
                  <a:extLst>
                    <a:ext uri="{9D8B030D-6E8A-4147-A177-3AD203B41FA5}">
                      <a16:colId xmlns:a16="http://schemas.microsoft.com/office/drawing/2014/main" val="20003"/>
                    </a:ext>
                  </a:extLst>
                </a:gridCol>
              </a:tblGrid>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b="1" i="0" u="none" strike="noStrike" dirty="0">
                          <a:solidFill>
                            <a:srgbClr val="000000"/>
                          </a:solidFill>
                          <a:effectLst/>
                          <a:latin typeface="Arial" panose="020B0604020202020204" pitchFamily="34" charset="0"/>
                          <a:cs typeface="Arial" panose="020B0604020202020204" pitchFamily="34" charset="0"/>
                        </a:rPr>
                        <a:t> Income Statement</a:t>
                      </a: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800" b="1" i="0" u="none" strike="noStrike" dirty="0">
                          <a:solidFill>
                            <a:srgbClr val="0000CC"/>
                          </a:solidFill>
                          <a:effectLst/>
                          <a:latin typeface="Arial" panose="020B0604020202020204" pitchFamily="34" charset="0"/>
                          <a:cs typeface="Arial" panose="020B0604020202020204" pitchFamily="34" charset="0"/>
                        </a:rPr>
                        <a:t>2019</a:t>
                      </a:r>
                    </a:p>
                  </a:txBody>
                  <a:tcPr marL="10678" marR="128136" marT="10678"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b="1" i="0" u="none" strike="noStrike" dirty="0">
                          <a:solidFill>
                            <a:srgbClr val="000000"/>
                          </a:solidFill>
                          <a:effectLst/>
                          <a:latin typeface="Arial" panose="020B0604020202020204" pitchFamily="34" charset="0"/>
                          <a:cs typeface="Arial" panose="020B0604020202020204" pitchFamily="34" charset="0"/>
                        </a:rPr>
                        <a:t>Additional Data</a:t>
                      </a: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800" b="1" i="0" u="none" strike="noStrike" dirty="0">
                          <a:solidFill>
                            <a:srgbClr val="0000CC"/>
                          </a:solidFill>
                          <a:effectLst/>
                          <a:latin typeface="Arial" panose="020B0604020202020204" pitchFamily="34" charset="0"/>
                          <a:cs typeface="Arial" panose="020B0604020202020204" pitchFamily="34" charset="0"/>
                        </a:rPr>
                        <a:t>2019</a:t>
                      </a:r>
                    </a:p>
                  </a:txBody>
                  <a:tcPr marL="10678" marR="128136" marT="10678"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2023180612"/>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Sales</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$9,000.9</a:t>
                      </a:r>
                    </a:p>
                  </a:txBody>
                  <a:tcPr marL="96102" marR="96102" marT="0" marB="0"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u="none" strike="noStrike" dirty="0">
                          <a:effectLst/>
                          <a:latin typeface="Arial" panose="020B0604020202020204" pitchFamily="34" charset="0"/>
                          <a:cs typeface="Arial" panose="020B0604020202020204" pitchFamily="34" charset="0"/>
                        </a:rPr>
                        <a:t>Dividends</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$100 </a:t>
                      </a:r>
                    </a:p>
                  </a:txBody>
                  <a:tcPr marL="96102" marR="96102" marT="0" marB="0"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0"/>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Op. costs (excl. depr.)</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8,100.9</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u="none" strike="noStrike" dirty="0">
                          <a:effectLst/>
                          <a:latin typeface="Arial" panose="020B0604020202020204" pitchFamily="34" charset="0"/>
                          <a:cs typeface="Arial" panose="020B0604020202020204" pitchFamily="34" charset="0"/>
                        </a:rPr>
                        <a:t>Add. to RE</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$197 </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Depreciation</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360.0</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u="none" strike="noStrike" dirty="0">
                          <a:effectLst/>
                          <a:latin typeface="Arial" panose="020B0604020202020204" pitchFamily="34" charset="0"/>
                          <a:cs typeface="Arial" panose="020B0604020202020204" pitchFamily="34" charset="0"/>
                        </a:rPr>
                        <a:t>Common shares</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50 </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EBIT</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28136"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$540.0</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u="none" strike="noStrike" dirty="0">
                          <a:effectLst/>
                          <a:latin typeface="Arial" panose="020B0604020202020204" pitchFamily="34" charset="0"/>
                          <a:cs typeface="Arial" panose="020B0604020202020204" pitchFamily="34" charset="0"/>
                        </a:rPr>
                        <a:t>EPS</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$5.94 </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Interest</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144.0</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u="none" strike="noStrike" dirty="0">
                          <a:effectLst/>
                          <a:latin typeface="Arial" panose="020B0604020202020204" pitchFamily="34" charset="0"/>
                          <a:cs typeface="Arial" panose="020B0604020202020204" pitchFamily="34" charset="0"/>
                        </a:rPr>
                        <a:t>DPS</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$2.00 </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Pretax earnings</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28136"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$396.0</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r>
                        <a:rPr lang="en-US" sz="2800" u="none" strike="noStrike" dirty="0">
                          <a:effectLst/>
                          <a:latin typeface="Arial" panose="020B0604020202020204" pitchFamily="34" charset="0"/>
                          <a:cs typeface="Arial" panose="020B0604020202020204" pitchFamily="34" charset="0"/>
                        </a:rPr>
                        <a:t>Ending stock price</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$41.00 </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Taxes (40%)</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99.0</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43779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r>
                        <a:rPr lang="en-US" sz="2800" u="none" strike="noStrike" dirty="0">
                          <a:effectLst/>
                          <a:latin typeface="Arial" panose="020B0604020202020204" pitchFamily="34" charset="0"/>
                          <a:cs typeface="Arial" panose="020B0604020202020204" pitchFamily="34" charset="0"/>
                        </a:rPr>
                        <a:t>Net income</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28136"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$297.0</a:t>
                      </a:r>
                    </a:p>
                  </a:txBody>
                  <a:tcPr marL="96102" marR="96102"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182880" algn="l" fontAlgn="b"/>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10678" marR="10678" marT="10678"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16029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Selected Additional Data and Ratios</a:t>
            </a:r>
          </a:p>
        </p:txBody>
      </p:sp>
      <p:graphicFrame>
        <p:nvGraphicFramePr>
          <p:cNvPr id="7" name="Table 2" descr="A table shows a selected additional data and ratios. Operating data’s are within parenthesis Op. Costs divided by sales, depr divided by F A, cash divided by sales, receivables divided by sales, inventories divided by sales, within parenthesis fixed assets divided by sales, within parenthesis AP &amp;accr divided by sales and tax rate for hatfield are 90 percent, 10 percent, 1 percent, 14 percent, 16 percent, 40 percent, 18 percent and 25 percent for Ind are 88 percent, 12 percent, 1 percent, 11 percent, 15 percent, 32 percent, 12 percent and 25 percent. Other rations are debt divided by T A , T L divided by T A, times int. earned, R O A, profit margin (M), sales divided by assets, R O E and P divided by E ratio for hatfield are 28.2 percent, 53.5 percent, 3.8, 4.6 percent, 3.30 percent, 1.41, 10.0 percent and 6.9 for 16.9 percent, 37.3 percent, 10.2, 9.4 percent, 5.52 percent, 1.69, 7.1 percent and 16.0. The values of OP ratio, C R ratio, and R O I C for hatfield are 4.5 percent, 53.0 percent, and 8.5 percent and for ind is 6.1 percent, 47.0 percent, and 13.0 percent."/>
          <p:cNvGraphicFramePr>
            <a:graphicFrameLocks noGrp="1"/>
          </p:cNvGraphicFramePr>
          <p:nvPr>
            <p:ph idx="1"/>
            <p:extLst>
              <p:ext uri="{D42A27DB-BD31-4B8C-83A1-F6EECF244321}">
                <p14:modId xmlns:p14="http://schemas.microsoft.com/office/powerpoint/2010/main" val="2628760126"/>
              </p:ext>
            </p:extLst>
          </p:nvPr>
        </p:nvGraphicFramePr>
        <p:xfrm>
          <a:off x="1066800" y="1051560"/>
          <a:ext cx="10058400" cy="475488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731520">
                <a:tc>
                  <a:txBody>
                    <a:bodyPr/>
                    <a:lstStyle/>
                    <a:p>
                      <a:pPr marL="0" marR="0">
                        <a:lnSpc>
                          <a:spcPct val="100000"/>
                        </a:lnSpc>
                        <a:spcBef>
                          <a:spcPts val="0"/>
                        </a:spcBef>
                        <a:spcAft>
                          <a:spcPts val="0"/>
                        </a:spcAft>
                      </a:pPr>
                      <a:r>
                        <a:rPr lang="en-US" sz="2400" b="1" dirty="0">
                          <a:solidFill>
                            <a:schemeClr val="tx1"/>
                          </a:solidFill>
                          <a:effectLst/>
                          <a:latin typeface="Arial" panose="020B0604020202020204" pitchFamily="34" charset="0"/>
                          <a:cs typeface="Arial" panose="020B0604020202020204" pitchFamily="34" charset="0"/>
                        </a:rPr>
                        <a:t>Operating Data</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u="none" baseline="0" dirty="0">
                          <a:solidFill>
                            <a:schemeClr val="tx1"/>
                          </a:solidFill>
                          <a:effectLst/>
                          <a:latin typeface="Arial" panose="020B0604020202020204" pitchFamily="34" charset="0"/>
                          <a:cs typeface="Arial" panose="020B0604020202020204" pitchFamily="34" charset="0"/>
                        </a:rPr>
                        <a:t>Hatfield</a:t>
                      </a:r>
                      <a:endParaRPr lang="en-US" sz="2400" b="1" u="none" baseline="0" dirty="0">
                        <a:solidFill>
                          <a:schemeClr val="tx1"/>
                        </a:solidFill>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u="none" baseline="0" dirty="0">
                          <a:solidFill>
                            <a:schemeClr val="tx1"/>
                          </a:solidFill>
                          <a:effectLst/>
                          <a:latin typeface="Arial" panose="020B0604020202020204" pitchFamily="34" charset="0"/>
                          <a:ea typeface="Times New Roman"/>
                          <a:cs typeface="Arial" panose="020B0604020202020204" pitchFamily="34" charset="0"/>
                        </a:rPr>
                        <a:t>Ind.</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spcBef>
                          <a:spcPts val="0"/>
                        </a:spcBef>
                        <a:spcAft>
                          <a:spcPts val="0"/>
                        </a:spcAft>
                      </a:pPr>
                      <a:r>
                        <a:rPr lang="en-US" sz="2400" b="1" u="none" baseline="0" dirty="0">
                          <a:solidFill>
                            <a:schemeClr val="tx1"/>
                          </a:solidFill>
                          <a:effectLst/>
                          <a:latin typeface="Arial" panose="020B0604020202020204" pitchFamily="34" charset="0"/>
                          <a:cs typeface="Arial" panose="020B0604020202020204" pitchFamily="34" charset="0"/>
                        </a:rPr>
                        <a:t>Other Ratios</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u="none" baseline="0" dirty="0">
                          <a:solidFill>
                            <a:schemeClr val="tx1"/>
                          </a:solidFill>
                          <a:effectLst/>
                          <a:latin typeface="Arial" panose="020B0604020202020204" pitchFamily="34" charset="0"/>
                          <a:cs typeface="Arial" panose="020B0604020202020204" pitchFamily="34" charset="0"/>
                        </a:rPr>
                        <a:t>Hatfield</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u="none" baseline="0" dirty="0">
                          <a:solidFill>
                            <a:schemeClr val="tx1"/>
                          </a:solidFill>
                          <a:effectLst/>
                          <a:latin typeface="Arial" panose="020B0604020202020204" pitchFamily="34" charset="0"/>
                          <a:cs typeface="Arial" panose="020B0604020202020204" pitchFamily="34" charset="0"/>
                        </a:rPr>
                        <a:t>Ind.</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(Op. costs)/Sales</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90%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88%</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Debt/TA</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28.2%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16.9%</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Depr./FA</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10%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12%</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TL/TA</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53.5%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37.3%</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Cash/Sales</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a:solidFill>
                            <a:srgbClr val="003300"/>
                          </a:solidFill>
                          <a:effectLst/>
                          <a:latin typeface="Arial" panose="020B0604020202020204" pitchFamily="34" charset="0"/>
                          <a:ea typeface="Times New Roman" panose="02020603050405020304" pitchFamily="18" charset="0"/>
                          <a:cs typeface="Arial" panose="020B0604020202020204" pitchFamily="34" charset="0"/>
                        </a:rPr>
                        <a:t>Times int. earned</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3.8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10.2</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Receivables/Sales</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11%</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a:solidFill>
                            <a:srgbClr val="003300"/>
                          </a:solidFill>
                          <a:effectLst/>
                          <a:latin typeface="Arial" panose="020B0604020202020204" pitchFamily="34" charset="0"/>
                          <a:ea typeface="Times New Roman" panose="02020603050405020304" pitchFamily="18" charset="0"/>
                          <a:cs typeface="Arial" panose="020B0604020202020204" pitchFamily="34" charset="0"/>
                        </a:rPr>
                        <a:t>ROA</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4.6%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9.4%</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Inventories/Sales</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15%</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Profit margin (M)</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3.30%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5.52%</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(Fixed assets/Sales</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40%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32%</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a:solidFill>
                            <a:srgbClr val="003300"/>
                          </a:solidFill>
                          <a:effectLst/>
                          <a:latin typeface="Arial" panose="020B0604020202020204" pitchFamily="34" charset="0"/>
                          <a:ea typeface="Times New Roman" panose="02020603050405020304" pitchFamily="18" charset="0"/>
                          <a:cs typeface="Arial" panose="020B0604020202020204" pitchFamily="34" charset="0"/>
                        </a:rPr>
                        <a:t>Sales/Assets</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1.41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1.69</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(AP &amp; </a:t>
                      </a:r>
                      <a:r>
                        <a:rPr lang="en-US" sz="2400" dirty="0" err="1">
                          <a:effectLst/>
                          <a:latin typeface="Arial" panose="020B0604020202020204" pitchFamily="34" charset="0"/>
                          <a:cs typeface="Arial" panose="020B0604020202020204" pitchFamily="34" charset="0"/>
                        </a:rPr>
                        <a:t>accr</a:t>
                      </a:r>
                      <a:r>
                        <a:rPr lang="en-US" sz="2400" dirty="0">
                          <a:effectLst/>
                          <a:latin typeface="Arial" panose="020B0604020202020204" pitchFamily="34" charset="0"/>
                          <a:cs typeface="Arial" panose="020B0604020202020204" pitchFamily="34" charset="0"/>
                        </a:rPr>
                        <a:t>.)/Sales</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12%</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a:solidFill>
                            <a:srgbClr val="003300"/>
                          </a:solidFill>
                          <a:effectLst/>
                          <a:latin typeface="Arial" panose="020B0604020202020204" pitchFamily="34" charset="0"/>
                          <a:ea typeface="Times New Roman" panose="02020603050405020304" pitchFamily="18" charset="0"/>
                          <a:cs typeface="Arial" panose="020B0604020202020204" pitchFamily="34" charset="0"/>
                        </a:rPr>
                        <a:t>ROE</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7.1%</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00000"/>
                        </a:lnSpc>
                        <a:spcBef>
                          <a:spcPts val="0"/>
                        </a:spcBef>
                        <a:spcAft>
                          <a:spcPts val="0"/>
                        </a:spcAft>
                      </a:pPr>
                      <a:r>
                        <a:rPr lang="en-US" sz="2400" dirty="0">
                          <a:effectLst/>
                          <a:latin typeface="Arial" panose="020B0604020202020204" pitchFamily="34" charset="0"/>
                          <a:cs typeface="Arial" panose="020B0604020202020204" pitchFamily="34" charset="0"/>
                        </a:rPr>
                        <a:t>Tax rate</a:t>
                      </a:r>
                      <a:endParaRPr lang="en-US" sz="2400" dirty="0">
                        <a:effectLst/>
                        <a:latin typeface="Arial" panose="020B0604020202020204" pitchFamily="34" charset="0"/>
                        <a:ea typeface="Times New Roman"/>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25%</a:t>
                      </a: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25%</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a:solidFill>
                            <a:srgbClr val="003300"/>
                          </a:solidFill>
                          <a:effectLst/>
                          <a:latin typeface="Arial" panose="020B0604020202020204" pitchFamily="34" charset="0"/>
                          <a:ea typeface="Times New Roman" panose="02020603050405020304" pitchFamily="18" charset="0"/>
                          <a:cs typeface="Arial" panose="020B0604020202020204" pitchFamily="34" charset="0"/>
                        </a:rPr>
                        <a:t>P/E ratio</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6.9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16.0</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OP ratio</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4.5%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6.1%</a:t>
                      </a:r>
                    </a:p>
                  </a:txBody>
                  <a:tcPr marL="75031" marR="75031"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6E7CB"/>
                    </a:solidFill>
                  </a:tcPr>
                </a:tc>
                <a:extLst>
                  <a:ext uri="{0D108BD9-81ED-4DB2-BD59-A6C34878D82A}">
                    <a16:rowId xmlns:a16="http://schemas.microsoft.com/office/drawing/2014/main" val="10009"/>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AF3E7"/>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AF3E7"/>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AF3E7"/>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CR ratio</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AF3E7"/>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53.0%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AF3E7"/>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47.0%</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AF3E7"/>
                    </a:solidFill>
                  </a:tcPr>
                </a:tc>
                <a:extLst>
                  <a:ext uri="{0D108BD9-81ED-4DB2-BD59-A6C34878D82A}">
                    <a16:rowId xmlns:a16="http://schemas.microsoft.com/office/drawing/2014/main" val="10010"/>
                  </a:ext>
                </a:extLst>
              </a:tr>
              <a:tr h="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latin typeface="Arial" panose="020B0604020202020204" pitchFamily="34" charset="0"/>
                        <a:cs typeface="Arial" panose="020B0604020202020204" pitchFamily="34" charset="0"/>
                      </a:endParaRP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ROIC</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8.5%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75031" marR="75031"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6E7CB"/>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13.0%</a:t>
                      </a:r>
                    </a:p>
                  </a:txBody>
                  <a:tcPr marL="75031" marR="75031"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6E7CB"/>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7894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Hatfield to Industry: Operations</a:t>
            </a:r>
          </a:p>
        </p:txBody>
      </p:sp>
      <p:sp>
        <p:nvSpPr>
          <p:cNvPr id="3" name="Content Placeholder 2"/>
          <p:cNvSpPr>
            <a:spLocks noGrp="1"/>
          </p:cNvSpPr>
          <p:nvPr>
            <p:ph idx="1"/>
          </p:nvPr>
        </p:nvSpPr>
        <p:spPr/>
        <p:txBody>
          <a:bodyPr/>
          <a:lstStyle/>
          <a:p>
            <a:pPr>
              <a:spcBef>
                <a:spcPts val="0"/>
              </a:spcBef>
              <a:spcAft>
                <a:spcPts val="0"/>
              </a:spcAft>
            </a:pPr>
            <a:r>
              <a:rPr lang="en-US" dirty="0"/>
              <a:t>Hatfield has a lower operating profitability (OP) ratio:</a:t>
            </a:r>
          </a:p>
          <a:p>
            <a:pPr lvl="1">
              <a:spcBef>
                <a:spcPts val="0"/>
              </a:spcBef>
              <a:spcAft>
                <a:spcPts val="0"/>
              </a:spcAft>
            </a:pPr>
            <a:r>
              <a:rPr lang="en-US" dirty="0"/>
              <a:t>4.5% vs. 6.1%</a:t>
            </a:r>
          </a:p>
          <a:p>
            <a:pPr>
              <a:spcBef>
                <a:spcPts val="0"/>
              </a:spcBef>
              <a:spcAft>
                <a:spcPts val="0"/>
              </a:spcAft>
            </a:pPr>
            <a:r>
              <a:rPr lang="en-US" dirty="0"/>
              <a:t>Hatfield has a worse capital requirement CR ratio</a:t>
            </a:r>
          </a:p>
          <a:p>
            <a:pPr lvl="1">
              <a:spcBef>
                <a:spcPts val="0"/>
              </a:spcBef>
              <a:spcAft>
                <a:spcPts val="0"/>
              </a:spcAft>
            </a:pPr>
            <a:r>
              <a:rPr lang="en-US" dirty="0"/>
              <a:t>53% vs. 47%</a:t>
            </a:r>
          </a:p>
          <a:p>
            <a:pPr>
              <a:spcBef>
                <a:spcPts val="0"/>
              </a:spcBef>
              <a:spcAft>
                <a:spcPts val="0"/>
              </a:spcAft>
            </a:pPr>
            <a:r>
              <a:rPr lang="en-US" dirty="0"/>
              <a:t>Hatfield has a lower ROIC</a:t>
            </a:r>
          </a:p>
          <a:p>
            <a:pPr lvl="1">
              <a:spcBef>
                <a:spcPts val="0"/>
              </a:spcBef>
              <a:spcAft>
                <a:spcPts val="0"/>
              </a:spcAft>
            </a:pPr>
            <a:r>
              <a:rPr lang="en-US" dirty="0"/>
              <a:t>8.5% vs. 13%</a:t>
            </a:r>
          </a:p>
          <a:p>
            <a:pPr lvl="1">
              <a:spcBef>
                <a:spcPts val="0"/>
              </a:spcBef>
              <a:spcAft>
                <a:spcPts val="0"/>
              </a:spcAft>
            </a:pPr>
            <a:r>
              <a:rPr lang="en-US" dirty="0"/>
              <a:t>Hatfield’s 8.5% ROIC is less than its 10% WACC</a:t>
            </a:r>
          </a:p>
          <a:p>
            <a:pPr>
              <a:spcBef>
                <a:spcPts val="0"/>
              </a:spcBef>
              <a:spcAft>
                <a:spcPts val="0"/>
              </a:spcAft>
            </a:pPr>
            <a:r>
              <a:rPr lang="en-US" dirty="0"/>
              <a:t>Conclusion: Hatfield’s overall operations are not as good as those of its competitors and Hatfield is not adding value for its investors.</a:t>
            </a:r>
          </a:p>
        </p:txBody>
      </p:sp>
    </p:spTree>
    <p:extLst>
      <p:ext uri="{BB962C8B-B14F-4D97-AF65-F5344CB8AC3E}">
        <p14:creationId xmlns:p14="http://schemas.microsoft.com/office/powerpoint/2010/main" val="2623243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Hatfield to Industry: Leverage and Risk</a:t>
            </a:r>
          </a:p>
        </p:txBody>
      </p:sp>
      <p:sp>
        <p:nvSpPr>
          <p:cNvPr id="3" name="Content Placeholder 2"/>
          <p:cNvSpPr>
            <a:spLocks noGrp="1"/>
          </p:cNvSpPr>
          <p:nvPr>
            <p:ph idx="1"/>
          </p:nvPr>
        </p:nvSpPr>
        <p:spPr/>
        <p:txBody>
          <a:bodyPr/>
          <a:lstStyle/>
          <a:p>
            <a:r>
              <a:rPr lang="en-US" dirty="0"/>
              <a:t>Its debt/TA ratio shows more leverage:</a:t>
            </a:r>
          </a:p>
          <a:p>
            <a:pPr lvl="1"/>
            <a:r>
              <a:rPr lang="en-US" dirty="0"/>
              <a:t> 28.2% vs. 16.9% </a:t>
            </a:r>
          </a:p>
          <a:p>
            <a:r>
              <a:rPr lang="en-US" dirty="0"/>
              <a:t>The TL/TA ratio also shows more leverage:</a:t>
            </a:r>
          </a:p>
          <a:p>
            <a:pPr lvl="1"/>
            <a:r>
              <a:rPr lang="en-US" dirty="0"/>
              <a:t>53.5% vs. 37.3%</a:t>
            </a:r>
          </a:p>
          <a:p>
            <a:r>
              <a:rPr lang="en-US" dirty="0"/>
              <a:t>The combination of higher interest payments and lower operating profitability cause Hatfield’s times interest earned ratio to be much lower than the industry average.</a:t>
            </a:r>
          </a:p>
        </p:txBody>
      </p:sp>
    </p:spTree>
    <p:extLst>
      <p:ext uri="{BB962C8B-B14F-4D97-AF65-F5344CB8AC3E}">
        <p14:creationId xmlns:p14="http://schemas.microsoft.com/office/powerpoint/2010/main" val="317172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Hatfield to Industry Using DuPont Equation (1 of 3)</a:t>
            </a:r>
          </a:p>
        </p:txBody>
      </p:sp>
      <p:sp>
        <p:nvSpPr>
          <p:cNvPr id="3" name="Content Placeholder 2"/>
          <p:cNvSpPr>
            <a:spLocks noGrp="1"/>
          </p:cNvSpPr>
          <p:nvPr>
            <p:ph idx="1"/>
          </p:nvPr>
        </p:nvSpPr>
        <p:spPr/>
        <p:txBody>
          <a:bodyPr/>
          <a:lstStyle/>
          <a:p>
            <a:pPr marL="0" indent="0">
              <a:spcBef>
                <a:spcPts val="0"/>
              </a:spcBef>
              <a:buNone/>
            </a:pPr>
            <a:r>
              <a:rPr lang="en-US" dirty="0"/>
              <a:t>M = Profit margin = NI/Sales</a:t>
            </a:r>
          </a:p>
          <a:p>
            <a:pPr marL="0" indent="0">
              <a:spcBef>
                <a:spcPts val="0"/>
              </a:spcBef>
              <a:buNone/>
            </a:pPr>
            <a:r>
              <a:rPr lang="en-US" dirty="0"/>
              <a:t>TAT = Total asset turnover = Sales/TA</a:t>
            </a:r>
          </a:p>
          <a:p>
            <a:pPr marL="0" indent="0">
              <a:spcBef>
                <a:spcPts val="0"/>
              </a:spcBef>
              <a:buNone/>
            </a:pPr>
            <a:r>
              <a:rPr lang="en-US" dirty="0"/>
              <a:t>Equity multiplier = TA/Equity</a:t>
            </a:r>
          </a:p>
          <a:p>
            <a:pPr marL="0" indent="0">
              <a:spcBef>
                <a:spcPts val="0"/>
              </a:spcBef>
              <a:buNone/>
            </a:pPr>
            <a:endParaRPr lang="en-US" dirty="0"/>
          </a:p>
          <a:p>
            <a:pPr marL="0" indent="0">
              <a:spcBef>
                <a:spcPts val="0"/>
              </a:spcBef>
              <a:buNone/>
            </a:pPr>
            <a:r>
              <a:rPr lang="en-US" dirty="0"/>
              <a:t>ROE = M × TAT × (Equity multiplier)</a:t>
            </a:r>
          </a:p>
        </p:txBody>
      </p:sp>
    </p:spTree>
    <p:extLst>
      <p:ext uri="{BB962C8B-B14F-4D97-AF65-F5344CB8AC3E}">
        <p14:creationId xmlns:p14="http://schemas.microsoft.com/office/powerpoint/2010/main" val="2035801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Hatfield to Industry Using DuPont Equation (2 of 3)</a:t>
            </a:r>
          </a:p>
        </p:txBody>
      </p:sp>
      <p:sp>
        <p:nvSpPr>
          <p:cNvPr id="3" name="Content Placeholder 2"/>
          <p:cNvSpPr>
            <a:spLocks noGrp="1"/>
          </p:cNvSpPr>
          <p:nvPr>
            <p:ph idx="1"/>
          </p:nvPr>
        </p:nvSpPr>
        <p:spPr/>
        <p:txBody>
          <a:bodyPr/>
          <a:lstStyle/>
          <a:p>
            <a:pPr marL="0" indent="0">
              <a:spcBef>
                <a:spcPts val="0"/>
              </a:spcBef>
              <a:buNone/>
            </a:pPr>
            <a:r>
              <a:rPr lang="en-US" dirty="0" err="1"/>
              <a:t>ROE</a:t>
            </a:r>
            <a:r>
              <a:rPr lang="en-US" baseline="-25000" dirty="0" err="1"/>
              <a:t>Hatfield</a:t>
            </a:r>
            <a:r>
              <a:rPr lang="en-US" dirty="0"/>
              <a:t> = 3.30%	× 1.41 × 2.15</a:t>
            </a:r>
          </a:p>
          <a:p>
            <a:pPr marL="0" indent="0">
              <a:spcBef>
                <a:spcPts val="0"/>
              </a:spcBef>
              <a:buNone/>
            </a:pPr>
            <a:r>
              <a:rPr lang="en-US" dirty="0"/>
              <a:t>		= 10.0%.</a:t>
            </a:r>
          </a:p>
          <a:p>
            <a:pPr marL="0" indent="0">
              <a:spcBef>
                <a:spcPts val="0"/>
              </a:spcBef>
              <a:buNone/>
            </a:pPr>
            <a:endParaRPr lang="en-US" dirty="0"/>
          </a:p>
          <a:p>
            <a:pPr marL="0" indent="0">
              <a:spcBef>
                <a:spcPts val="0"/>
              </a:spcBef>
              <a:buNone/>
            </a:pPr>
            <a:r>
              <a:rPr lang="en-US" dirty="0" err="1"/>
              <a:t>ROE</a:t>
            </a:r>
            <a:r>
              <a:rPr lang="en-US" baseline="-25000" dirty="0" err="1"/>
              <a:t>Industry</a:t>
            </a:r>
            <a:r>
              <a:rPr lang="en-US" dirty="0"/>
              <a:t> = 5.60%	× 1.69 ×	1.59</a:t>
            </a:r>
          </a:p>
          <a:p>
            <a:pPr marL="0" indent="0">
              <a:spcBef>
                <a:spcPts val="0"/>
              </a:spcBef>
              <a:buNone/>
            </a:pPr>
            <a:r>
              <a:rPr lang="en-US" dirty="0"/>
              <a:t>		= 15.05</a:t>
            </a:r>
          </a:p>
          <a:p>
            <a:pPr marL="0" indent="0">
              <a:spcBef>
                <a:spcPts val="0"/>
              </a:spcBef>
              <a:buNone/>
            </a:pPr>
            <a:r>
              <a:rPr lang="en-US" dirty="0"/>
              <a:t>		= 15.1 with no rounding</a:t>
            </a:r>
          </a:p>
          <a:p>
            <a:pPr marL="0" indent="0">
              <a:spcBef>
                <a:spcPts val="0"/>
              </a:spcBef>
              <a:buNone/>
            </a:pPr>
            <a:r>
              <a:rPr lang="en-US" dirty="0"/>
              <a:t>                  of inputs</a:t>
            </a:r>
          </a:p>
        </p:txBody>
      </p:sp>
    </p:spTree>
    <p:extLst>
      <p:ext uri="{BB962C8B-B14F-4D97-AF65-F5344CB8AC3E}">
        <p14:creationId xmlns:p14="http://schemas.microsoft.com/office/powerpoint/2010/main" val="273114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Hatfield to Industry Using DuPont Equation (3 of 3)</a:t>
            </a:r>
          </a:p>
        </p:txBody>
      </p:sp>
      <p:sp>
        <p:nvSpPr>
          <p:cNvPr id="3" name="Content Placeholder 2"/>
          <p:cNvSpPr>
            <a:spLocks noGrp="1"/>
          </p:cNvSpPr>
          <p:nvPr>
            <p:ph idx="1"/>
          </p:nvPr>
        </p:nvSpPr>
        <p:spPr/>
        <p:txBody>
          <a:bodyPr/>
          <a:lstStyle/>
          <a:p>
            <a:r>
              <a:rPr lang="en-US" dirty="0"/>
              <a:t>Profitability ratios lower because of lower operating profits and higher interest expense.</a:t>
            </a:r>
          </a:p>
          <a:p>
            <a:r>
              <a:rPr lang="en-US" dirty="0"/>
              <a:t>Lower asset management ratios due to high levels of receivables, inventory, and fixed assets.</a:t>
            </a:r>
          </a:p>
          <a:p>
            <a:r>
              <a:rPr lang="en-US" dirty="0"/>
              <a:t>Higher leverage than industry.</a:t>
            </a:r>
          </a:p>
        </p:txBody>
      </p:sp>
    </p:spTree>
    <p:extLst>
      <p:ext uri="{BB962C8B-B14F-4D97-AF65-F5344CB8AC3E}">
        <p14:creationId xmlns:p14="http://schemas.microsoft.com/office/powerpoint/2010/main" val="2190200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Additional Funds Needed (AFN) Equation</a:t>
            </a:r>
          </a:p>
        </p:txBody>
      </p:sp>
      <p:sp>
        <p:nvSpPr>
          <p:cNvPr id="3" name="Content Placeholder 2"/>
          <p:cNvSpPr>
            <a:spLocks noGrp="1"/>
          </p:cNvSpPr>
          <p:nvPr>
            <p:ph idx="1"/>
          </p:nvPr>
        </p:nvSpPr>
        <p:spPr/>
        <p:txBody>
          <a:bodyPr/>
          <a:lstStyle/>
          <a:p>
            <a:r>
              <a:rPr lang="en-US" dirty="0"/>
              <a:t>AFN equation forecasts the additional financing needed by the operating plan.</a:t>
            </a:r>
          </a:p>
          <a:p>
            <a:r>
              <a:rPr lang="en-US" dirty="0"/>
              <a:t>Basic idea:</a:t>
            </a:r>
          </a:p>
          <a:p>
            <a:pPr lvl="1"/>
            <a:r>
              <a:rPr lang="en-US" dirty="0"/>
              <a:t>Estimate new assets required</a:t>
            </a:r>
          </a:p>
          <a:p>
            <a:pPr lvl="1"/>
            <a:r>
              <a:rPr lang="en-US" dirty="0"/>
              <a:t>Subtract new spontaneous liabilities (i.e., accounts payable and accruals)</a:t>
            </a:r>
          </a:p>
          <a:p>
            <a:pPr lvl="1"/>
            <a:r>
              <a:rPr lang="en-US" dirty="0"/>
              <a:t>Subtract reinvested profit (i.e., net income minus dividends)</a:t>
            </a:r>
          </a:p>
        </p:txBody>
      </p:sp>
    </p:spTree>
    <p:extLst>
      <p:ext uri="{BB962C8B-B14F-4D97-AF65-F5344CB8AC3E}">
        <p14:creationId xmlns:p14="http://schemas.microsoft.com/office/powerpoint/2010/main" val="2492627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AFN (Additional Funds Needed) Equation: Key Assumptions</a:t>
            </a:r>
          </a:p>
        </p:txBody>
      </p:sp>
      <p:sp>
        <p:nvSpPr>
          <p:cNvPr id="3" name="Content Placeholder 2"/>
          <p:cNvSpPr>
            <a:spLocks noGrp="1"/>
          </p:cNvSpPr>
          <p:nvPr>
            <p:ph idx="1"/>
          </p:nvPr>
        </p:nvSpPr>
        <p:spPr/>
        <p:txBody>
          <a:bodyPr/>
          <a:lstStyle/>
          <a:p>
            <a:pPr>
              <a:lnSpc>
                <a:spcPct val="85000"/>
              </a:lnSpc>
              <a:spcBef>
                <a:spcPct val="0"/>
              </a:spcBef>
            </a:pPr>
            <a:r>
              <a:rPr lang="en-US" dirty="0"/>
              <a:t>Operating at full capacity in 2019.</a:t>
            </a:r>
          </a:p>
          <a:p>
            <a:pPr>
              <a:lnSpc>
                <a:spcPct val="85000"/>
              </a:lnSpc>
              <a:spcBef>
                <a:spcPct val="0"/>
              </a:spcBef>
            </a:pPr>
            <a:r>
              <a:rPr lang="en-US" dirty="0"/>
              <a:t>Sales are expected to increase by 10%.</a:t>
            </a:r>
          </a:p>
          <a:p>
            <a:pPr>
              <a:lnSpc>
                <a:spcPct val="85000"/>
              </a:lnSpc>
              <a:spcBef>
                <a:spcPct val="0"/>
              </a:spcBef>
            </a:pPr>
            <a:r>
              <a:rPr lang="en-US" dirty="0"/>
              <a:t>Asset-to-sales ratios remain the same.</a:t>
            </a:r>
          </a:p>
          <a:p>
            <a:pPr>
              <a:lnSpc>
                <a:spcPct val="85000"/>
              </a:lnSpc>
              <a:spcBef>
                <a:spcPct val="0"/>
              </a:spcBef>
            </a:pPr>
            <a:r>
              <a:rPr lang="en-US" dirty="0"/>
              <a:t>Spontaneous-liabilities-to-sales ratio remains the same.</a:t>
            </a:r>
          </a:p>
          <a:p>
            <a:pPr>
              <a:lnSpc>
                <a:spcPct val="85000"/>
              </a:lnSpc>
              <a:spcBef>
                <a:spcPct val="0"/>
              </a:spcBef>
            </a:pPr>
            <a:r>
              <a:rPr lang="en-US" dirty="0"/>
              <a:t>2019 profit margin and payout ratio will be maintained.</a:t>
            </a:r>
          </a:p>
        </p:txBody>
      </p:sp>
    </p:spTree>
    <p:extLst>
      <p:ext uri="{BB962C8B-B14F-4D97-AF65-F5344CB8AC3E}">
        <p14:creationId xmlns:p14="http://schemas.microsoft.com/office/powerpoint/2010/main" val="4257416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 of Variables in AFN</a:t>
            </a:r>
          </a:p>
        </p:txBody>
      </p:sp>
      <p:sp>
        <p:nvSpPr>
          <p:cNvPr id="3" name="Content Placeholder 2"/>
          <p:cNvSpPr>
            <a:spLocks noGrp="1"/>
          </p:cNvSpPr>
          <p:nvPr>
            <p:ph idx="1"/>
          </p:nvPr>
        </p:nvSpPr>
        <p:spPr/>
        <p:txBody>
          <a:bodyPr/>
          <a:lstStyle/>
          <a:p>
            <a:pPr>
              <a:spcAft>
                <a:spcPts val="0"/>
              </a:spcAft>
            </a:pPr>
            <a:r>
              <a:rPr lang="en-US" sz="2800" dirty="0">
                <a:sym typeface="Symbol" pitchFamily="18" charset="2"/>
              </a:rPr>
              <a:t>S</a:t>
            </a:r>
            <a:r>
              <a:rPr lang="en-US" sz="2800" baseline="-25000" dirty="0">
                <a:sym typeface="Symbol" pitchFamily="18" charset="2"/>
              </a:rPr>
              <a:t>0</a:t>
            </a:r>
            <a:r>
              <a:rPr lang="en-US" sz="2800" dirty="0">
                <a:sym typeface="Symbol" pitchFamily="18" charset="2"/>
              </a:rPr>
              <a:t>:  Most recent sales.</a:t>
            </a:r>
          </a:p>
          <a:p>
            <a:pPr>
              <a:spcAft>
                <a:spcPts val="0"/>
              </a:spcAft>
            </a:pPr>
            <a:r>
              <a:rPr lang="en-US" sz="2800" dirty="0">
                <a:sym typeface="Symbol" pitchFamily="18" charset="2"/>
              </a:rPr>
              <a:t>g: Growth rate in sales.</a:t>
            </a:r>
          </a:p>
          <a:p>
            <a:pPr>
              <a:spcAft>
                <a:spcPts val="0"/>
              </a:spcAft>
            </a:pPr>
            <a:r>
              <a:rPr lang="en-US" sz="2800" dirty="0">
                <a:sym typeface="Symbol" pitchFamily="18" charset="2"/>
              </a:rPr>
              <a:t>S</a:t>
            </a:r>
            <a:r>
              <a:rPr lang="en-US" sz="2800" baseline="-25000" dirty="0">
                <a:sym typeface="Symbol" pitchFamily="18" charset="2"/>
              </a:rPr>
              <a:t>1</a:t>
            </a:r>
            <a:r>
              <a:rPr lang="en-US" sz="2800" dirty="0">
                <a:sym typeface="Symbol" pitchFamily="18" charset="2"/>
              </a:rPr>
              <a:t>:  Projected sales.</a:t>
            </a:r>
          </a:p>
          <a:p>
            <a:pPr>
              <a:spcAft>
                <a:spcPts val="0"/>
              </a:spcAft>
            </a:pPr>
            <a:r>
              <a:rPr lang="en-US" sz="2800" dirty="0">
                <a:sym typeface="Symbol" pitchFamily="18" charset="2"/>
              </a:rPr>
              <a:t>S:  Increase in sales = g(S</a:t>
            </a:r>
            <a:r>
              <a:rPr lang="en-US" sz="2800" baseline="-25000" dirty="0">
                <a:sym typeface="Symbol" pitchFamily="18" charset="2"/>
              </a:rPr>
              <a:t>0</a:t>
            </a:r>
            <a:r>
              <a:rPr lang="en-US" sz="2800" dirty="0">
                <a:sym typeface="Symbol" pitchFamily="18" charset="2"/>
              </a:rPr>
              <a:t>).</a:t>
            </a:r>
          </a:p>
          <a:p>
            <a:pPr>
              <a:spcAft>
                <a:spcPts val="0"/>
              </a:spcAft>
            </a:pPr>
            <a:r>
              <a:rPr lang="en-US" sz="2800" dirty="0"/>
              <a:t>A</a:t>
            </a:r>
            <a:r>
              <a:rPr lang="en-US" sz="2800" baseline="-25000" dirty="0"/>
              <a:t>0</a:t>
            </a:r>
            <a:r>
              <a:rPr lang="en-US" sz="2800" dirty="0"/>
              <a:t>*:  Assets required to support sales.</a:t>
            </a:r>
          </a:p>
          <a:p>
            <a:pPr>
              <a:spcAft>
                <a:spcPts val="0"/>
              </a:spcAft>
            </a:pPr>
            <a:r>
              <a:rPr lang="en-US" sz="2800" dirty="0"/>
              <a:t>L</a:t>
            </a:r>
            <a:r>
              <a:rPr lang="en-US" sz="2800" baseline="-25000" dirty="0"/>
              <a:t>0</a:t>
            </a:r>
            <a:r>
              <a:rPr lang="en-US" sz="2800" dirty="0"/>
              <a:t>*:  Spontaneous liabilities.</a:t>
            </a:r>
          </a:p>
          <a:p>
            <a:pPr>
              <a:spcAft>
                <a:spcPts val="0"/>
              </a:spcAft>
            </a:pPr>
            <a:r>
              <a:rPr lang="en-US" sz="2800" dirty="0"/>
              <a:t>A</a:t>
            </a:r>
            <a:r>
              <a:rPr lang="en-US" sz="2800" baseline="-25000" dirty="0"/>
              <a:t>0</a:t>
            </a:r>
            <a:r>
              <a:rPr lang="en-US" sz="2800" dirty="0"/>
              <a:t>*/S</a:t>
            </a:r>
            <a:r>
              <a:rPr lang="en-US" sz="2800" baseline="-25000" dirty="0"/>
              <a:t>0</a:t>
            </a:r>
            <a:r>
              <a:rPr lang="en-US" sz="2800" dirty="0"/>
              <a:t>:  Capital intensity ratio.</a:t>
            </a:r>
          </a:p>
          <a:p>
            <a:pPr>
              <a:spcAft>
                <a:spcPts val="0"/>
              </a:spcAft>
            </a:pPr>
            <a:r>
              <a:rPr lang="en-US" sz="2800" dirty="0">
                <a:sym typeface="Symbol" pitchFamily="18" charset="2"/>
              </a:rPr>
              <a:t>L</a:t>
            </a:r>
            <a:r>
              <a:rPr lang="en-US" sz="2800" baseline="-25000" dirty="0"/>
              <a:t>0</a:t>
            </a:r>
            <a:r>
              <a:rPr lang="en-US" sz="2800" dirty="0">
                <a:sym typeface="Symbol" pitchFamily="18" charset="2"/>
              </a:rPr>
              <a:t>*/S</a:t>
            </a:r>
            <a:r>
              <a:rPr lang="en-US" sz="2800" baseline="-25000" dirty="0"/>
              <a:t>0</a:t>
            </a:r>
            <a:r>
              <a:rPr lang="en-US" sz="2800" dirty="0">
                <a:sym typeface="Symbol" pitchFamily="18" charset="2"/>
              </a:rPr>
              <a:t>:  Spontaneous liabilities ratio.</a:t>
            </a:r>
          </a:p>
          <a:p>
            <a:pPr>
              <a:spcAft>
                <a:spcPts val="0"/>
              </a:spcAft>
            </a:pPr>
            <a:r>
              <a:rPr lang="en-US" sz="2800" dirty="0">
                <a:sym typeface="Symbol" pitchFamily="18" charset="2"/>
              </a:rPr>
              <a:t>M:  Profit margin (Net income/Sales)</a:t>
            </a:r>
          </a:p>
          <a:p>
            <a:pPr>
              <a:spcAft>
                <a:spcPts val="0"/>
              </a:spcAft>
            </a:pPr>
            <a:r>
              <a:rPr lang="en-US" sz="2800" dirty="0">
                <a:sym typeface="Symbol" pitchFamily="18" charset="2"/>
              </a:rPr>
              <a:t>POR:  Payout ratio (Dividends/Net income)</a:t>
            </a:r>
            <a:endParaRPr lang="en-US" sz="2800" dirty="0"/>
          </a:p>
        </p:txBody>
      </p:sp>
    </p:spTree>
    <p:extLst>
      <p:ext uri="{BB962C8B-B14F-4D97-AF65-F5344CB8AC3E}">
        <p14:creationId xmlns:p14="http://schemas.microsoft.com/office/powerpoint/2010/main" val="2508020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Needed for AFN Equation</a:t>
            </a:r>
          </a:p>
        </p:txBody>
      </p:sp>
      <p:graphicFrame>
        <p:nvGraphicFramePr>
          <p:cNvPr id="5" name="Table 2" descr="A table shows the data needed for the AFN equation. Data for A F N equation are growth rate in sales within parenthesis g, sales within parenthesis S subscript 0, required assets within parenthesis A subscript 0 *, Spontaneous liabilities within parenthesis L subscript 0 *, forecasted sales within s subscript 1, Increases in sales within parenthesis triangle S equals gS subscript 0, profit margin within parenthesis M, assets divided by sales within parenthesis A subscript 0 * divided by S subscript 0, payout ratio within parenthesis P O R and spont. Liabdivied by sales within L subscript 0 * divided S subscript 0 for 11.1 percent, $9001, $6390, $1620, $10000, $999, 3.30 percent, 71.0 percent, 33.7 percent and 18.0 percent."/>
          <p:cNvGraphicFramePr>
            <a:graphicFrameLocks noGrp="1"/>
          </p:cNvGraphicFramePr>
          <p:nvPr>
            <p:ph idx="1"/>
            <p:extLst>
              <p:ext uri="{D42A27DB-BD31-4B8C-83A1-F6EECF244321}">
                <p14:modId xmlns:p14="http://schemas.microsoft.com/office/powerpoint/2010/main" val="3284952163"/>
              </p:ext>
            </p:extLst>
          </p:nvPr>
        </p:nvGraphicFramePr>
        <p:xfrm>
          <a:off x="2712720" y="993595"/>
          <a:ext cx="6766560" cy="4870811"/>
        </p:xfrm>
        <a:graphic>
          <a:graphicData uri="http://schemas.openxmlformats.org/drawingml/2006/table">
            <a:tbl>
              <a:tblPr firstRow="1" bandRow="1"/>
              <a:tblGrid>
                <a:gridCol w="48463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5117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algn="l" fontAlgn="b"/>
                      <a:r>
                        <a:rPr lang="en-US" sz="2800" u="none" strike="noStrike" dirty="0">
                          <a:solidFill>
                            <a:schemeClr val="tx1"/>
                          </a:solidFill>
                          <a:effectLst/>
                          <a:latin typeface="Arial" panose="020B0604020202020204" pitchFamily="34" charset="0"/>
                          <a:cs typeface="Arial" panose="020B0604020202020204" pitchFamily="34" charset="0"/>
                        </a:rPr>
                        <a:t>Data for AFN Equation</a:t>
                      </a:r>
                      <a:endParaRPr lang="en-US" sz="2800" b="1" i="0" u="none" strike="noStrike" dirty="0">
                        <a:solidFill>
                          <a:schemeClr val="tx1"/>
                        </a:solidFill>
                        <a:effectLst/>
                        <a:latin typeface="Arial" panose="020B0604020202020204" pitchFamily="34" charset="0"/>
                        <a:cs typeface="Arial" panose="020B0604020202020204" pitchFamily="34" charset="0"/>
                      </a:endParaRPr>
                    </a:p>
                  </a:txBody>
                  <a:tcPr marL="9208" marR="9208" marT="9208"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algn="r" fontAlgn="b"/>
                      <a:endParaRPr lang="en-US" sz="2800" b="0" i="0" u="none" strike="noStrike" dirty="0">
                        <a:solidFill>
                          <a:schemeClr val="tx1"/>
                        </a:solidFill>
                        <a:effectLst/>
                        <a:latin typeface="Arial" panose="020B0604020202020204" pitchFamily="34" charset="0"/>
                        <a:cs typeface="Arial" panose="020B0604020202020204" pitchFamily="34" charset="0"/>
                      </a:endParaRPr>
                    </a:p>
                  </a:txBody>
                  <a:tcPr marL="9208" marR="9208" marT="9208"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Growth rate in sales (g)</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11.1%</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effectLst/>
                          <a:latin typeface="Arial" panose="020B0604020202020204" pitchFamily="34" charset="0"/>
                          <a:ea typeface="Times New Roman" panose="02020603050405020304" pitchFamily="18" charset="0"/>
                          <a:cs typeface="Arial" panose="020B0604020202020204" pitchFamily="34" charset="0"/>
                        </a:rPr>
                        <a:t>Sales (S</a:t>
                      </a:r>
                      <a:r>
                        <a:rPr lang="en-US" sz="2800" baseline="-25000">
                          <a:effectLst/>
                          <a:latin typeface="Arial" panose="020B0604020202020204" pitchFamily="34" charset="0"/>
                          <a:ea typeface="Times New Roman" panose="02020603050405020304" pitchFamily="18" charset="0"/>
                          <a:cs typeface="Arial" panose="020B0604020202020204" pitchFamily="34" charset="0"/>
                        </a:rPr>
                        <a:t>0</a:t>
                      </a:r>
                      <a:r>
                        <a:rPr lang="en-US" sz="2800">
                          <a:effectLst/>
                          <a:latin typeface="Arial" panose="020B0604020202020204" pitchFamily="34" charset="0"/>
                          <a:ea typeface="Times New Roman" panose="02020603050405020304" pitchFamily="18" charset="0"/>
                          <a:cs typeface="Arial" panose="020B0604020202020204" pitchFamily="34" charset="0"/>
                        </a:rPr>
                        <a:t>)</a:t>
                      </a: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$9,001</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Required assets (A</a:t>
                      </a:r>
                      <a:r>
                        <a:rPr lang="en-US" sz="2800" baseline="-250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$6,390</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Spontaneious liabilities (L</a:t>
                      </a:r>
                      <a:r>
                        <a:rPr lang="en-US" sz="2800" baseline="-2500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$1,620</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Forecasted sales (S</a:t>
                      </a:r>
                      <a:r>
                        <a:rPr lang="en-US" sz="2800" baseline="-25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r>
                        <a:rPr lang="en-US" sz="2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$10,000</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Increase in sales (ΔS = gS</a:t>
                      </a:r>
                      <a:r>
                        <a:rPr lang="en-US" sz="2800" baseline="-250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dirty="0">
                          <a:solidFill>
                            <a:srgbClr val="003300"/>
                          </a:solidFill>
                          <a:effectLst/>
                          <a:latin typeface="Arial" panose="020B0604020202020204" pitchFamily="34" charset="0"/>
                          <a:ea typeface="Times New Roman" panose="02020603050405020304" pitchFamily="18" charset="0"/>
                          <a:cs typeface="Arial" panose="020B0604020202020204" pitchFamily="34" charset="0"/>
                        </a:rPr>
                        <a:t>)</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$999 </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Profit margin (M)</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3.30%</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Assets/Sales (A</a:t>
                      </a:r>
                      <a:r>
                        <a:rPr lang="en-US" sz="2800" baseline="-2500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*/S</a:t>
                      </a:r>
                      <a:r>
                        <a:rPr lang="en-US" sz="2800" baseline="-2500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71.0%</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Payout ratio (POR)</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rgbClr val="0000CC"/>
                          </a:solidFill>
                          <a:effectLst/>
                          <a:latin typeface="Arial" panose="020B0604020202020204" pitchFamily="34" charset="0"/>
                          <a:ea typeface="Times New Roman" panose="02020603050405020304" pitchFamily="18" charset="0"/>
                          <a:cs typeface="Arial" panose="020B0604020202020204" pitchFamily="34" charset="0"/>
                        </a:rPr>
                        <a:t>33.7%</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r h="44196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just">
                        <a:spcBef>
                          <a:spcPts val="0"/>
                        </a:spcBef>
                        <a:spcAft>
                          <a:spcPts val="0"/>
                        </a:spcAft>
                      </a:pP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Spont. Liab./Sales (L</a:t>
                      </a:r>
                      <a:r>
                        <a:rPr lang="en-US" sz="2800" baseline="-2500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*/S</a:t>
                      </a:r>
                      <a:r>
                        <a:rPr lang="en-US" sz="2800" baseline="-25000">
                          <a:solidFill>
                            <a:srgbClr val="003300"/>
                          </a:solidFill>
                          <a:effectLst/>
                          <a:latin typeface="Arial" panose="020B0604020202020204" pitchFamily="34" charset="0"/>
                          <a:ea typeface="Times New Roman" panose="02020603050405020304" pitchFamily="18" charset="0"/>
                          <a:cs typeface="Arial" panose="020B0604020202020204" pitchFamily="34" charset="0"/>
                        </a:rPr>
                        <a:t>0</a:t>
                      </a:r>
                      <a:r>
                        <a:rPr lang="en-US" sz="2800">
                          <a:solidFill>
                            <a:srgbClr val="003300"/>
                          </a:solidFill>
                          <a:effectLst/>
                          <a:latin typeface="Arial" panose="020B0604020202020204" pitchFamily="34" charset="0"/>
                          <a:ea typeface="Times New Roman" panose="02020603050405020304" pitchFamily="18" charset="0"/>
                          <a:cs typeface="Arial" panose="020B0604020202020204" pitchFamily="34" charset="0"/>
                        </a:rPr>
                        <a:t>)</a:t>
                      </a:r>
                      <a:endParaRPr lang="en-US" sz="280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solidFill>
                            <a:srgbClr val="0000CC"/>
                          </a:solidFill>
                          <a:effectLst/>
                          <a:latin typeface="Arial" panose="020B0604020202020204" pitchFamily="34" charset="0"/>
                          <a:ea typeface="Times New Roman" panose="02020603050405020304" pitchFamily="18" charset="0"/>
                          <a:cs typeface="Arial" panose="020B0604020202020204" pitchFamily="34" charset="0"/>
                        </a:rPr>
                        <a:t>18.0%</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txBody>
                  <a:tcPr marL="82868" marR="8286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697964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Hatfield’s AFN Using AFN Equation</a:t>
            </a:r>
          </a:p>
        </p:txBody>
      </p:sp>
      <p:sp>
        <p:nvSpPr>
          <p:cNvPr id="3" name="Content Placeholder 2"/>
          <p:cNvSpPr>
            <a:spLocks noGrp="1"/>
          </p:cNvSpPr>
          <p:nvPr>
            <p:ph idx="1"/>
          </p:nvPr>
        </p:nvSpPr>
        <p:spPr/>
        <p:txBody>
          <a:bodyPr/>
          <a:lstStyle/>
          <a:p>
            <a:pPr marL="0" indent="0">
              <a:buNone/>
            </a:pPr>
            <a:r>
              <a:rPr lang="en-US" dirty="0"/>
              <a:t>AFN	= Required additional assets </a:t>
            </a:r>
          </a:p>
          <a:p>
            <a:pPr marL="0" indent="0">
              <a:buNone/>
            </a:pPr>
            <a:r>
              <a:rPr lang="en-US" dirty="0"/>
              <a:t>	   – Increase in spontaneous liabilities</a:t>
            </a:r>
          </a:p>
          <a:p>
            <a:pPr marL="0" indent="0">
              <a:buNone/>
            </a:pPr>
            <a:r>
              <a:rPr lang="en-US" dirty="0"/>
              <a:t>	   – Increase in retained earnings</a:t>
            </a:r>
          </a:p>
          <a:p>
            <a:pPr marL="0" indent="0">
              <a:buNone/>
            </a:pPr>
            <a:endParaRPr lang="en-US" sz="2800" dirty="0"/>
          </a:p>
          <a:p>
            <a:pPr marL="0" indent="0">
              <a:buNone/>
            </a:pPr>
            <a:r>
              <a:rPr lang="en-US" dirty="0"/>
              <a:t>AFN	= (A</a:t>
            </a:r>
            <a:r>
              <a:rPr lang="en-US" baseline="-25000" dirty="0"/>
              <a:t>0</a:t>
            </a:r>
            <a:r>
              <a:rPr lang="en-US" dirty="0"/>
              <a:t>*/S</a:t>
            </a:r>
            <a:r>
              <a:rPr lang="en-US" baseline="-25000" dirty="0"/>
              <a:t>0</a:t>
            </a:r>
            <a:r>
              <a:rPr lang="en-US" dirty="0"/>
              <a:t>)∆S – (L</a:t>
            </a:r>
            <a:r>
              <a:rPr lang="en-US" baseline="-25000" dirty="0"/>
              <a:t>0</a:t>
            </a:r>
            <a:r>
              <a:rPr lang="en-US" dirty="0"/>
              <a:t>*/S</a:t>
            </a:r>
            <a:r>
              <a:rPr lang="en-US" baseline="-25000" dirty="0"/>
              <a:t>0</a:t>
            </a:r>
            <a:r>
              <a:rPr lang="en-US" dirty="0"/>
              <a:t>)∆S – M(S</a:t>
            </a:r>
            <a:r>
              <a:rPr lang="en-US" baseline="-25000" dirty="0"/>
              <a:t>1</a:t>
            </a:r>
            <a:r>
              <a:rPr lang="en-US" dirty="0"/>
              <a:t>)(1 – Payout)</a:t>
            </a:r>
          </a:p>
          <a:p>
            <a:pPr marL="0" indent="0">
              <a:buNone/>
            </a:pPr>
            <a:r>
              <a:rPr lang="en-US" sz="2800" dirty="0"/>
              <a:t>	= </a:t>
            </a:r>
            <a:r>
              <a:rPr lang="en-US" sz="2400" dirty="0"/>
              <a:t>(0.71)($999) – (0.18)($999) – (0.033)($10,000)(1−0.337)</a:t>
            </a:r>
          </a:p>
          <a:p>
            <a:pPr marL="0" indent="0">
              <a:buNone/>
            </a:pPr>
            <a:r>
              <a:rPr lang="en-US" dirty="0"/>
              <a:t>	= $709.26 – $179.84 – $218.79</a:t>
            </a:r>
          </a:p>
          <a:p>
            <a:pPr marL="0" indent="0">
              <a:buNone/>
            </a:pPr>
            <a:r>
              <a:rPr lang="en-US" dirty="0"/>
              <a:t>	= </a:t>
            </a:r>
            <a:r>
              <a:rPr lang="en-US" dirty="0">
                <a:solidFill>
                  <a:srgbClr val="0000CC"/>
                </a:solidFill>
              </a:rPr>
              <a:t>$310.6 million</a:t>
            </a:r>
          </a:p>
        </p:txBody>
      </p:sp>
    </p:spTree>
    <p:extLst>
      <p:ext uri="{BB962C8B-B14F-4D97-AF65-F5344CB8AC3E}">
        <p14:creationId xmlns:p14="http://schemas.microsoft.com/office/powerpoint/2010/main" val="3639858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Factors in AFN Equation (1 of 2)</a:t>
            </a:r>
          </a:p>
        </p:txBody>
      </p:sp>
      <p:sp>
        <p:nvSpPr>
          <p:cNvPr id="3" name="Content Placeholder 2"/>
          <p:cNvSpPr>
            <a:spLocks noGrp="1"/>
          </p:cNvSpPr>
          <p:nvPr>
            <p:ph idx="1"/>
          </p:nvPr>
        </p:nvSpPr>
        <p:spPr/>
        <p:txBody>
          <a:bodyPr/>
          <a:lstStyle/>
          <a:p>
            <a:pPr>
              <a:lnSpc>
                <a:spcPct val="85000"/>
              </a:lnSpc>
              <a:spcBef>
                <a:spcPct val="0"/>
              </a:spcBef>
            </a:pPr>
            <a:r>
              <a:rPr lang="en-US" dirty="0"/>
              <a:t>Sales growth (g):  The higher g is, the larger AFN will be—other things held constant.</a:t>
            </a:r>
          </a:p>
          <a:p>
            <a:pPr>
              <a:lnSpc>
                <a:spcPct val="85000"/>
              </a:lnSpc>
              <a:spcBef>
                <a:spcPct val="0"/>
              </a:spcBef>
            </a:pPr>
            <a:r>
              <a:rPr lang="en-US" dirty="0"/>
              <a:t>Capital intensity ratio (A</a:t>
            </a:r>
            <a:r>
              <a:rPr lang="en-US" baseline="-25000" dirty="0"/>
              <a:t>0</a:t>
            </a:r>
            <a:r>
              <a:rPr lang="en-US" dirty="0"/>
              <a:t>*/S</a:t>
            </a:r>
            <a:r>
              <a:rPr lang="en-US" baseline="-25000" dirty="0"/>
              <a:t>0</a:t>
            </a:r>
            <a:r>
              <a:rPr lang="en-US" dirty="0"/>
              <a:t>):  The higher the capital intensity ratio, the larger AFN will be—other things held constant.</a:t>
            </a:r>
          </a:p>
          <a:p>
            <a:pPr>
              <a:lnSpc>
                <a:spcPct val="85000"/>
              </a:lnSpc>
              <a:spcBef>
                <a:spcPct val="0"/>
              </a:spcBef>
            </a:pPr>
            <a:r>
              <a:rPr lang="en-US" dirty="0"/>
              <a:t>Spontaneous-liabilities-to-sales ratio (L</a:t>
            </a:r>
            <a:r>
              <a:rPr lang="en-US" baseline="-25000" dirty="0"/>
              <a:t>0</a:t>
            </a:r>
            <a:r>
              <a:rPr lang="en-US" dirty="0"/>
              <a:t>*/S</a:t>
            </a:r>
            <a:r>
              <a:rPr lang="en-US" baseline="-25000" dirty="0"/>
              <a:t>0</a:t>
            </a:r>
            <a:r>
              <a:rPr lang="en-US" dirty="0"/>
              <a:t>):  The higher the firm’s spontaneous liabilities, the smaller AFN will be—other things held constant.</a:t>
            </a:r>
          </a:p>
        </p:txBody>
      </p:sp>
    </p:spTree>
    <p:extLst>
      <p:ext uri="{BB962C8B-B14F-4D97-AF65-F5344CB8AC3E}">
        <p14:creationId xmlns:p14="http://schemas.microsoft.com/office/powerpoint/2010/main" val="2378667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Factors in AFN Equation (2 of 2)</a:t>
            </a:r>
          </a:p>
        </p:txBody>
      </p:sp>
      <p:sp>
        <p:nvSpPr>
          <p:cNvPr id="3" name="Content Placeholder 2"/>
          <p:cNvSpPr>
            <a:spLocks noGrp="1"/>
          </p:cNvSpPr>
          <p:nvPr>
            <p:ph idx="1"/>
          </p:nvPr>
        </p:nvSpPr>
        <p:spPr/>
        <p:txBody>
          <a:bodyPr/>
          <a:lstStyle/>
          <a:p>
            <a:pPr>
              <a:lnSpc>
                <a:spcPct val="90000"/>
              </a:lnSpc>
              <a:spcBef>
                <a:spcPct val="0"/>
              </a:spcBef>
            </a:pPr>
            <a:r>
              <a:rPr lang="en-US" dirty="0"/>
              <a:t>Profit margin (Net income/Sales):  The higher the profit margin, the smaller AFN will be—other things held constant.</a:t>
            </a:r>
          </a:p>
          <a:p>
            <a:pPr>
              <a:lnSpc>
                <a:spcPct val="90000"/>
              </a:lnSpc>
              <a:spcBef>
                <a:spcPct val="0"/>
              </a:spcBef>
            </a:pPr>
            <a:r>
              <a:rPr lang="en-US" dirty="0"/>
              <a:t>Payout ratio (DPS/EPS): The lower the payout ratio, the smaller AFN will be if other things held constant.</a:t>
            </a:r>
          </a:p>
        </p:txBody>
      </p:sp>
    </p:spTree>
    <p:extLst>
      <p:ext uri="{BB962C8B-B14F-4D97-AF65-F5344CB8AC3E}">
        <p14:creationId xmlns:p14="http://schemas.microsoft.com/office/powerpoint/2010/main" val="3155940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Self-Supporting Growth Rate (1 of 2)</a:t>
            </a:r>
          </a:p>
        </p:txBody>
      </p:sp>
      <p:sp>
        <p:nvSpPr>
          <p:cNvPr id="4" name="Content Placeholder 2"/>
          <p:cNvSpPr>
            <a:spLocks noGrp="1"/>
          </p:cNvSpPr>
          <p:nvPr>
            <p:ph idx="1"/>
          </p:nvPr>
        </p:nvSpPr>
        <p:spPr>
          <a:xfrm>
            <a:off x="838200" y="1317625"/>
            <a:ext cx="10515600" cy="1396546"/>
          </a:xfrm>
        </p:spPr>
        <p:txBody>
          <a:bodyPr/>
          <a:lstStyle/>
          <a:p>
            <a:pPr marL="0" indent="0">
              <a:lnSpc>
                <a:spcPct val="90000"/>
              </a:lnSpc>
              <a:spcBef>
                <a:spcPct val="0"/>
              </a:spcBef>
              <a:buFont typeface="Wingdings" pitchFamily="2" charset="2"/>
              <a:buNone/>
            </a:pPr>
            <a:r>
              <a:rPr lang="en-US" dirty="0"/>
              <a:t>Self-Supporting growth rate is the maximum growth rate the firm could achieve if it had no access to external capital.</a:t>
            </a:r>
          </a:p>
        </p:txBody>
      </p:sp>
      <p:graphicFrame>
        <p:nvGraphicFramePr>
          <p:cNvPr id="7" name="Object 3" descr="An equation shows a self supporting growth rate.&#10;Self-supporting g equals M within parenthesis 1 minus P O R S subscript 0 divided by A subscript 0 * minus L subscript 0 * - M within parenthesis 1 minus P O R S subscript 0&#10;G equals within parenthesis 0.033 within parenthesis 0.663 within parenthesis $9001 divided by $6390 minus $1620 minus 0.033 within parenthesis 0.663 within parenthesis $9001&#10;G equals $196.93 divided by $4573.07 equals 4.3 percent."/>
          <p:cNvGraphicFramePr>
            <a:graphicFrameLocks noGrp="1" noChangeAspect="1"/>
          </p:cNvGraphicFramePr>
          <p:nvPr>
            <p:ph idx="10"/>
            <p:extLst>
              <p:ext uri="{D42A27DB-BD31-4B8C-83A1-F6EECF244321}">
                <p14:modId xmlns:p14="http://schemas.microsoft.com/office/powerpoint/2010/main" val="1081988425"/>
              </p:ext>
            </p:extLst>
          </p:nvPr>
        </p:nvGraphicFramePr>
        <p:xfrm>
          <a:off x="2738663" y="2472418"/>
          <a:ext cx="7530193" cy="3615820"/>
        </p:xfrm>
        <a:graphic>
          <a:graphicData uri="http://schemas.openxmlformats.org/presentationml/2006/ole">
            <mc:AlternateContent xmlns:mc="http://schemas.openxmlformats.org/markup-compatibility/2006">
              <mc:Choice xmlns:v="urn:schemas-microsoft-com:vml" Requires="v">
                <p:oleObj spid="_x0000_s7197" name="Equation" r:id="rId3" imgW="2882880" imgH="1384200" progId="Equation.DSMT4">
                  <p:embed/>
                </p:oleObj>
              </mc:Choice>
              <mc:Fallback>
                <p:oleObj name="Equation" r:id="rId3" imgW="2882880" imgH="1384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8663" y="2472418"/>
                        <a:ext cx="7530193" cy="361582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58270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Self-Supporting Growth Rate (2 of 2)</a:t>
            </a:r>
          </a:p>
        </p:txBody>
      </p:sp>
      <p:sp>
        <p:nvSpPr>
          <p:cNvPr id="3" name="Content Placeholder 2"/>
          <p:cNvSpPr>
            <a:spLocks noGrp="1"/>
          </p:cNvSpPr>
          <p:nvPr>
            <p:ph idx="1"/>
          </p:nvPr>
        </p:nvSpPr>
        <p:spPr/>
        <p:txBody>
          <a:bodyPr/>
          <a:lstStyle/>
          <a:p>
            <a:pPr marL="347663" indent="-347663"/>
            <a:r>
              <a:rPr lang="en-US" dirty="0"/>
              <a:t>If Hatfield’s sales grow less than 4.3%, the firm will not need any external capital.  </a:t>
            </a:r>
          </a:p>
          <a:p>
            <a:pPr marL="347663" indent="-347663"/>
            <a:r>
              <a:rPr lang="en-US" dirty="0"/>
              <a:t>The firm’s self-supporting growth rate is influenced by the firm’s capital intensity ratio.  The more assets the firm requires to achieve a certain sales level, the lower its sustainable growth rate will be.</a:t>
            </a:r>
          </a:p>
        </p:txBody>
      </p:sp>
    </p:spTree>
    <p:extLst>
      <p:ext uri="{BB962C8B-B14F-4D97-AF65-F5344CB8AC3E}">
        <p14:creationId xmlns:p14="http://schemas.microsoft.com/office/powerpoint/2010/main" val="3820456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Forecasted Financial Statements: The Basic Approach</a:t>
            </a:r>
          </a:p>
        </p:txBody>
      </p:sp>
      <p:sp>
        <p:nvSpPr>
          <p:cNvPr id="3" name="Content Placeholder 2"/>
          <p:cNvSpPr>
            <a:spLocks noGrp="1"/>
          </p:cNvSpPr>
          <p:nvPr>
            <p:ph idx="1"/>
          </p:nvPr>
        </p:nvSpPr>
        <p:spPr/>
        <p:txBody>
          <a:bodyPr/>
          <a:lstStyle/>
          <a:p>
            <a:r>
              <a:rPr lang="en-US" dirty="0"/>
              <a:t>Forecast the operating items (e.g., sales, costs, inventory, etc.).</a:t>
            </a:r>
          </a:p>
          <a:p>
            <a:r>
              <a:rPr lang="en-US" dirty="0"/>
              <a:t>Choose a preliminary financial policy and use it to forecast the financial items (e.g., long-term debt, interest expense, etc.).</a:t>
            </a:r>
          </a:p>
          <a:p>
            <a:r>
              <a:rPr lang="en-US" dirty="0"/>
              <a:t>Identify any financing surplus or deficit and eliminate it.</a:t>
            </a:r>
          </a:p>
          <a:p>
            <a:r>
              <a:rPr lang="en-US" dirty="0"/>
              <a:t>Repeat until satisfied that the plan is achievable and is the best possible.</a:t>
            </a:r>
          </a:p>
        </p:txBody>
      </p:sp>
    </p:spTree>
    <p:extLst>
      <p:ext uri="{BB962C8B-B14F-4D97-AF65-F5344CB8AC3E}">
        <p14:creationId xmlns:p14="http://schemas.microsoft.com/office/powerpoint/2010/main" val="1343662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Operating Items</a:t>
            </a:r>
          </a:p>
        </p:txBody>
      </p:sp>
      <p:sp>
        <p:nvSpPr>
          <p:cNvPr id="3" name="Content Placeholder 2"/>
          <p:cNvSpPr>
            <a:spLocks noGrp="1"/>
          </p:cNvSpPr>
          <p:nvPr>
            <p:ph idx="1"/>
          </p:nvPr>
        </p:nvSpPr>
        <p:spPr/>
        <p:txBody>
          <a:bodyPr/>
          <a:lstStyle/>
          <a:p>
            <a:r>
              <a:rPr lang="en-US" dirty="0"/>
              <a:t>Forecast sales to grow at chosen growth rates.</a:t>
            </a:r>
          </a:p>
          <a:p>
            <a:r>
              <a:rPr lang="en-US" dirty="0"/>
              <a:t>Forecast many items as a percentage of sales: cash, accounts receivable, inventories, fixed assets, costs (excl. </a:t>
            </a:r>
            <a:r>
              <a:rPr lang="en-US" dirty="0" err="1"/>
              <a:t>depr</a:t>
            </a:r>
            <a:r>
              <a:rPr lang="en-US" dirty="0"/>
              <a:t>.).</a:t>
            </a:r>
          </a:p>
          <a:p>
            <a:r>
              <a:rPr lang="en-US" dirty="0"/>
              <a:t>Forecast depreciation as a percent of fixed assets.</a:t>
            </a:r>
          </a:p>
        </p:txBody>
      </p:sp>
    </p:spTree>
    <p:extLst>
      <p:ext uri="{BB962C8B-B14F-4D97-AF65-F5344CB8AC3E}">
        <p14:creationId xmlns:p14="http://schemas.microsoft.com/office/powerpoint/2010/main" val="1821254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 Operating Assumptions for the </a:t>
            </a:r>
            <a:r>
              <a:rPr lang="en-US" i="1" dirty="0"/>
              <a:t>No Change </a:t>
            </a:r>
            <a:r>
              <a:rPr lang="en-US" dirty="0"/>
              <a:t>Scenario</a:t>
            </a:r>
          </a:p>
        </p:txBody>
      </p:sp>
      <p:sp>
        <p:nvSpPr>
          <p:cNvPr id="3" name="Content Placeholder 2"/>
          <p:cNvSpPr>
            <a:spLocks noGrp="1"/>
          </p:cNvSpPr>
          <p:nvPr>
            <p:ph idx="1"/>
          </p:nvPr>
        </p:nvSpPr>
        <p:spPr/>
        <p:txBody>
          <a:bodyPr/>
          <a:lstStyle/>
          <a:p>
            <a:r>
              <a:rPr lang="en-US" dirty="0"/>
              <a:t>Operating ratios remain unchanged from values in most recent year.</a:t>
            </a:r>
          </a:p>
          <a:p>
            <a:r>
              <a:rPr lang="en-US" dirty="0"/>
              <a:t>Sales will grow by 11.1%, 8%, 5%, and 5% for the next four years.</a:t>
            </a:r>
          </a:p>
          <a:p>
            <a:r>
              <a:rPr lang="en-US" dirty="0"/>
              <a:t>The target weighted average cost of capital (WACC) is 10%.</a:t>
            </a:r>
          </a:p>
        </p:txBody>
      </p:sp>
    </p:spTree>
    <p:extLst>
      <p:ext uri="{BB962C8B-B14F-4D97-AF65-F5344CB8AC3E}">
        <p14:creationId xmlns:p14="http://schemas.microsoft.com/office/powerpoint/2010/main" val="2228044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a:t>
            </a:r>
          </a:p>
        </p:txBody>
      </p:sp>
      <p:graphicFrame>
        <p:nvGraphicFramePr>
          <p:cNvPr id="5" name="Table 2" descr="A table shows assumptions. Inputs of Sales growth rate: for forecast is 2019 is 11.1 percent 2020 is 8 percent 2021 is 5 percent 2022 is 5 percent, within parenthesis Op. Costs slash sales: for actual of 2018 is 90.00 percent forecast of 2019 to 2022 is 90 percent, depr. Slash F A for actual of 2018 is 10.00 percent forecast of 2019 to 2022 is 10 percent, cash slash sales: for actual of 2018 is 1.00 percent forecast of 2019 to 2022 is 1 percent, within parenthesis acct. rec. slash sales for actual of 2018 are 14.00 percent forecast of 2019 to 2022 is 14 percent, inv. slash sales: for actual of 2018 is 16.00 percent forecast of 2019 to 2022 is 16 percent, F A slash sales: for actual of 2018 is 40.00 percent forecast of 2019 to 2022 is 40 percent, within parenthesis A P &amp;accr. Slash sales: for actual of 2018 is 18.00 percent forecast of 2019 to 2022 is 18 percent, tax rate: for actual of 2018 is 25.00 percent forecast of 2019 to 2022 is 25 percent."/>
          <p:cNvGraphicFramePr>
            <a:graphicFrameLocks noGrp="1"/>
          </p:cNvGraphicFramePr>
          <p:nvPr>
            <p:ph idx="1"/>
            <p:extLst>
              <p:ext uri="{D42A27DB-BD31-4B8C-83A1-F6EECF244321}">
                <p14:modId xmlns:p14="http://schemas.microsoft.com/office/powerpoint/2010/main" val="3663712133"/>
              </p:ext>
            </p:extLst>
          </p:nvPr>
        </p:nvGraphicFramePr>
        <p:xfrm>
          <a:off x="872285" y="1417320"/>
          <a:ext cx="10916965" cy="4297680"/>
        </p:xfrm>
        <a:graphic>
          <a:graphicData uri="http://schemas.openxmlformats.org/drawingml/2006/table">
            <a:tbl>
              <a:tblPr firstRow="1" firstCol="1" bandRow="1"/>
              <a:tblGrid>
                <a:gridCol w="2926080">
                  <a:extLst>
                    <a:ext uri="{9D8B030D-6E8A-4147-A177-3AD203B41FA5}">
                      <a16:colId xmlns:a16="http://schemas.microsoft.com/office/drawing/2014/main" val="20000"/>
                    </a:ext>
                  </a:extLst>
                </a:gridCol>
                <a:gridCol w="1407205">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640080">
                <a:tc>
                  <a:txBody>
                    <a:bodyPr/>
                    <a:lstStyle/>
                    <a:p>
                      <a:pPr marL="0" marR="0">
                        <a:spcBef>
                          <a:spcPts val="0"/>
                        </a:spcBef>
                        <a:spcAft>
                          <a:spcPts val="0"/>
                        </a:spcAft>
                      </a:pP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127000" algn="ctr">
                        <a:spcBef>
                          <a:spcPts val="0"/>
                        </a:spcBef>
                        <a:spcAft>
                          <a:spcPts val="0"/>
                        </a:spcAft>
                      </a:pPr>
                      <a:r>
                        <a:rPr lang="en-US" sz="2400" b="1" i="1" dirty="0">
                          <a:solidFill>
                            <a:schemeClr val="tx1"/>
                          </a:solidFill>
                          <a:effectLst/>
                          <a:latin typeface="Arial" panose="020B0604020202020204" pitchFamily="34" charset="0"/>
                          <a:cs typeface="Arial" panose="020B0604020202020204" pitchFamily="34" charset="0"/>
                        </a:rPr>
                        <a:t>Actual</a:t>
                      </a:r>
                      <a:endParaRPr lang="en-US" sz="2400" b="1" i="1" dirty="0">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12700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12700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12700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12700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Inputs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i="1" dirty="0">
                          <a:effectLst/>
                          <a:latin typeface="Arial" panose="020B0604020202020204" pitchFamily="34" charset="0"/>
                          <a:cs typeface="Arial" panose="020B0604020202020204" pitchFamily="34" charset="0"/>
                        </a:rPr>
                        <a:t>2018</a:t>
                      </a:r>
                      <a:endParaRPr lang="en-US" sz="2400" i="1" dirty="0">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2019</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2020</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2021</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2022</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Sales growth rate:</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i="1" dirty="0">
                        <a:effectLst/>
                        <a:latin typeface="Arial" panose="020B0604020202020204" pitchFamily="34" charset="0"/>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11.1%</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8%</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5%</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5%</a:t>
                      </a:r>
                      <a:endParaRPr lang="en-US" sz="2400" dirty="0">
                        <a:effectLst/>
                        <a:latin typeface="Arial" panose="020B0604020202020204" pitchFamily="34" charset="0"/>
                        <a:ea typeface="Times New Roman"/>
                        <a:cs typeface="Arial" panose="020B0604020202020204" pitchFamily="34" charset="0"/>
                      </a:endParaRPr>
                    </a:p>
                  </a:txBody>
                  <a:tcPr marL="115135" marR="115135"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(Op. costs)/Sales: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dirty="0">
                          <a:solidFill>
                            <a:schemeClr val="tx1"/>
                          </a:solidFill>
                          <a:effectLst/>
                          <a:latin typeface="Arial" panose="020B0604020202020204" pitchFamily="34" charset="0"/>
                          <a:cs typeface="Arial" panose="020B0604020202020204" pitchFamily="34" charset="0"/>
                        </a:rPr>
                        <a:t>90.00%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90.0%</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90%</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90%</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90%</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Depr./FA</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10.00%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10%</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10%</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10%</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10%</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Cash/Sales: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1.00%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(Acct. rec.)/Sales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14.00%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14%</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14%</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14%</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14%</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Inv./Sales: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16.00%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16%</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16%</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16%</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16%</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FA/Sales: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40.00%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40%</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40%</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40%</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40%</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(AP&amp; </a:t>
                      </a:r>
                      <a:r>
                        <a:rPr lang="en-US" sz="2400" dirty="0" err="1">
                          <a:solidFill>
                            <a:schemeClr val="tx1"/>
                          </a:solidFill>
                          <a:effectLst/>
                          <a:latin typeface="Arial" panose="020B0604020202020204" pitchFamily="34" charset="0"/>
                          <a:cs typeface="Arial" panose="020B0604020202020204" pitchFamily="34" charset="0"/>
                        </a:rPr>
                        <a:t>accr</a:t>
                      </a:r>
                      <a:r>
                        <a:rPr lang="en-US" sz="2400" dirty="0">
                          <a:solidFill>
                            <a:schemeClr val="tx1"/>
                          </a:solidFill>
                          <a:effectLst/>
                          <a:latin typeface="Arial" panose="020B0604020202020204" pitchFamily="34" charset="0"/>
                          <a:cs typeface="Arial" panose="020B0604020202020204" pitchFamily="34" charset="0"/>
                        </a:rPr>
                        <a:t>.)/ 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18.00%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18%</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18%</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18%</a:t>
                      </a:r>
                    </a:p>
                  </a:txBody>
                  <a:tcPr marL="0" marR="15351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18%</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Tax rate:</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115135" marR="1151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1" u="none" strike="noStrike">
                          <a:solidFill>
                            <a:schemeClr val="tx1"/>
                          </a:solidFill>
                          <a:effectLst/>
                          <a:latin typeface="Arial" panose="020B0604020202020204" pitchFamily="34" charset="0"/>
                          <a:cs typeface="Arial" panose="020B0604020202020204" pitchFamily="34" charset="0"/>
                        </a:rPr>
                        <a:t>25.00%</a:t>
                      </a:r>
                    </a:p>
                  </a:txBody>
                  <a:tcPr marL="0" marR="1535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25%</a:t>
                      </a:r>
                    </a:p>
                  </a:txBody>
                  <a:tcPr marL="0" marR="15351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25%</a:t>
                      </a:r>
                    </a:p>
                  </a:txBody>
                  <a:tcPr marL="0" marR="153513"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chemeClr val="tx1"/>
                          </a:solidFill>
                          <a:effectLst/>
                          <a:latin typeface="Arial" panose="020B0604020202020204" pitchFamily="34" charset="0"/>
                          <a:cs typeface="Arial" panose="020B0604020202020204" pitchFamily="34" charset="0"/>
                        </a:rPr>
                        <a:t>25%</a:t>
                      </a:r>
                    </a:p>
                  </a:txBody>
                  <a:tcPr marL="0" marR="153513"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chemeClr val="tx1"/>
                          </a:solidFill>
                          <a:effectLst/>
                          <a:latin typeface="Arial" panose="020B0604020202020204" pitchFamily="34" charset="0"/>
                          <a:cs typeface="Arial" panose="020B0604020202020204" pitchFamily="34" charset="0"/>
                        </a:rPr>
                        <a:t>25%</a:t>
                      </a:r>
                    </a:p>
                  </a:txBody>
                  <a:tcPr marL="0" marR="15351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90000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Forecasting Items</a:t>
            </a:r>
          </a:p>
        </p:txBody>
      </p:sp>
      <p:sp>
        <p:nvSpPr>
          <p:cNvPr id="3" name="Content Placeholder 2"/>
          <p:cNvSpPr>
            <a:spLocks noGrp="1"/>
          </p:cNvSpPr>
          <p:nvPr>
            <p:ph idx="1"/>
          </p:nvPr>
        </p:nvSpPr>
        <p:spPr/>
        <p:txBody>
          <a:bodyPr/>
          <a:lstStyle/>
          <a:p>
            <a:pPr>
              <a:tabLst>
                <a:tab pos="2289175" algn="l"/>
              </a:tabLst>
            </a:pPr>
            <a:r>
              <a:rPr lang="en-US" dirty="0"/>
              <a:t>Sales</a:t>
            </a:r>
            <a:r>
              <a:rPr lang="en-US" baseline="-25000" dirty="0"/>
              <a:t>2019</a:t>
            </a:r>
            <a:r>
              <a:rPr lang="en-US" dirty="0"/>
              <a:t> 	= Sales</a:t>
            </a:r>
            <a:r>
              <a:rPr lang="en-US" baseline="-25000" dirty="0"/>
              <a:t>2018</a:t>
            </a:r>
            <a:r>
              <a:rPr lang="en-US" dirty="0"/>
              <a:t>(1 + g</a:t>
            </a:r>
            <a:r>
              <a:rPr lang="en-US" baseline="-25000" dirty="0"/>
              <a:t>2018,2019</a:t>
            </a:r>
            <a:r>
              <a:rPr lang="en-US" dirty="0"/>
              <a:t> )</a:t>
            </a:r>
            <a:br>
              <a:rPr lang="en-US" dirty="0"/>
            </a:br>
            <a:r>
              <a:rPr lang="en-US" dirty="0"/>
              <a:t>	= $9,000.9(1+0.111)</a:t>
            </a:r>
            <a:br>
              <a:rPr lang="en-US" dirty="0"/>
            </a:br>
            <a:r>
              <a:rPr lang="en-US" dirty="0"/>
              <a:t>	= $10,000.</a:t>
            </a:r>
            <a:br>
              <a:rPr lang="en-US" dirty="0"/>
            </a:br>
            <a:endParaRPr lang="en-US" dirty="0"/>
          </a:p>
          <a:p>
            <a:pPr>
              <a:tabLst>
                <a:tab pos="3370263" algn="l"/>
              </a:tabLst>
            </a:pPr>
            <a:r>
              <a:rPr lang="en-US" dirty="0"/>
              <a:t>Inventories</a:t>
            </a:r>
            <a:r>
              <a:rPr lang="en-US" baseline="-25000" dirty="0"/>
              <a:t>2019	</a:t>
            </a:r>
            <a:r>
              <a:rPr lang="en-US" dirty="0"/>
              <a:t>= Sales</a:t>
            </a:r>
            <a:r>
              <a:rPr lang="en-US" baseline="-25000" dirty="0"/>
              <a:t>2019</a:t>
            </a:r>
            <a:r>
              <a:rPr lang="en-US" dirty="0"/>
              <a:t>(</a:t>
            </a:r>
            <a:r>
              <a:rPr lang="en-US" dirty="0" err="1"/>
              <a:t>Inv</a:t>
            </a:r>
            <a:r>
              <a:rPr lang="en-US" dirty="0"/>
              <a:t>/Sales)</a:t>
            </a:r>
            <a:br>
              <a:rPr lang="en-US" dirty="0"/>
            </a:br>
            <a:r>
              <a:rPr lang="en-US" dirty="0"/>
              <a:t>	= $10,000(0.16)</a:t>
            </a:r>
            <a:br>
              <a:rPr lang="en-US" dirty="0"/>
            </a:br>
            <a:r>
              <a:rPr lang="en-US" dirty="0"/>
              <a:t>	= $1,600</a:t>
            </a:r>
          </a:p>
        </p:txBody>
      </p:sp>
    </p:spTree>
    <p:extLst>
      <p:ext uri="{BB962C8B-B14F-4D97-AF65-F5344CB8AC3E}">
        <p14:creationId xmlns:p14="http://schemas.microsoft.com/office/powerpoint/2010/main" val="1771377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Forecasted Operating Items</a:t>
            </a:r>
          </a:p>
        </p:txBody>
      </p:sp>
      <p:graphicFrame>
        <p:nvGraphicFramePr>
          <p:cNvPr id="5" name="Table 2" descr="A table shows forecasted operating items. Scenario: no change of net sales for actual of 2019 is $9000.9 forecast of 2020 is $10000 2021 is $10800 2022 is $11340 2023 is $11907, Scenario: no change of op. costs within parenthesis excl. depr. for actual of 2019 is $8100.9 forecast of 2020 is $9000 2021 is $9720 2022 is $10206 2023 is $10716, scenario: no change of depreciation for actual of 2019 is $360.0 forecast of 2020 is $400 2021 is $432 2022 is $454 2023 is $476, Scenario: no change of E B I T for actual of 2019 is $ 540.0 forecast of 2020 is $600 2021 is $ 648 2022 is $ 680 2023 is $714, Scenario: no change of cash for actual of 2019 is $ 90 forecast of 2020 is $100 2021 is $108 2022 is $113 2023 is $119, Scenario: no change of accounts receivable for actual of 2019 is $1260.0 forecast of 2020 is $1400 2021 is $1512 2022 is $1588 2023 is $1667, Scenario: no change of inventories for actual of 2019 is $1440.0 forecast of 2020 is $1600 2021 is $1728 2022 is $1814 2023 is $1905, Scenario: no change of net fixed assets for actual of 2019 is $3600.0 forecast of 2020 is $4000 2021 is $4320 2022 is $4536 2023 is $4763, Scenario: no change of accts. pay and accruals for actual of 2019 is $1620.0 forecast of 2020 is $1800 2021 is $1944 2022 is $2041 2023 is $2143."/>
          <p:cNvGraphicFramePr>
            <a:graphicFrameLocks noGrp="1"/>
          </p:cNvGraphicFramePr>
          <p:nvPr>
            <p:ph idx="1"/>
            <p:extLst>
              <p:ext uri="{D42A27DB-BD31-4B8C-83A1-F6EECF244321}">
                <p14:modId xmlns:p14="http://schemas.microsoft.com/office/powerpoint/2010/main" val="2559555515"/>
              </p:ext>
            </p:extLst>
          </p:nvPr>
        </p:nvGraphicFramePr>
        <p:xfrm>
          <a:off x="356524" y="1417320"/>
          <a:ext cx="11478953" cy="4023360"/>
        </p:xfrm>
        <a:graphic>
          <a:graphicData uri="http://schemas.openxmlformats.org/drawingml/2006/table">
            <a:tbl>
              <a:tblPr firstRow="1" firstCol="1" bandRow="1"/>
              <a:tblGrid>
                <a:gridCol w="3805855">
                  <a:extLst>
                    <a:ext uri="{9D8B030D-6E8A-4147-A177-3AD203B41FA5}">
                      <a16:colId xmlns:a16="http://schemas.microsoft.com/office/drawing/2014/main" val="20000"/>
                    </a:ext>
                  </a:extLst>
                </a:gridCol>
                <a:gridCol w="1455178">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3581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Scenario: No Change</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Actual</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358198">
                <a:tc>
                  <a:txBody>
                    <a:bodyPr/>
                    <a:lstStyle/>
                    <a:p>
                      <a:pPr marL="0" marR="0">
                        <a:spcBef>
                          <a:spcPts val="0"/>
                        </a:spcBef>
                        <a:spcAft>
                          <a:spcPts val="0"/>
                        </a:spcAft>
                      </a:pP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2019</a:t>
                      </a:r>
                      <a:endParaRPr lang="en-US" sz="2400" dirty="0">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2020</a:t>
                      </a:r>
                      <a:endParaRPr lang="en-US" sz="2400" dirty="0">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2021</a:t>
                      </a:r>
                      <a:endParaRPr lang="en-US" sz="2400" dirty="0">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2022</a:t>
                      </a:r>
                      <a:endParaRPr lang="en-US" sz="2400" dirty="0">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cs typeface="Arial" panose="020B0604020202020204" pitchFamily="34" charset="0"/>
                        </a:rPr>
                        <a:t>2023</a:t>
                      </a:r>
                      <a:endParaRPr lang="en-US" sz="2400" dirty="0">
                        <a:effectLst/>
                        <a:latin typeface="Arial" panose="020B0604020202020204" pitchFamily="34" charset="0"/>
                        <a:ea typeface="Times New Roman"/>
                        <a:cs typeface="Arial" panose="020B0604020202020204" pitchFamily="34" charset="0"/>
                      </a:endParaRPr>
                    </a:p>
                  </a:txBody>
                  <a:tcPr marL="100743" marR="100743" marT="0" marB="0" anchor="b">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1"/>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Net sales</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$9,000.9</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$10,800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$11,340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$11,907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 costs (excl. depr.)</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$8,100.9</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$9,720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$10,206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$10,716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Depreciation</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$360.0</a:t>
                      </a:r>
                      <a:endParaRPr lang="en-US" sz="2400" u="sng"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$400</a:t>
                      </a:r>
                      <a:endParaRPr lang="en-US" sz="2400" u="sng"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$432</a:t>
                      </a:r>
                      <a:endParaRPr lang="en-US" sz="2400" u="sng"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$454</a:t>
                      </a:r>
                      <a:endParaRPr lang="en-US" sz="2400" u="sng"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$476</a:t>
                      </a:r>
                      <a:endParaRPr lang="en-US" sz="2400" u="sng"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EBIT</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$540.0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$648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$680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$714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Cash</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$119</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Accounts receivable</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$1,260.0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$1,512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$1,588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$1,667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Inventories</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$1,440.0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$1,728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$1,814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$1,905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Net fixed assets</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$3,600.0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$4,320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$4,536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$4,763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r h="35819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Accts. pay. &amp; accruals</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$1,620.0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$1,800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$1,944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$2,041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$2,143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100743" marR="100743"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394370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Calculate Forecasted FCF (1 of 2)</a:t>
            </a:r>
          </a:p>
        </p:txBody>
      </p:sp>
      <p:sp>
        <p:nvSpPr>
          <p:cNvPr id="3" name="Content Placeholder 2"/>
          <p:cNvSpPr>
            <a:spLocks noGrp="1"/>
          </p:cNvSpPr>
          <p:nvPr>
            <p:ph idx="1"/>
          </p:nvPr>
        </p:nvSpPr>
        <p:spPr/>
        <p:txBody>
          <a:bodyPr/>
          <a:lstStyle/>
          <a:p>
            <a:r>
              <a:rPr lang="en-US" dirty="0"/>
              <a:t>NOPAT = EBIT(1-T)</a:t>
            </a:r>
          </a:p>
          <a:p>
            <a:r>
              <a:rPr lang="en-US" dirty="0"/>
              <a:t>NOWC = (Cash + accounts receivable + inventories) − (Accounts payable &amp; accruals)</a:t>
            </a:r>
          </a:p>
          <a:p>
            <a:r>
              <a:rPr lang="en-US" dirty="0"/>
              <a:t>Total operating capital = NOWC + Net fixed assets</a:t>
            </a:r>
          </a:p>
          <a:p>
            <a:r>
              <a:rPr lang="en-US" dirty="0"/>
              <a:t>FCF = NOPAT − Change in total operating capital</a:t>
            </a:r>
          </a:p>
          <a:p>
            <a:r>
              <a:rPr lang="en-US" dirty="0"/>
              <a:t>ROIC = NOPAT/(Total operating capital)</a:t>
            </a:r>
          </a:p>
        </p:txBody>
      </p:sp>
    </p:spTree>
    <p:extLst>
      <p:ext uri="{BB962C8B-B14F-4D97-AF65-F5344CB8AC3E}">
        <p14:creationId xmlns:p14="http://schemas.microsoft.com/office/powerpoint/2010/main" val="3671010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Calculate Forecasted FCF (2 of 2)</a:t>
            </a:r>
          </a:p>
        </p:txBody>
      </p:sp>
      <p:graphicFrame>
        <p:nvGraphicFramePr>
          <p:cNvPr id="7" name="Table 2" descr="A table shows forecasted F C F. Scenario: no change of N O P A T for actual of 2019 is $405 forecast of 2020 is $450 2021 is $486 2022 is $510 2023 is $536, Scenario: no change of N O W C for actual of 2019 is $1170 forecast of 2020 is $1300 2021 is $1404 2022 is $1474 2023 is $1548, Scenario: no change of total op. capital for actual of 2019 is $4770 forecast of 2020 is $5300 2021 is $5724 2022 is $6010 2023 is $6311, Scenario: no change of F C F for forecast of 2020 is $80 2021 is $62 2022 is $224 2023 is $235, Scenario: no change of growth in F C F for forecast of 2021 is minus 177.5 percent 2022 is 261.5 percent 2023 is 5.0 percent, Scenario: no change of R O I C for actual of 2019 is 8.5 percent forecast of 2020 to 2023 is 8.5 percent."/>
          <p:cNvGraphicFramePr>
            <a:graphicFrameLocks noGrp="1"/>
          </p:cNvGraphicFramePr>
          <p:nvPr>
            <p:ph idx="1"/>
            <p:extLst>
              <p:ext uri="{D42A27DB-BD31-4B8C-83A1-F6EECF244321}">
                <p14:modId xmlns:p14="http://schemas.microsoft.com/office/powerpoint/2010/main" val="504101091"/>
              </p:ext>
            </p:extLst>
          </p:nvPr>
        </p:nvGraphicFramePr>
        <p:xfrm>
          <a:off x="1478643" y="999363"/>
          <a:ext cx="9961511" cy="4136460"/>
        </p:xfrm>
        <a:graphic>
          <a:graphicData uri="http://schemas.openxmlformats.org/drawingml/2006/table">
            <a:tbl>
              <a:tblPr firstRow="1" firstCol="1" bandRow="1"/>
              <a:tblGrid>
                <a:gridCol w="2920631">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486420">
                <a:tc>
                  <a:txBody>
                    <a:bodyPr/>
                    <a:lstStyle/>
                    <a:p>
                      <a:pPr marL="0" marR="0" indent="0" algn="ctr">
                        <a:spcBef>
                          <a:spcPts val="0"/>
                        </a:spcBef>
                        <a:spcAft>
                          <a:spcPts val="0"/>
                        </a:spcAft>
                      </a:pPr>
                      <a:r>
                        <a:rPr lang="en-US" sz="2400" b="1" dirty="0">
                          <a:solidFill>
                            <a:schemeClr val="tx1"/>
                          </a:solidFill>
                          <a:effectLst/>
                          <a:latin typeface="Airal"/>
                        </a:rPr>
                        <a:t>Scenario:</a:t>
                      </a:r>
                      <a:endParaRPr lang="en-US" sz="2400" b="1" dirty="0">
                        <a:solidFill>
                          <a:schemeClr val="tx1"/>
                        </a:solidFill>
                        <a:effectLst/>
                        <a:latin typeface="Airal"/>
                        <a:ea typeface="Times New Roman"/>
                        <a:cs typeface="Times New Roman"/>
                      </a:endParaRPr>
                    </a:p>
                    <a:p>
                      <a:pPr marL="0" marR="0" indent="0" algn="ctr">
                        <a:spcBef>
                          <a:spcPts val="0"/>
                        </a:spcBef>
                        <a:spcAft>
                          <a:spcPts val="0"/>
                        </a:spcAft>
                      </a:pPr>
                      <a:r>
                        <a:rPr lang="en-US" sz="2400" b="1" dirty="0">
                          <a:solidFill>
                            <a:schemeClr val="tx1"/>
                          </a:solidFill>
                          <a:effectLst/>
                          <a:latin typeface="Airal"/>
                        </a:rPr>
                        <a:t>No Change</a:t>
                      </a:r>
                      <a:endParaRPr lang="en-US" sz="2400" b="1"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2400" b="1" dirty="0">
                          <a:solidFill>
                            <a:schemeClr val="tx1"/>
                          </a:solidFill>
                          <a:effectLst/>
                          <a:latin typeface="Airal"/>
                        </a:rPr>
                        <a:t>Actual</a:t>
                      </a:r>
                      <a:endParaRPr lang="en-US" sz="2400" b="1" dirty="0">
                        <a:solidFill>
                          <a:schemeClr val="tx1"/>
                        </a:solidFill>
                        <a:effectLst/>
                        <a:latin typeface="Airal"/>
                        <a:ea typeface="Times New Roman"/>
                        <a:cs typeface="Times New Roman"/>
                      </a:endParaRP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2400" b="1" dirty="0">
                          <a:solidFill>
                            <a:schemeClr val="tx1"/>
                          </a:solidFill>
                          <a:effectLst/>
                          <a:latin typeface="Airal"/>
                        </a:rPr>
                        <a:t>Forecast</a:t>
                      </a:r>
                      <a:endParaRPr lang="en-US" sz="2400" b="1" dirty="0">
                        <a:solidFill>
                          <a:schemeClr val="tx1"/>
                        </a:solidFill>
                        <a:effectLst/>
                        <a:latin typeface="Airal"/>
                        <a:ea typeface="Times New Roman"/>
                        <a:cs typeface="Times New Roman"/>
                      </a:endParaRP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2400" b="1" dirty="0">
                          <a:solidFill>
                            <a:schemeClr val="tx1"/>
                          </a:solidFill>
                          <a:effectLst/>
                          <a:latin typeface="Airal"/>
                        </a:rPr>
                        <a:t>Forecast</a:t>
                      </a:r>
                      <a:endParaRPr lang="en-US" sz="2400" b="1" dirty="0">
                        <a:solidFill>
                          <a:schemeClr val="tx1"/>
                        </a:solidFill>
                        <a:effectLst/>
                        <a:latin typeface="Airal"/>
                        <a:ea typeface="Times New Roman"/>
                        <a:cs typeface="Times New Roman"/>
                      </a:endParaRPr>
                    </a:p>
                  </a:txBody>
                  <a:tcPr marL="10001" marR="10001" marT="1000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2400" b="1" dirty="0">
                          <a:solidFill>
                            <a:schemeClr val="tx1"/>
                          </a:solidFill>
                          <a:effectLst/>
                          <a:latin typeface="Airal"/>
                        </a:rPr>
                        <a:t>Forecast</a:t>
                      </a:r>
                      <a:endParaRPr lang="en-US" sz="2400" b="1" dirty="0">
                        <a:solidFill>
                          <a:schemeClr val="tx1"/>
                        </a:solidFill>
                        <a:effectLst/>
                        <a:latin typeface="Airal"/>
                        <a:ea typeface="Times New Roman"/>
                        <a:cs typeface="Times New Roman"/>
                      </a:endParaRPr>
                    </a:p>
                  </a:txBody>
                  <a:tcPr marL="10001" marR="10001" marT="1000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2400" b="1" dirty="0">
                          <a:solidFill>
                            <a:schemeClr val="tx1"/>
                          </a:solidFill>
                          <a:effectLst/>
                          <a:latin typeface="Airal"/>
                        </a:rPr>
                        <a:t>Forecast</a:t>
                      </a:r>
                      <a:endParaRPr lang="en-US" sz="2400" b="1" dirty="0">
                        <a:solidFill>
                          <a:schemeClr val="tx1"/>
                        </a:solidFill>
                        <a:effectLst/>
                        <a:latin typeface="Airal"/>
                        <a:ea typeface="Times New Roman"/>
                        <a:cs typeface="Times New Roman"/>
                      </a:endParaRPr>
                    </a:p>
                  </a:txBody>
                  <a:tcPr marL="10001" marR="10001" marT="10001"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486420">
                <a:tc>
                  <a:txBody>
                    <a:bodyPr/>
                    <a:lstStyle/>
                    <a:p>
                      <a:pPr marL="0" marR="0" indent="0">
                        <a:spcBef>
                          <a:spcPts val="0"/>
                        </a:spcBef>
                        <a:spcAft>
                          <a:spcPts val="0"/>
                        </a:spcAft>
                      </a:pP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iral"/>
                        </a:rPr>
                        <a:t>2019</a:t>
                      </a:r>
                      <a:endParaRPr lang="en-US" sz="2400" dirty="0">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iral"/>
                        </a:rPr>
                        <a:t>2020</a:t>
                      </a:r>
                      <a:endParaRPr lang="en-US" sz="2400" dirty="0">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iral"/>
                        </a:rPr>
                        <a:t>2021</a:t>
                      </a:r>
                      <a:endParaRPr lang="en-US" sz="2400" dirty="0">
                        <a:effectLst/>
                        <a:latin typeface="Airal"/>
                        <a:ea typeface="Times New Roman"/>
                        <a:cs typeface="Times New Roman"/>
                      </a:endParaRPr>
                    </a:p>
                  </a:txBody>
                  <a:tcPr marL="47373" marR="47373"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iral"/>
                        </a:rPr>
                        <a:t>2022</a:t>
                      </a:r>
                      <a:endParaRPr lang="en-US" sz="2400" dirty="0">
                        <a:effectLst/>
                        <a:latin typeface="Airal"/>
                        <a:ea typeface="Times New Roman"/>
                        <a:cs typeface="Times New Roman"/>
                      </a:endParaRPr>
                    </a:p>
                  </a:txBody>
                  <a:tcPr marL="47373" marR="47373"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iral"/>
                        </a:rPr>
                        <a:t>2023</a:t>
                      </a:r>
                      <a:endParaRPr lang="en-US" sz="2400" dirty="0">
                        <a:effectLst/>
                        <a:latin typeface="Airal"/>
                        <a:ea typeface="Times New Roman"/>
                        <a:cs typeface="Times New Roman"/>
                      </a:endParaRPr>
                    </a:p>
                  </a:txBody>
                  <a:tcPr marL="47373" marR="47373"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1"/>
                  </a:ext>
                </a:extLst>
              </a:tr>
              <a:tr h="4864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iral"/>
                        </a:rPr>
                        <a:t>NOPAT</a:t>
                      </a: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$405</a:t>
                      </a: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$450</a:t>
                      </a:r>
                    </a:p>
                  </a:txBody>
                  <a:tcPr marL="10001" marR="10001" marT="10001"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$486</a:t>
                      </a:r>
                    </a:p>
                  </a:txBody>
                  <a:tcPr marL="10001" marR="10001" marT="10001"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$510</a:t>
                      </a:r>
                    </a:p>
                  </a:txBody>
                  <a:tcPr marL="10001" marR="10001" marT="10001"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$536</a:t>
                      </a:r>
                    </a:p>
                  </a:txBody>
                  <a:tcPr marL="10001" marR="10001" marT="10001"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4864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iral"/>
                        </a:rPr>
                        <a:t>NOWC</a:t>
                      </a: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$1,170</a:t>
                      </a: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$1,300</a:t>
                      </a:r>
                    </a:p>
                  </a:txBody>
                  <a:tcPr marL="10001" marR="10001" marT="10001"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$1,404</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$1,474</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$1,548</a:t>
                      </a:r>
                    </a:p>
                  </a:txBody>
                  <a:tcPr marL="10001" marR="10001" marT="10001"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4864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iral"/>
                        </a:rPr>
                        <a:t>Total op. capital</a:t>
                      </a: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$4,770</a:t>
                      </a: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$5,300</a:t>
                      </a:r>
                    </a:p>
                  </a:txBody>
                  <a:tcPr marL="10001" marR="10001" marT="10001"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$5,724</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rgbClr val="000000"/>
                          </a:solidFill>
                          <a:effectLst/>
                          <a:latin typeface="Airal"/>
                        </a:rPr>
                        <a:t>$6,010</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rgbClr val="000000"/>
                          </a:solidFill>
                          <a:effectLst/>
                          <a:latin typeface="Airal"/>
                        </a:rPr>
                        <a:t>$6,311</a:t>
                      </a:r>
                    </a:p>
                  </a:txBody>
                  <a:tcPr marL="10001" marR="10001" marT="10001"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4864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iral"/>
                        </a:rPr>
                        <a:t>FCF </a:t>
                      </a: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endParaRPr lang="en-US" sz="2400" b="0" i="0" u="none" strike="noStrike" dirty="0">
                        <a:solidFill>
                          <a:srgbClr val="000000"/>
                        </a:solidFill>
                        <a:effectLst/>
                        <a:latin typeface="Airal"/>
                      </a:endParaRP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rgbClr val="000000"/>
                          </a:solidFill>
                          <a:effectLst/>
                          <a:latin typeface="Airal"/>
                        </a:rPr>
                        <a:t>-$80</a:t>
                      </a:r>
                    </a:p>
                  </a:txBody>
                  <a:tcPr marL="10001" marR="10001" marT="10001"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$62</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$224</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rgbClr val="000000"/>
                          </a:solidFill>
                          <a:effectLst/>
                          <a:latin typeface="Airal"/>
                        </a:rPr>
                        <a:t>$235</a:t>
                      </a:r>
                    </a:p>
                  </a:txBody>
                  <a:tcPr marL="10001" marR="10001" marT="10001"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4864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iral"/>
                        </a:rPr>
                        <a:t>Growth in FCF</a:t>
                      </a: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endParaRPr lang="en-US" sz="2400" b="0" i="0" u="none" strike="noStrike" dirty="0">
                        <a:solidFill>
                          <a:srgbClr val="000000"/>
                        </a:solidFill>
                        <a:effectLst/>
                        <a:latin typeface="Airal"/>
                      </a:endParaRP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l" fontAlgn="b"/>
                      <a:endParaRPr lang="en-US" sz="2400" b="0" i="0" u="none" strike="noStrike" dirty="0">
                        <a:solidFill>
                          <a:srgbClr val="000000"/>
                        </a:solidFill>
                        <a:effectLst/>
                        <a:latin typeface="Airal"/>
                      </a:endParaRPr>
                    </a:p>
                  </a:txBody>
                  <a:tcPr marL="10001" marR="10001" marT="10001"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-177.5%</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261.5%</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5.0%</a:t>
                      </a:r>
                    </a:p>
                  </a:txBody>
                  <a:tcPr marL="10001" marR="10001" marT="10001"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4864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iral"/>
                        </a:rPr>
                        <a:t>ROIC</a:t>
                      </a:r>
                      <a:endParaRPr lang="en-US" sz="2400" dirty="0">
                        <a:solidFill>
                          <a:schemeClr val="tx1"/>
                        </a:solidFill>
                        <a:effectLst/>
                        <a:latin typeface="Airal"/>
                        <a:ea typeface="Times New Roman"/>
                        <a:cs typeface="Times New Roman"/>
                      </a:endParaRPr>
                    </a:p>
                  </a:txBody>
                  <a:tcPr marL="47373" marR="473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8.5%</a:t>
                      </a:r>
                    </a:p>
                  </a:txBody>
                  <a:tcPr marL="10001" marR="10001" marT="100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8.5%</a:t>
                      </a:r>
                    </a:p>
                  </a:txBody>
                  <a:tcPr marL="10001" marR="10001" marT="10001"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8.5%</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a:solidFill>
                            <a:srgbClr val="000000"/>
                          </a:solidFill>
                          <a:effectLst/>
                          <a:latin typeface="Airal"/>
                        </a:rPr>
                        <a:t>8.5%</a:t>
                      </a:r>
                    </a:p>
                  </a:txBody>
                  <a:tcPr marL="10001" marR="10001" marT="10001"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algn="r" fontAlgn="b"/>
                      <a:r>
                        <a:rPr lang="en-US" sz="2400" b="0" i="0" u="none" strike="noStrike" dirty="0">
                          <a:solidFill>
                            <a:srgbClr val="000000"/>
                          </a:solidFill>
                          <a:effectLst/>
                          <a:latin typeface="Airal"/>
                        </a:rPr>
                        <a:t>8.5%</a:t>
                      </a:r>
                    </a:p>
                  </a:txBody>
                  <a:tcPr marL="10001" marR="10001" marT="10001"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bl>
          </a:graphicData>
        </a:graphic>
      </p:graphicFrame>
      <p:sp>
        <p:nvSpPr>
          <p:cNvPr id="5" name="Content Placeholder 3"/>
          <p:cNvSpPr>
            <a:spLocks noGrp="1"/>
          </p:cNvSpPr>
          <p:nvPr>
            <p:ph idx="10"/>
          </p:nvPr>
        </p:nvSpPr>
        <p:spPr>
          <a:xfrm>
            <a:off x="838200" y="5150702"/>
            <a:ext cx="10515600" cy="1070216"/>
          </a:xfrm>
        </p:spPr>
        <p:txBody>
          <a:bodyPr/>
          <a:lstStyle/>
          <a:p>
            <a:r>
              <a:rPr lang="en-US" sz="2800" dirty="0"/>
              <a:t>FCF is negative in 2020. </a:t>
            </a:r>
          </a:p>
          <a:p>
            <a:r>
              <a:rPr lang="en-US" sz="2800" dirty="0"/>
              <a:t>ROIC of 8.5% is less than WACC of 10%--not good!</a:t>
            </a:r>
          </a:p>
        </p:txBody>
      </p:sp>
    </p:spTree>
    <p:extLst>
      <p:ext uri="{BB962C8B-B14F-4D97-AF65-F5344CB8AC3E}">
        <p14:creationId xmlns:p14="http://schemas.microsoft.com/office/powerpoint/2010/main" val="1492916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Intrinsic Value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54768"/>
                <a:ext cx="10515600" cy="2286000"/>
              </a:xfrm>
            </p:spPr>
            <p:txBody>
              <a:bodyPr/>
              <a:lstStyle/>
              <a:p>
                <a:r>
                  <a:rPr lang="en-US" dirty="0">
                    <a:solidFill>
                      <a:schemeClr val="dk1"/>
                    </a:solidFill>
                    <a:latin typeface="Cambria Math"/>
                  </a:rPr>
                  <a:t>With no rounding in intermediate steps, FCF</a:t>
                </a:r>
                <a:r>
                  <a:rPr lang="en-US" baseline="-25000" dirty="0">
                    <a:solidFill>
                      <a:schemeClr val="dk1"/>
                    </a:solidFill>
                    <a:latin typeface="Cambria Math"/>
                  </a:rPr>
                  <a:t>2023</a:t>
                </a:r>
                <a:r>
                  <a:rPr lang="en-US" dirty="0">
                    <a:solidFill>
                      <a:schemeClr val="dk1"/>
                    </a:solidFill>
                    <a:latin typeface="Cambria Math"/>
                  </a:rPr>
                  <a:t> = $48.025.</a:t>
                </a:r>
              </a:p>
              <a:p>
                <a14:m>
                  <m:oMath xmlns:m="http://schemas.openxmlformats.org/officeDocument/2006/math">
                    <m:sSub>
                      <m:sSubPr>
                        <m:ctrlPr>
                          <a:rPr lang="en-US" i="1">
                            <a:solidFill>
                              <a:schemeClr val="dk1"/>
                            </a:solidFill>
                            <a:latin typeface="Cambria Math" panose="02040503050406030204" pitchFamily="18" charset="0"/>
                          </a:rPr>
                        </m:ctrlPr>
                      </m:sSubPr>
                      <m:e>
                        <m:r>
                          <m:rPr>
                            <m:sty m:val="p"/>
                          </m:rPr>
                          <a:rPr lang="en-US">
                            <a:solidFill>
                              <a:schemeClr val="dk1"/>
                            </a:solidFill>
                            <a:latin typeface="Cambria Math"/>
                          </a:rPr>
                          <m:t>HV</m:t>
                        </m:r>
                      </m:e>
                      <m:sub>
                        <m:r>
                          <a:rPr lang="en-US">
                            <a:solidFill>
                              <a:schemeClr val="dk1"/>
                            </a:solidFill>
                            <a:latin typeface="Cambria Math"/>
                          </a:rPr>
                          <m:t>20</m:t>
                        </m:r>
                        <m:r>
                          <a:rPr lang="en-US" i="1">
                            <a:solidFill>
                              <a:schemeClr val="dk1"/>
                            </a:solidFill>
                            <a:latin typeface="Cambria Math"/>
                          </a:rPr>
                          <m:t>2</m:t>
                        </m:r>
                        <m:r>
                          <a:rPr lang="en-US" i="1">
                            <a:solidFill>
                              <a:schemeClr val="dk1"/>
                            </a:solidFill>
                            <a:latin typeface="Cambria Math" panose="02040503050406030204" pitchFamily="18" charset="0"/>
                          </a:rPr>
                          <m:t>3</m:t>
                        </m:r>
                      </m:sub>
                    </m:sSub>
                    <m:r>
                      <a:rPr lang="en-US">
                        <a:solidFill>
                          <a:schemeClr val="dk1"/>
                        </a:solidFill>
                        <a:latin typeface="Cambria Math"/>
                      </a:rPr>
                      <m:t>=</m:t>
                    </m:r>
                    <m:r>
                      <a:rPr lang="en-US" i="1">
                        <a:solidFill>
                          <a:schemeClr val="dk1"/>
                        </a:solidFill>
                        <a:latin typeface="Cambria Math"/>
                      </a:rPr>
                      <m:t> </m:t>
                    </m:r>
                    <m:f>
                      <m:fPr>
                        <m:ctrlPr>
                          <a:rPr lang="en-US" i="1">
                            <a:solidFill>
                              <a:schemeClr val="dk1"/>
                            </a:solidFill>
                            <a:latin typeface="Cambria Math" panose="02040503050406030204" pitchFamily="18" charset="0"/>
                          </a:rPr>
                        </m:ctrlPr>
                      </m:fPr>
                      <m:num>
                        <m:sSub>
                          <m:sSubPr>
                            <m:ctrlPr>
                              <a:rPr lang="en-US" i="1">
                                <a:solidFill>
                                  <a:schemeClr val="dk1"/>
                                </a:solidFill>
                                <a:latin typeface="Cambria Math" panose="02040503050406030204" pitchFamily="18" charset="0"/>
                              </a:rPr>
                            </m:ctrlPr>
                          </m:sSubPr>
                          <m:e>
                            <m:r>
                              <m:rPr>
                                <m:sty m:val="p"/>
                              </m:rPr>
                              <a:rPr lang="en-US">
                                <a:solidFill>
                                  <a:schemeClr val="dk1"/>
                                </a:solidFill>
                                <a:latin typeface="Cambria Math"/>
                              </a:rPr>
                              <m:t>FCF</m:t>
                            </m:r>
                          </m:e>
                          <m:sub>
                            <m:r>
                              <a:rPr lang="en-US">
                                <a:solidFill>
                                  <a:schemeClr val="dk1"/>
                                </a:solidFill>
                                <a:latin typeface="Cambria Math"/>
                              </a:rPr>
                              <m:t>20</m:t>
                            </m:r>
                            <m:r>
                              <a:rPr lang="en-US" i="1">
                                <a:solidFill>
                                  <a:schemeClr val="dk1"/>
                                </a:solidFill>
                                <a:latin typeface="Cambria Math"/>
                              </a:rPr>
                              <m:t>2</m:t>
                            </m:r>
                            <m:r>
                              <a:rPr lang="en-US" i="1">
                                <a:solidFill>
                                  <a:schemeClr val="dk1"/>
                                </a:solidFill>
                                <a:latin typeface="Cambria Math" panose="02040503050406030204" pitchFamily="18" charset="0"/>
                              </a:rPr>
                              <m:t>3</m:t>
                            </m:r>
                          </m:sub>
                        </m:sSub>
                        <m:r>
                          <a:rPr lang="en-US">
                            <a:solidFill>
                              <a:schemeClr val="dk1"/>
                            </a:solidFill>
                            <a:latin typeface="Cambria Math"/>
                          </a:rPr>
                          <m:t>(1+</m:t>
                        </m:r>
                        <m:sSub>
                          <m:sSubPr>
                            <m:ctrlPr>
                              <a:rPr lang="en-US" i="1">
                                <a:solidFill>
                                  <a:schemeClr val="dk1"/>
                                </a:solidFill>
                                <a:latin typeface="Cambria Math" panose="02040503050406030204" pitchFamily="18" charset="0"/>
                              </a:rPr>
                            </m:ctrlPr>
                          </m:sSubPr>
                          <m:e>
                            <m:r>
                              <m:rPr>
                                <m:sty m:val="p"/>
                              </m:rPr>
                              <a:rPr lang="en-US">
                                <a:solidFill>
                                  <a:schemeClr val="dk1"/>
                                </a:solidFill>
                                <a:latin typeface="Cambria Math"/>
                              </a:rPr>
                              <m:t>g</m:t>
                            </m:r>
                          </m:e>
                          <m:sub>
                            <m:r>
                              <m:rPr>
                                <m:sty m:val="p"/>
                              </m:rPr>
                              <a:rPr lang="en-US">
                                <a:solidFill>
                                  <a:schemeClr val="dk1"/>
                                </a:solidFill>
                                <a:latin typeface="Cambria Math"/>
                              </a:rPr>
                              <m:t>L</m:t>
                            </m:r>
                          </m:sub>
                        </m:sSub>
                        <m:r>
                          <a:rPr lang="en-US">
                            <a:solidFill>
                              <a:schemeClr val="dk1"/>
                            </a:solidFill>
                            <a:latin typeface="Cambria Math"/>
                          </a:rPr>
                          <m:t>)</m:t>
                        </m:r>
                      </m:num>
                      <m:den>
                        <m:r>
                          <a:rPr lang="en-US">
                            <a:solidFill>
                              <a:schemeClr val="dk1"/>
                            </a:solidFill>
                            <a:latin typeface="Cambria Math"/>
                          </a:rPr>
                          <m:t>(</m:t>
                        </m:r>
                        <m:r>
                          <m:rPr>
                            <m:sty m:val="p"/>
                          </m:rPr>
                          <a:rPr lang="en-US">
                            <a:solidFill>
                              <a:schemeClr val="dk1"/>
                            </a:solidFill>
                            <a:latin typeface="Cambria Math"/>
                          </a:rPr>
                          <m:t>WACC</m:t>
                        </m:r>
                        <m:r>
                          <a:rPr lang="en-US" i="1">
                            <a:solidFill>
                              <a:schemeClr val="dk1"/>
                            </a:solidFill>
                            <a:latin typeface="Cambria Math"/>
                          </a:rPr>
                          <m:t> − </m:t>
                        </m:r>
                        <m:sSub>
                          <m:sSubPr>
                            <m:ctrlPr>
                              <a:rPr lang="en-US" i="1">
                                <a:solidFill>
                                  <a:schemeClr val="dk1"/>
                                </a:solidFill>
                                <a:latin typeface="Cambria Math" panose="02040503050406030204" pitchFamily="18" charset="0"/>
                              </a:rPr>
                            </m:ctrlPr>
                          </m:sSubPr>
                          <m:e>
                            <m:r>
                              <m:rPr>
                                <m:sty m:val="p"/>
                              </m:rPr>
                              <a:rPr lang="en-US">
                                <a:solidFill>
                                  <a:schemeClr val="dk1"/>
                                </a:solidFill>
                                <a:latin typeface="Cambria Math"/>
                              </a:rPr>
                              <m:t>g</m:t>
                            </m:r>
                          </m:e>
                          <m:sub>
                            <m:r>
                              <m:rPr>
                                <m:sty m:val="p"/>
                              </m:rPr>
                              <a:rPr lang="en-US">
                                <a:solidFill>
                                  <a:schemeClr val="dk1"/>
                                </a:solidFill>
                                <a:latin typeface="Cambria Math"/>
                              </a:rPr>
                              <m:t>L</m:t>
                            </m:r>
                          </m:sub>
                        </m:sSub>
                        <m:r>
                          <a:rPr lang="en-US">
                            <a:solidFill>
                              <a:schemeClr val="dk1"/>
                            </a:solidFill>
                            <a:latin typeface="Cambria Math"/>
                          </a:rPr>
                          <m:t>)</m:t>
                        </m:r>
                      </m:den>
                    </m:f>
                    <m:r>
                      <a:rPr lang="en-US" i="1">
                        <a:solidFill>
                          <a:schemeClr val="dk1"/>
                        </a:solidFill>
                        <a:latin typeface="Cambria Math"/>
                      </a:rPr>
                      <m:t>=</m:t>
                    </m:r>
                    <m:f>
                      <m:fPr>
                        <m:ctrlPr>
                          <a:rPr lang="en-US" i="1">
                            <a:solidFill>
                              <a:schemeClr val="dk1"/>
                            </a:solidFill>
                            <a:latin typeface="Cambria Math" panose="02040503050406030204" pitchFamily="18" charset="0"/>
                          </a:rPr>
                        </m:ctrlPr>
                      </m:fPr>
                      <m:num>
                        <m:r>
                          <a:rPr lang="en-US" i="1">
                            <a:solidFill>
                              <a:schemeClr val="dk1"/>
                            </a:solidFill>
                            <a:latin typeface="Cambria Math"/>
                          </a:rPr>
                          <m:t>$48.025</m:t>
                        </m:r>
                        <m:r>
                          <a:rPr lang="en-US">
                            <a:solidFill>
                              <a:schemeClr val="dk1"/>
                            </a:solidFill>
                            <a:latin typeface="Cambria Math"/>
                          </a:rPr>
                          <m:t>(1+</m:t>
                        </m:r>
                        <m:r>
                          <a:rPr lang="en-US" i="1">
                            <a:solidFill>
                              <a:schemeClr val="dk1"/>
                            </a:solidFill>
                            <a:latin typeface="Cambria Math"/>
                          </a:rPr>
                          <m:t>0.05</m:t>
                        </m:r>
                        <m:r>
                          <a:rPr lang="en-US">
                            <a:solidFill>
                              <a:schemeClr val="dk1"/>
                            </a:solidFill>
                            <a:latin typeface="Cambria Math"/>
                          </a:rPr>
                          <m:t>)</m:t>
                        </m:r>
                      </m:num>
                      <m:den>
                        <m:r>
                          <a:rPr lang="en-US">
                            <a:solidFill>
                              <a:schemeClr val="dk1"/>
                            </a:solidFill>
                            <a:latin typeface="Cambria Math"/>
                          </a:rPr>
                          <m:t>(0.09</m:t>
                        </m:r>
                        <m:r>
                          <a:rPr lang="en-US" i="1">
                            <a:solidFill>
                              <a:schemeClr val="dk1"/>
                            </a:solidFill>
                            <a:latin typeface="Cambria Math"/>
                          </a:rPr>
                          <m:t>−0.05</m:t>
                        </m:r>
                        <m:r>
                          <a:rPr lang="en-US">
                            <a:solidFill>
                              <a:schemeClr val="dk1"/>
                            </a:solidFill>
                            <a:latin typeface="Cambria Math"/>
                          </a:rPr>
                          <m:t>)</m:t>
                        </m:r>
                      </m:den>
                    </m:f>
                    <m:r>
                      <a:rPr lang="en-US" i="1">
                        <a:solidFill>
                          <a:schemeClr val="dk1"/>
                        </a:solidFill>
                        <a:latin typeface="Cambria Math"/>
                      </a:rPr>
                      <m:t>=$4,941.40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54768"/>
                <a:ext cx="10515600" cy="2286000"/>
              </a:xfrm>
              <a:blipFill rotWithShape="1">
                <a:blip r:embed="rId2"/>
                <a:stretch>
                  <a:fillRect l="-1333" t="-3467"/>
                </a:stretch>
              </a:blipFill>
            </p:spPr>
            <p:txBody>
              <a:bodyPr/>
              <a:lstStyle/>
              <a:p>
                <a:r>
                  <a:rPr lang="en-US">
                    <a:noFill/>
                  </a:rPr>
                  <a:t> </a:t>
                </a:r>
              </a:p>
            </p:txBody>
          </p:sp>
        </mc:Fallback>
      </mc:AlternateContent>
      <p:graphicFrame>
        <p:nvGraphicFramePr>
          <p:cNvPr id="8" name="Table 3" descr="A table shows estimated intrinsic value. Scenario: no change of horizon value: is H V sunscript 2023 equals $ 4,941 and value of operations: present value of HV plus the present value of FCF is $3375 and $307, the value of operations equals is $3682 for value of operations plus S T investments is $ 3682 and $ 0, est. total intrinsic value minus all debt of $3682 with $1882, minus preferred stock of $0, est. intrinsic value of equity divided with number of shares of $1882 with 50, est. intrinsic stock price equals $37.60."/>
          <p:cNvGraphicFramePr>
            <a:graphicFrameLocks noGrp="1"/>
          </p:cNvGraphicFramePr>
          <p:nvPr>
            <p:ph idx="10"/>
            <p:extLst>
              <p:ext uri="{D42A27DB-BD31-4B8C-83A1-F6EECF244321}">
                <p14:modId xmlns:p14="http://schemas.microsoft.com/office/powerpoint/2010/main" val="2738504199"/>
              </p:ext>
            </p:extLst>
          </p:nvPr>
        </p:nvGraphicFramePr>
        <p:xfrm>
          <a:off x="1560286" y="3009217"/>
          <a:ext cx="9071429" cy="3205323"/>
        </p:xfrm>
        <a:graphic>
          <a:graphicData uri="http://schemas.openxmlformats.org/drawingml/2006/table">
            <a:tbl>
              <a:tblPr firstRow="1" bandRow="1"/>
              <a:tblGrid>
                <a:gridCol w="2824124">
                  <a:extLst>
                    <a:ext uri="{9D8B030D-6E8A-4147-A177-3AD203B41FA5}">
                      <a16:colId xmlns:a16="http://schemas.microsoft.com/office/drawing/2014/main" val="20000"/>
                    </a:ext>
                  </a:extLst>
                </a:gridCol>
                <a:gridCol w="1112534">
                  <a:extLst>
                    <a:ext uri="{9D8B030D-6E8A-4147-A177-3AD203B41FA5}">
                      <a16:colId xmlns:a16="http://schemas.microsoft.com/office/drawing/2014/main" val="20001"/>
                    </a:ext>
                  </a:extLst>
                </a:gridCol>
                <a:gridCol w="3337601">
                  <a:extLst>
                    <a:ext uri="{9D8B030D-6E8A-4147-A177-3AD203B41FA5}">
                      <a16:colId xmlns:a16="http://schemas.microsoft.com/office/drawing/2014/main" val="20002"/>
                    </a:ext>
                  </a:extLst>
                </a:gridCol>
                <a:gridCol w="1797170">
                  <a:extLst>
                    <a:ext uri="{9D8B030D-6E8A-4147-A177-3AD203B41FA5}">
                      <a16:colId xmlns:a16="http://schemas.microsoft.com/office/drawing/2014/main" val="20003"/>
                    </a:ext>
                  </a:extLst>
                </a:gridCol>
              </a:tblGrid>
              <a:tr h="356147">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a:solidFill>
                            <a:schemeClr val="tx1"/>
                          </a:solidFill>
                          <a:effectLst/>
                          <a:latin typeface="Arial" panose="020B0604020202020204" pitchFamily="34" charset="0"/>
                          <a:cs typeface="Arial" panose="020B0604020202020204" pitchFamily="34" charset="0"/>
                        </a:rPr>
                        <a:t>Scenario: No Change </a:t>
                      </a:r>
                      <a:endParaRPr lang="en-US" sz="2000" b="1" dirty="0">
                        <a:solidFill>
                          <a:schemeClr val="tx1"/>
                        </a:solidFill>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lnSpc>
                          <a:spcPct val="115000"/>
                        </a:lnSpc>
                        <a:spcBef>
                          <a:spcPts val="0"/>
                        </a:spcBef>
                        <a:spcAft>
                          <a:spcPts val="0"/>
                        </a:spcAft>
                      </a:pP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lnSpc>
                          <a:spcPct val="115000"/>
                        </a:lnSpc>
                        <a:spcBef>
                          <a:spcPts val="0"/>
                        </a:spcBef>
                        <a:spcAft>
                          <a:spcPts val="0"/>
                        </a:spcAft>
                      </a:pP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lnSpc>
                          <a:spcPct val="115000"/>
                        </a:lnSpc>
                        <a:spcBef>
                          <a:spcPts val="0"/>
                        </a:spcBef>
                        <a:spcAft>
                          <a:spcPts val="0"/>
                        </a:spcAft>
                      </a:pP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15000"/>
                        </a:lnSpc>
                        <a:spcBef>
                          <a:spcPts val="0"/>
                        </a:spcBef>
                        <a:spcAft>
                          <a:spcPts val="0"/>
                        </a:spcAft>
                      </a:pPr>
                      <a:r>
                        <a:rPr lang="en-US" sz="2000" b="1" dirty="0">
                          <a:effectLst/>
                          <a:latin typeface="Arial" panose="020B0604020202020204" pitchFamily="34" charset="0"/>
                          <a:cs typeface="Arial" panose="020B0604020202020204" pitchFamily="34" charset="0"/>
                        </a:rPr>
                        <a:t>Horizon Value:</a:t>
                      </a:r>
                      <a:endParaRPr lang="en-US" sz="2000" b="1"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Value of operations</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$3,682</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  ST investments</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$0</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2000" kern="1200" baseline="0" dirty="0">
                          <a:solidFill>
                            <a:schemeClr val="dk1"/>
                          </a:solidFill>
                          <a:effectLst/>
                          <a:latin typeface="Arial" panose="020B0604020202020204" pitchFamily="34" charset="0"/>
                          <a:ea typeface="+mn-ea"/>
                          <a:cs typeface="Arial" panose="020B0604020202020204" pitchFamily="34" charset="0"/>
                        </a:rPr>
                        <a:t>HV</a:t>
                      </a:r>
                      <a:r>
                        <a:rPr lang="en-US" sz="2000" kern="1200" baseline="-25000" dirty="0">
                          <a:solidFill>
                            <a:schemeClr val="dk1"/>
                          </a:solidFill>
                          <a:effectLst/>
                          <a:latin typeface="Arial" panose="020B0604020202020204" pitchFamily="34" charset="0"/>
                          <a:ea typeface="+mn-ea"/>
                          <a:cs typeface="Arial" panose="020B0604020202020204" pitchFamily="34" charset="0"/>
                        </a:rPr>
                        <a:t>2023</a:t>
                      </a:r>
                      <a:r>
                        <a:rPr lang="en-US" sz="2000" kern="1200" baseline="0" dirty="0">
                          <a:solidFill>
                            <a:schemeClr val="dk1"/>
                          </a:solidFill>
                          <a:effectLst/>
                          <a:latin typeface="Arial" panose="020B0604020202020204" pitchFamily="34" charset="0"/>
                          <a:ea typeface="+mn-ea"/>
                          <a:cs typeface="Arial" panose="020B0604020202020204" pitchFamily="34" charset="0"/>
                        </a:rPr>
                        <a:t> =</a:t>
                      </a:r>
                      <a:endParaRPr lang="en-US" sz="2000" kern="1200" dirty="0">
                        <a:solidFill>
                          <a:schemeClr val="dk1"/>
                        </a:solidFill>
                        <a:effectLst/>
                        <a:latin typeface="Arial" panose="020B0604020202020204" pitchFamily="34" charset="0"/>
                        <a:ea typeface="+mn-ea"/>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$4,941</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Est. total intrinsic value</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$3,682</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All debt</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$1,882</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l">
                        <a:lnSpc>
                          <a:spcPct val="115000"/>
                        </a:lnSpc>
                        <a:spcBef>
                          <a:spcPts val="0"/>
                        </a:spcBef>
                        <a:spcAft>
                          <a:spcPts val="0"/>
                        </a:spcAft>
                      </a:pPr>
                      <a:r>
                        <a:rPr lang="en-US" sz="2000" b="1" dirty="0">
                          <a:effectLst/>
                          <a:latin typeface="Arial" panose="020B0604020202020204" pitchFamily="34" charset="0"/>
                          <a:cs typeface="Arial" panose="020B0604020202020204" pitchFamily="34" charset="0"/>
                        </a:rPr>
                        <a:t>Value of Operations:</a:t>
                      </a:r>
                      <a:endParaRPr lang="en-US" sz="2000" b="1"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 Preferred stock</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$0</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Present value of HV</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defTabSz="914400" rtl="0" eaLnBrk="1" latinLnBrk="0" hangingPunct="1">
                        <a:lnSpc>
                          <a:spcPct val="115000"/>
                        </a:lnSpc>
                        <a:spcBef>
                          <a:spcPts val="0"/>
                        </a:spcBef>
                        <a:spcAft>
                          <a:spcPts val="0"/>
                        </a:spcAft>
                      </a:pPr>
                      <a:r>
                        <a:rPr lang="en-US" sz="2000" kern="1200" dirty="0">
                          <a:solidFill>
                            <a:schemeClr val="dk1"/>
                          </a:solidFill>
                          <a:effectLst/>
                          <a:latin typeface="Arial" panose="020B0604020202020204" pitchFamily="34" charset="0"/>
                          <a:ea typeface="+mn-ea"/>
                          <a:cs typeface="Arial" panose="020B0604020202020204" pitchFamily="34" charset="0"/>
                        </a:rPr>
                        <a:t>$3,375</a:t>
                      </a:r>
                    </a:p>
                  </a:txBody>
                  <a:tcPr marL="77022" marR="7702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Est. intrinsic value of equity</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$1,882</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 Present value of FCF</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defTabSz="914400" rtl="0" eaLnBrk="1" latinLnBrk="0" hangingPunct="1">
                        <a:lnSpc>
                          <a:spcPct val="115000"/>
                        </a:lnSpc>
                        <a:spcBef>
                          <a:spcPts val="0"/>
                        </a:spcBef>
                        <a:spcAft>
                          <a:spcPts val="0"/>
                        </a:spcAft>
                      </a:pPr>
                      <a:r>
                        <a:rPr lang="en-US" sz="2000" kern="1200" dirty="0">
                          <a:solidFill>
                            <a:schemeClr val="dk1"/>
                          </a:solidFill>
                          <a:effectLst/>
                          <a:latin typeface="Arial" panose="020B0604020202020204" pitchFamily="34" charset="0"/>
                          <a:ea typeface="+mn-ea"/>
                          <a:cs typeface="Arial" panose="020B0604020202020204" pitchFamily="34" charset="0"/>
                        </a:rPr>
                        <a:t>$307</a:t>
                      </a:r>
                    </a:p>
                  </a:txBody>
                  <a:tcPr marL="77022" marR="77022"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 Number of shares</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u="sng" dirty="0">
                          <a:effectLst/>
                          <a:latin typeface="Arial" panose="020B0604020202020204" pitchFamily="34" charset="0"/>
                          <a:cs typeface="Arial" panose="020B0604020202020204" pitchFamily="34" charset="0"/>
                        </a:rPr>
                        <a:t>50</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35614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Value of operations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defTabSz="914400" rtl="0" eaLnBrk="1" latinLnBrk="0" hangingPunct="1">
                        <a:lnSpc>
                          <a:spcPct val="115000"/>
                        </a:lnSpc>
                        <a:spcBef>
                          <a:spcPts val="0"/>
                        </a:spcBef>
                        <a:spcAft>
                          <a:spcPts val="0"/>
                        </a:spcAft>
                      </a:pPr>
                      <a:r>
                        <a:rPr lang="en-US" sz="2000" kern="1200" dirty="0">
                          <a:solidFill>
                            <a:schemeClr val="dk1"/>
                          </a:solidFill>
                          <a:effectLst/>
                          <a:latin typeface="Arial" panose="020B0604020202020204" pitchFamily="34" charset="0"/>
                          <a:ea typeface="+mn-ea"/>
                          <a:cs typeface="Arial" panose="020B0604020202020204" pitchFamily="34" charset="0"/>
                        </a:rPr>
                        <a:t>$3,682</a:t>
                      </a:r>
                    </a:p>
                  </a:txBody>
                  <a:tcPr marL="77022" marR="77022"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Est. intrinsic stock price =</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000" dirty="0">
                          <a:effectLst/>
                          <a:latin typeface="Arial" panose="020B0604020202020204" pitchFamily="34" charset="0"/>
                          <a:cs typeface="Arial" panose="020B0604020202020204" pitchFamily="34" charset="0"/>
                        </a:rPr>
                        <a:t>$37.60</a:t>
                      </a:r>
                      <a:endParaRPr lang="en-US" sz="2000" dirty="0">
                        <a:effectLst/>
                        <a:latin typeface="Arial" panose="020B0604020202020204" pitchFamily="34" charset="0"/>
                        <a:ea typeface="Times New Roman"/>
                        <a:cs typeface="Arial" panose="020B0604020202020204" pitchFamily="34" charset="0"/>
                      </a:endParaRPr>
                    </a:p>
                  </a:txBody>
                  <a:tcPr marL="40838" marR="4083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83993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Intrinsic Stock Price versus Market Price</a:t>
            </a:r>
          </a:p>
        </p:txBody>
      </p:sp>
      <p:sp>
        <p:nvSpPr>
          <p:cNvPr id="3" name="Content Placeholder 2"/>
          <p:cNvSpPr>
            <a:spLocks noGrp="1"/>
          </p:cNvSpPr>
          <p:nvPr>
            <p:ph idx="1"/>
          </p:nvPr>
        </p:nvSpPr>
        <p:spPr/>
        <p:txBody>
          <a:bodyPr/>
          <a:lstStyle/>
          <a:p>
            <a:r>
              <a:rPr lang="en-US" dirty="0"/>
              <a:t>Stock price:</a:t>
            </a:r>
          </a:p>
          <a:p>
            <a:pPr lvl="1"/>
            <a:r>
              <a:rPr lang="en-US" dirty="0"/>
              <a:t>Estimated price = $37.65 (if no rounding in intermediate steps)</a:t>
            </a:r>
          </a:p>
          <a:p>
            <a:pPr lvl="1"/>
            <a:r>
              <a:rPr lang="en-US" dirty="0"/>
              <a:t>Actual price =$41</a:t>
            </a:r>
          </a:p>
          <a:p>
            <a:r>
              <a:rPr lang="en-US" dirty="0"/>
              <a:t>Difference of −8.2%:</a:t>
            </a:r>
          </a:p>
          <a:p>
            <a:pPr lvl="1"/>
            <a:r>
              <a:rPr lang="en-US" dirty="0"/>
              <a:t>37.65/$41 – 1 = −3%</a:t>
            </a:r>
          </a:p>
          <a:p>
            <a:pPr lvl="1"/>
            <a:r>
              <a:rPr lang="en-US" dirty="0"/>
              <a:t>Is this a big difference of small difference?</a:t>
            </a:r>
          </a:p>
          <a:p>
            <a:r>
              <a:rPr lang="en-US" dirty="0"/>
              <a:t>Market expects improved performance.</a:t>
            </a:r>
          </a:p>
        </p:txBody>
      </p:sp>
    </p:spTree>
    <p:extLst>
      <p:ext uri="{BB962C8B-B14F-4D97-AF65-F5344CB8AC3E}">
        <p14:creationId xmlns:p14="http://schemas.microsoft.com/office/powerpoint/2010/main" val="3249572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Forecasted Financial Statements: The Balance Sheet and Income Statement</a:t>
            </a:r>
          </a:p>
        </p:txBody>
      </p:sp>
      <p:sp>
        <p:nvSpPr>
          <p:cNvPr id="3" name="Content Placeholder 2"/>
          <p:cNvSpPr>
            <a:spLocks noGrp="1"/>
          </p:cNvSpPr>
          <p:nvPr>
            <p:ph idx="1"/>
          </p:nvPr>
        </p:nvSpPr>
        <p:spPr/>
        <p:txBody>
          <a:bodyPr/>
          <a:lstStyle/>
          <a:p>
            <a:pPr>
              <a:spcAft>
                <a:spcPts val="0"/>
              </a:spcAft>
            </a:pPr>
            <a:r>
              <a:rPr lang="en-US" dirty="0"/>
              <a:t>Start with the operating items on the balance sheet and income statement that were previously forecast.</a:t>
            </a:r>
          </a:p>
          <a:p>
            <a:pPr>
              <a:spcAft>
                <a:spcPts val="0"/>
              </a:spcAft>
            </a:pPr>
            <a:r>
              <a:rPr lang="en-US" dirty="0"/>
              <a:t>Implement the </a:t>
            </a:r>
            <a:r>
              <a:rPr lang="en-US" dirty="0">
                <a:solidFill>
                  <a:srgbClr val="0000CC"/>
                </a:solidFill>
              </a:rPr>
              <a:t>preliminary financial policy </a:t>
            </a:r>
            <a:r>
              <a:rPr lang="en-US" dirty="0"/>
              <a:t>chosen by the company:</a:t>
            </a:r>
          </a:p>
          <a:p>
            <a:pPr lvl="1">
              <a:spcAft>
                <a:spcPts val="0"/>
              </a:spcAft>
            </a:pPr>
            <a:r>
              <a:rPr lang="en-US" dirty="0"/>
              <a:t>Regular dividends will grow by 10%.</a:t>
            </a:r>
          </a:p>
          <a:p>
            <a:pPr lvl="1">
              <a:spcAft>
                <a:spcPts val="0"/>
              </a:spcAft>
            </a:pPr>
            <a:r>
              <a:rPr lang="en-US" dirty="0"/>
              <a:t>No additional long-term debt or common stock will be issued.</a:t>
            </a:r>
          </a:p>
          <a:p>
            <a:pPr lvl="1">
              <a:spcAft>
                <a:spcPts val="0"/>
              </a:spcAft>
            </a:pPr>
            <a:r>
              <a:rPr lang="en-US" dirty="0"/>
              <a:t>The interest rate on all debt is 8%.</a:t>
            </a:r>
          </a:p>
          <a:p>
            <a:pPr lvl="1">
              <a:spcAft>
                <a:spcPts val="0"/>
              </a:spcAft>
            </a:pPr>
            <a:r>
              <a:rPr lang="en-US" dirty="0"/>
              <a:t>Interest expense for long-term debt is based on the average balance during the year.</a:t>
            </a:r>
          </a:p>
        </p:txBody>
      </p:sp>
    </p:spTree>
    <p:extLst>
      <p:ext uri="{BB962C8B-B14F-4D97-AF65-F5344CB8AC3E}">
        <p14:creationId xmlns:p14="http://schemas.microsoft.com/office/powerpoint/2010/main" val="3918309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and Eliminate the Financing Deficit or Surplus</a:t>
            </a:r>
          </a:p>
        </p:txBody>
      </p:sp>
      <p:sp>
        <p:nvSpPr>
          <p:cNvPr id="3" name="Content Placeholder 2"/>
          <p:cNvSpPr>
            <a:spLocks noGrp="1"/>
          </p:cNvSpPr>
          <p:nvPr>
            <p:ph idx="1"/>
          </p:nvPr>
        </p:nvSpPr>
        <p:spPr/>
        <p:txBody>
          <a:bodyPr/>
          <a:lstStyle/>
          <a:p>
            <a:pPr>
              <a:spcBef>
                <a:spcPts val="0"/>
              </a:spcBef>
              <a:spcAft>
                <a:spcPts val="0"/>
              </a:spcAft>
            </a:pPr>
            <a:r>
              <a:rPr lang="en-US" sz="2800" dirty="0"/>
              <a:t>After implementing the operating plan and the preliminary financing policy, it would be unusual for the additional financing to exactly match the additional assets needed for the operating plan :</a:t>
            </a:r>
          </a:p>
          <a:p>
            <a:pPr lvl="1">
              <a:spcBef>
                <a:spcPts val="0"/>
              </a:spcBef>
              <a:spcAft>
                <a:spcPts val="0"/>
              </a:spcAft>
            </a:pPr>
            <a:r>
              <a:rPr lang="en-US" sz="2400" dirty="0"/>
              <a:t>Financing deficit if additional financing is </a:t>
            </a:r>
            <a:r>
              <a:rPr lang="en-US" sz="2400" i="1" dirty="0"/>
              <a:t>less than </a:t>
            </a:r>
            <a:r>
              <a:rPr lang="en-US" sz="2400" dirty="0"/>
              <a:t>additional assets.</a:t>
            </a:r>
          </a:p>
          <a:p>
            <a:pPr lvl="1">
              <a:spcBef>
                <a:spcPts val="0"/>
              </a:spcBef>
              <a:spcAft>
                <a:spcPts val="0"/>
              </a:spcAft>
            </a:pPr>
            <a:r>
              <a:rPr lang="en-US" sz="2400" dirty="0"/>
              <a:t>Financing surplus if additional financing is </a:t>
            </a:r>
            <a:r>
              <a:rPr lang="en-US" sz="2400" i="1" dirty="0"/>
              <a:t>greater than </a:t>
            </a:r>
            <a:r>
              <a:rPr lang="en-US" sz="2400" dirty="0"/>
              <a:t>additional assets.</a:t>
            </a:r>
          </a:p>
          <a:p>
            <a:pPr>
              <a:spcBef>
                <a:spcPts val="0"/>
              </a:spcBef>
              <a:spcAft>
                <a:spcPts val="0"/>
              </a:spcAft>
            </a:pPr>
            <a:r>
              <a:rPr lang="en-US" sz="2800" dirty="0"/>
              <a:t>Eliminate the financing deficit or surplus:</a:t>
            </a:r>
          </a:p>
          <a:p>
            <a:pPr lvl="1">
              <a:spcBef>
                <a:spcPts val="0"/>
              </a:spcBef>
              <a:spcAft>
                <a:spcPts val="0"/>
              </a:spcAft>
            </a:pPr>
            <a:r>
              <a:rPr lang="en-US" sz="2400" dirty="0"/>
              <a:t>If deficit, draw on a line of credit. The line of credit would be tapped on the last day of the year, so it would create no additional interest expenses for that year.</a:t>
            </a:r>
          </a:p>
          <a:p>
            <a:pPr lvl="1">
              <a:spcBef>
                <a:spcPts val="0"/>
              </a:spcBef>
              <a:spcAft>
                <a:spcPts val="0"/>
              </a:spcAft>
            </a:pPr>
            <a:r>
              <a:rPr lang="en-US" sz="2400" dirty="0"/>
              <a:t>If surplus, eliminate it by paying a special dividend. </a:t>
            </a:r>
          </a:p>
        </p:txBody>
      </p:sp>
    </p:spTree>
    <p:extLst>
      <p:ext uri="{BB962C8B-B14F-4D97-AF65-F5344CB8AC3E}">
        <p14:creationId xmlns:p14="http://schemas.microsoft.com/office/powerpoint/2010/main" val="3481233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Income Statement</a:t>
            </a:r>
          </a:p>
        </p:txBody>
      </p:sp>
      <p:graphicFrame>
        <p:nvGraphicFramePr>
          <p:cNvPr id="6" name="Table 2" descr="A table shows the preliminary income statement. Sales and op. costs within parenthesis excl. depr. and depreciation of 2019 is $9000.9 and 8100.9 and 360.0 of E B I T of is %540.0 input multiplies basis for 2020 forecast of 1.111 and 90 percent and 10 percent multiplies 2019 sales and 2020 sales and 2020 net fixed assets of 2020 is $10000 and 9000 and 400 is $ 600.0, less: interest on L T D and interest on L O C of 2019 is 144.0, and 0 Input is 8 percent, and 8 percent basis for 2020 forecast is multiplies avg bonds and multiplies beginning L O C 2020 is 144, pretax earnings and taxes within parenthesis 40 percent of 2019 is $396.0 and 99.0 Input is 25 percent basis for 2020 forecast multiplies pretax earnings 2020 is $ 456 and 114, net incomes of 2019 is $297.0 2020 is $342, regular dividends of 2019 is $100.00 Input is 110 percent basis for 2020 forecast is multiplies 2017 dividend 2020 is $110, special dividends of 2019 is $0.0 basis for 2020 forecast is pay if financing surplus, addition to R E of 2019 is $197.0 basis for 2020 forecast is net income - dividends 2020 is $232."/>
          <p:cNvGraphicFramePr>
            <a:graphicFrameLocks noGrp="1"/>
          </p:cNvGraphicFramePr>
          <p:nvPr>
            <p:ph idx="1"/>
            <p:extLst>
              <p:ext uri="{D42A27DB-BD31-4B8C-83A1-F6EECF244321}">
                <p14:modId xmlns:p14="http://schemas.microsoft.com/office/powerpoint/2010/main" val="3609620858"/>
              </p:ext>
            </p:extLst>
          </p:nvPr>
        </p:nvGraphicFramePr>
        <p:xfrm>
          <a:off x="838200" y="1276592"/>
          <a:ext cx="10955508" cy="4914140"/>
        </p:xfrm>
        <a:graphic>
          <a:graphicData uri="http://schemas.openxmlformats.org/drawingml/2006/table">
            <a:tbl>
              <a:tblPr firstRow="1" firstCol="1" bandRow="1"/>
              <a:tblGrid>
                <a:gridCol w="3383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79988">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52502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endParaRPr lang="en-US" sz="2400" dirty="0">
                        <a:solidFill>
                          <a:schemeClr val="tx1"/>
                        </a:solidFill>
                        <a:effectLst/>
                        <a:latin typeface="Arial" panose="020B0604020202020204" pitchFamily="34" charset="0"/>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2019</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Input</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Basis for 2020 Forecast</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2020</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Sales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$9,000.9</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1.111</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2019 Sales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$10,000</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Op. costs (excl. depr.)</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8,100.9</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90%</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2020 Sales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9,000</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Depreciation</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     360.0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10%</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2020 Net fixed assets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      400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35345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EBIT</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   540.0</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    600.0</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Less: Interest on LTD</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144.0</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8%</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Avg bonds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144</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18288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Interest on LOC</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          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8%</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Beginning LOC</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35345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Pretax earnings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   396.0</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     456</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Taxes (40%)</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       99.0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25%</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Pretax earnings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114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35345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Net income</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u="dbl" dirty="0">
                          <a:effectLst/>
                          <a:latin typeface="Arial" panose="020B0604020202020204" pitchFamily="34" charset="0"/>
                          <a:ea typeface="Times New Roman" panose="02020603050405020304" pitchFamily="18" charset="0"/>
                          <a:cs typeface="Arial" panose="020B0604020202020204" pitchFamily="34" charset="0"/>
                        </a:rPr>
                        <a:t>$   297.0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dbl" dirty="0">
                          <a:effectLst/>
                          <a:latin typeface="Arial" panose="020B0604020202020204" pitchFamily="34" charset="0"/>
                          <a:ea typeface="Times New Roman" panose="02020603050405020304" pitchFamily="18" charset="0"/>
                          <a:cs typeface="Arial" panose="020B0604020202020204" pitchFamily="34" charset="0"/>
                        </a:rPr>
                        <a:t>$     342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r h="31417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Regular dividends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$100.0</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110%</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400" dirty="0">
                          <a:effectLst/>
                          <a:latin typeface="Arial" panose="020B0604020202020204" pitchFamily="34" charset="0"/>
                          <a:cs typeface="Arial" panose="020B0604020202020204" pitchFamily="34" charset="0"/>
                        </a:rPr>
                        <a:t>×  2017 Dividend</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$110</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0"/>
                  </a:ext>
                </a:extLst>
              </a:tr>
              <a:tr h="35345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Special dividends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$0.0</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Pay if financing surplus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11"/>
                  </a:ext>
                </a:extLst>
              </a:tr>
              <a:tr h="35345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Addition to RE</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88363" marR="883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$197.0</a:t>
                      </a:r>
                    </a:p>
                  </a:txBody>
                  <a:tcPr marL="88363" marR="8836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400" dirty="0">
                        <a:effectLst/>
                        <a:latin typeface="Arial" panose="020B0604020202020204" pitchFamily="34" charset="0"/>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400" dirty="0">
                          <a:effectLst/>
                          <a:latin typeface="Arial" panose="020B0604020202020204" pitchFamily="34" charset="0"/>
                          <a:cs typeface="Arial" panose="020B0604020202020204" pitchFamily="34" charset="0"/>
                        </a:rPr>
                        <a:t>Net income – Dividends</a:t>
                      </a:r>
                      <a:endParaRPr lang="en-US" sz="2400" dirty="0">
                        <a:effectLst/>
                        <a:latin typeface="Arial" panose="020B0604020202020204" pitchFamily="34" charset="0"/>
                        <a:ea typeface="Times New Roman"/>
                        <a:cs typeface="Arial" panose="020B0604020202020204" pitchFamily="34" charset="0"/>
                      </a:endParaRPr>
                    </a:p>
                  </a:txBody>
                  <a:tcPr marL="88363" marR="88363"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$232</a:t>
                      </a:r>
                    </a:p>
                  </a:txBody>
                  <a:tcPr marL="88363" marR="8836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336014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Balance Sheets</a:t>
            </a:r>
          </a:p>
        </p:txBody>
      </p:sp>
      <p:graphicFrame>
        <p:nvGraphicFramePr>
          <p:cNvPr id="8" name="Table 2" descr="A table shows the preliminary balance sheet. Assets are Cash and accts. rec. and inventories of 2019 2019 are $90, and 1260 and 1440 Input are 1 percent and 14 percent and 16 percent basis for 2020 forecast are 2020 sales and 2020 sales and 2020 sales 2020 are $100 and 1400 and 1600, assets are total C A and net fixed assets of 2019 is $2790 and 3600 Input is 40 percent basis for 2020 forecast is multiplies 2020 sales 2020 is $3100 and 4000, assets are total assets of 2019 is $6390 2020 is $7100, assets are liabilities and equity, assets are accts. pay and accruals and line of credit of 2019 are $1620 and 0 Input is 18 percent basis for 2020 forecast is multiplies 2020 sales and add L O C if fin. Deficit 2020 is $1800, assets are Total C L, and long-term debt of 2019 is $1620, and 1800 basis for 2020 forecast is no change 2020 is $1800 and 1800, assets are total liabilities and common stock and retained earnings of $3420 and $2100 and $870 basis for 2020 forecast is no change and old R E plus add. To R E 2020 is $3600 and $2100 and 1102, assets are total common equity of 2019 is $2970 2020 is $3202, assets are total liabs. and equity of 2019 is $6390 2020 is $6802, Check: T A – T L and Equ.">
            <a:extLst>
              <a:ext uri="{FF2B5EF4-FFF2-40B4-BE49-F238E27FC236}">
                <a16:creationId xmlns:a16="http://schemas.microsoft.com/office/drawing/2014/main" id="{B2AF82D8-4310-4DCA-9847-B0C5D295AF53}"/>
              </a:ext>
            </a:extLst>
          </p:cNvPr>
          <p:cNvGraphicFramePr>
            <a:graphicFrameLocks noGrp="1"/>
          </p:cNvGraphicFramePr>
          <p:nvPr>
            <p:ph idx="1"/>
            <p:extLst>
              <p:ext uri="{D42A27DB-BD31-4B8C-83A1-F6EECF244321}">
                <p14:modId xmlns:p14="http://schemas.microsoft.com/office/powerpoint/2010/main" val="4175144320"/>
              </p:ext>
            </p:extLst>
          </p:nvPr>
        </p:nvGraphicFramePr>
        <p:xfrm>
          <a:off x="1657350" y="889152"/>
          <a:ext cx="8877300" cy="5224841"/>
        </p:xfrm>
        <a:graphic>
          <a:graphicData uri="http://schemas.openxmlformats.org/drawingml/2006/table">
            <a:tbl>
              <a:tblPr firstRow="1" firstCol="1" bandRow="1"/>
              <a:tblGrid>
                <a:gridCol w="2903790">
                  <a:extLst>
                    <a:ext uri="{9D8B030D-6E8A-4147-A177-3AD203B41FA5}">
                      <a16:colId xmlns:a16="http://schemas.microsoft.com/office/drawing/2014/main" val="1128804935"/>
                    </a:ext>
                  </a:extLst>
                </a:gridCol>
                <a:gridCol w="912620">
                  <a:extLst>
                    <a:ext uri="{9D8B030D-6E8A-4147-A177-3AD203B41FA5}">
                      <a16:colId xmlns:a16="http://schemas.microsoft.com/office/drawing/2014/main" val="228740885"/>
                    </a:ext>
                  </a:extLst>
                </a:gridCol>
                <a:gridCol w="912620">
                  <a:extLst>
                    <a:ext uri="{9D8B030D-6E8A-4147-A177-3AD203B41FA5}">
                      <a16:colId xmlns:a16="http://schemas.microsoft.com/office/drawing/2014/main" val="2345565229"/>
                    </a:ext>
                  </a:extLst>
                </a:gridCol>
                <a:gridCol w="3069720">
                  <a:extLst>
                    <a:ext uri="{9D8B030D-6E8A-4147-A177-3AD203B41FA5}">
                      <a16:colId xmlns:a16="http://schemas.microsoft.com/office/drawing/2014/main" val="2549669429"/>
                    </a:ext>
                  </a:extLst>
                </a:gridCol>
                <a:gridCol w="1078550">
                  <a:extLst>
                    <a:ext uri="{9D8B030D-6E8A-4147-A177-3AD203B41FA5}">
                      <a16:colId xmlns:a16="http://schemas.microsoft.com/office/drawing/2014/main" val="4181366676"/>
                    </a:ext>
                  </a:extLst>
                </a:gridCol>
              </a:tblGrid>
              <a:tr h="414827">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Assets</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2019</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Input</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Basis for 2020 Forecast</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2020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extLst>
                  <a:ext uri="{0D108BD9-81ED-4DB2-BD59-A6C34878D82A}">
                    <a16:rowId xmlns:a16="http://schemas.microsoft.com/office/drawing/2014/main" val="3555072266"/>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Cash</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     90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  ×   2020 Sales </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    100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978697337"/>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Accts. rec.</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1,260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14%</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  ×   2020 Sales </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1,400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539494208"/>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Inventories</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1,440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16%</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  ×   2020 Sales </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1,600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3384486968"/>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Total CA</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$2,790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$3,100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524470914"/>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Net fixed assets</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rial" panose="020B0604020202020204" pitchFamily="34" charset="0"/>
                          <a:cs typeface="Arial" panose="020B0604020202020204" pitchFamily="34" charset="0"/>
                        </a:rPr>
                        <a:t>3,600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40%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  ×   2020 Sales </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4,000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1752243021"/>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Total assets</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dirty="0">
                          <a:solidFill>
                            <a:sysClr val="windowText" lastClr="000000"/>
                          </a:solidFill>
                          <a:effectLst/>
                          <a:latin typeface="Arial" panose="020B0604020202020204" pitchFamily="34" charset="0"/>
                          <a:cs typeface="Arial" panose="020B0604020202020204" pitchFamily="34" charset="0"/>
                        </a:rPr>
                        <a:t>$6,390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a:solidFill>
                            <a:sysClr val="windowText" lastClr="000000"/>
                          </a:solidFill>
                          <a:effectLst/>
                          <a:latin typeface="Arial" panose="020B0604020202020204" pitchFamily="34" charset="0"/>
                          <a:cs typeface="Arial" panose="020B0604020202020204" pitchFamily="34" charset="0"/>
                        </a:rPr>
                        <a:t>$7,100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730910041"/>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Liabilities and equity</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3512565520"/>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Accts. pay. &amp; accruals</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$1,620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18%</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  ×   2020 Sales </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$1,800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698103002"/>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Line of credit</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rial" panose="020B0604020202020204" pitchFamily="34" charset="0"/>
                          <a:cs typeface="Arial" panose="020B0604020202020204" pitchFamily="34" charset="0"/>
                        </a:rPr>
                        <a:t>        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Add LOC if fin. deficit</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rial" panose="020B0604020202020204" pitchFamily="34" charset="0"/>
                          <a:cs typeface="Arial" panose="020B0604020202020204" pitchFamily="34" charset="0"/>
                        </a:rPr>
                        <a:t>          </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4138713024"/>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Total CL</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$1,620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$1,800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2556204483"/>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Long-term debt</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  1,800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No Change</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1,800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2196052467"/>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Total liabilities</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$3,420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$3,600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280974036"/>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Common stock</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$2,100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No Change</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$2,100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3518817061"/>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Retained earnings</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   870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 Old RE + Add. to RE</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1,102</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945678486"/>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Total common equity</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rial" panose="020B0604020202020204" pitchFamily="34" charset="0"/>
                          <a:cs typeface="Arial" panose="020B0604020202020204" pitchFamily="34" charset="0"/>
                        </a:rPr>
                        <a:t>$2,970</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rial" panose="020B0604020202020204" pitchFamily="34" charset="0"/>
                          <a:cs typeface="Arial" panose="020B0604020202020204" pitchFamily="34" charset="0"/>
                        </a:rPr>
                        <a:t>$3,202</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2423175051"/>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rial" panose="020B0604020202020204" pitchFamily="34" charset="0"/>
                          <a:cs typeface="Arial" panose="020B0604020202020204" pitchFamily="34" charset="0"/>
                        </a:rPr>
                        <a:t>Total liabs. &amp; equity</a:t>
                      </a:r>
                      <a:endParaRPr lang="en-US" sz="1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dirty="0">
                          <a:solidFill>
                            <a:sysClr val="windowText" lastClr="000000"/>
                          </a:solidFill>
                          <a:effectLst/>
                          <a:latin typeface="Arial" panose="020B0604020202020204" pitchFamily="34" charset="0"/>
                          <a:cs typeface="Arial" panose="020B0604020202020204" pitchFamily="34" charset="0"/>
                        </a:rPr>
                        <a:t>$6,390</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dirty="0">
                          <a:solidFill>
                            <a:sysClr val="windowText" lastClr="000000"/>
                          </a:solidFill>
                          <a:effectLst/>
                          <a:latin typeface="Arial" panose="020B0604020202020204" pitchFamily="34" charset="0"/>
                          <a:cs typeface="Arial" panose="020B0604020202020204" pitchFamily="34" charset="0"/>
                        </a:rPr>
                        <a:t>$6,802</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785731231"/>
                  </a:ext>
                </a:extLst>
              </a:tr>
              <a:tr h="28294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rial" panose="020B0604020202020204" pitchFamily="34"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Check: TA − TL &amp; </a:t>
                      </a:r>
                      <a:r>
                        <a:rPr lang="en-US" sz="1800" dirty="0" err="1">
                          <a:solidFill>
                            <a:sysClr val="windowText" lastClr="000000"/>
                          </a:solidFill>
                          <a:effectLst/>
                          <a:latin typeface="Arial" panose="020B0604020202020204" pitchFamily="34" charset="0"/>
                          <a:cs typeface="Arial" panose="020B0604020202020204" pitchFamily="34" charset="0"/>
                        </a:rPr>
                        <a:t>Equ</a:t>
                      </a:r>
                      <a:r>
                        <a:rPr lang="en-US" sz="1800" dirty="0">
                          <a:solidFill>
                            <a:sysClr val="windowText" lastClr="000000"/>
                          </a:solidFill>
                          <a:effectLst/>
                          <a:latin typeface="Arial" panose="020B0604020202020204" pitchFamily="34" charset="0"/>
                          <a:cs typeface="Arial" panose="020B0604020202020204" pitchFamily="34" charset="0"/>
                        </a:rPr>
                        <a:t>.</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rial" panose="020B0604020202020204" pitchFamily="34" charset="0"/>
                          <a:cs typeface="Arial" panose="020B0604020202020204" pitchFamily="34" charset="0"/>
                        </a:rPr>
                        <a:t>$298</a:t>
                      </a:r>
                      <a:endParaRPr lang="en-US" sz="1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7152" marR="67152"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1094444955"/>
                  </a:ext>
                </a:extLst>
              </a:tr>
            </a:tbl>
          </a:graphicData>
        </a:graphic>
      </p:graphicFrame>
    </p:spTree>
    <p:extLst>
      <p:ext uri="{BB962C8B-B14F-4D97-AF65-F5344CB8AC3E}">
        <p14:creationId xmlns:p14="http://schemas.microsoft.com/office/powerpoint/2010/main" val="1558810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and Eliminate Financing Deficit or Surplus (1 of 2)</a:t>
            </a:r>
          </a:p>
        </p:txBody>
      </p:sp>
      <p:graphicFrame>
        <p:nvGraphicFramePr>
          <p:cNvPr id="7" name="Table 2" descr="A table shows identify and eliminated financing deficit or surplus. Increase in spontaneous liabilities within parenthesis accts. pay. And accruals is $ 180, Plus increase in planned long-term debt and common stock is $0, Minus previous line of credit * is $0, Plus net income minus regular common dividends is $232, Increase in financing is $412, Minus increase in total assets is $710, Amount of deficit or surplus financing: is minus $ 298, If deficit within parenthesis negative, draw on line of credit is $298, If surplus within parenthesis positive, pay special dividend is $0."/>
          <p:cNvGraphicFramePr>
            <a:graphicFrameLocks noGrp="1"/>
          </p:cNvGraphicFramePr>
          <p:nvPr>
            <p:ph idx="1"/>
            <p:extLst>
              <p:ext uri="{D42A27DB-BD31-4B8C-83A1-F6EECF244321}">
                <p14:modId xmlns:p14="http://schemas.microsoft.com/office/powerpoint/2010/main" val="3606654281"/>
              </p:ext>
            </p:extLst>
          </p:nvPr>
        </p:nvGraphicFramePr>
        <p:xfrm>
          <a:off x="838200" y="1317625"/>
          <a:ext cx="10536944" cy="4321173"/>
        </p:xfrm>
        <a:graphic>
          <a:graphicData uri="http://schemas.openxmlformats.org/drawingml/2006/table">
            <a:tbl>
              <a:tblPr firstRow="1" firstCol="1" bandRow="1"/>
              <a:tblGrid>
                <a:gridCol w="9207960">
                  <a:extLst>
                    <a:ext uri="{9D8B030D-6E8A-4147-A177-3AD203B41FA5}">
                      <a16:colId xmlns:a16="http://schemas.microsoft.com/office/drawing/2014/main" val="20000"/>
                    </a:ext>
                  </a:extLst>
                </a:gridCol>
                <a:gridCol w="1328984">
                  <a:extLst>
                    <a:ext uri="{9D8B030D-6E8A-4147-A177-3AD203B41FA5}">
                      <a16:colId xmlns:a16="http://schemas.microsoft.com/office/drawing/2014/main" val="20001"/>
                    </a:ext>
                  </a:extLst>
                </a:gridCol>
              </a:tblGrid>
              <a:tr h="61731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Increase in spontaneous liabilities (accts. pay. and accruals)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$180</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0"/>
                  </a:ext>
                </a:extLst>
              </a:tr>
              <a:tr h="41154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 Increase in planned long-term debt and common stock</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$0</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1"/>
                  </a:ext>
                </a:extLst>
              </a:tr>
              <a:tr h="41154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u="none" dirty="0">
                          <a:solidFill>
                            <a:schemeClr val="tx1"/>
                          </a:solidFill>
                          <a:effectLst/>
                          <a:latin typeface="Arial" panose="020B0604020202020204" pitchFamily="34" charset="0"/>
                          <a:cs typeface="Arial" panose="020B0604020202020204" pitchFamily="34" charset="0"/>
                        </a:rPr>
                        <a:t>− Previous line of credit*</a:t>
                      </a:r>
                      <a:endParaRPr lang="en-US" sz="2400" u="none"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none" dirty="0">
                          <a:effectLst/>
                          <a:latin typeface="Arial" panose="020B0604020202020204" pitchFamily="34" charset="0"/>
                          <a:ea typeface="Times New Roman" panose="02020603050405020304" pitchFamily="18" charset="0"/>
                          <a:cs typeface="Arial" panose="020B0604020202020204" pitchFamily="34" charset="0"/>
                        </a:rPr>
                        <a:t>$0</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2"/>
                  </a:ext>
                </a:extLst>
              </a:tr>
              <a:tr h="41154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u="sng" dirty="0">
                          <a:solidFill>
                            <a:schemeClr val="tx1"/>
                          </a:solidFill>
                          <a:effectLst/>
                          <a:latin typeface="Arial" panose="020B0604020202020204" pitchFamily="34" charset="0"/>
                          <a:cs typeface="Arial" panose="020B0604020202020204" pitchFamily="34" charset="0"/>
                        </a:rPr>
                        <a:t>+ Net income minus regular common dividends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$232</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3"/>
                  </a:ext>
                </a:extLst>
              </a:tr>
              <a:tr h="41154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Increase in financing</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$412</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4"/>
                  </a:ext>
                </a:extLst>
              </a:tr>
              <a:tr h="61731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u="sng" dirty="0">
                          <a:solidFill>
                            <a:schemeClr val="tx1"/>
                          </a:solidFill>
                          <a:effectLst/>
                          <a:latin typeface="Arial" panose="020B0604020202020204" pitchFamily="34" charset="0"/>
                          <a:cs typeface="Arial" panose="020B0604020202020204" pitchFamily="34" charset="0"/>
                        </a:rPr>
                        <a:t>− Increase in total assets</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sng" dirty="0">
                          <a:effectLst/>
                          <a:latin typeface="Arial" panose="020B0604020202020204" pitchFamily="34" charset="0"/>
                          <a:ea typeface="Times New Roman" panose="02020603050405020304" pitchFamily="18" charset="0"/>
                          <a:cs typeface="Arial" panose="020B0604020202020204" pitchFamily="34" charset="0"/>
                        </a:rPr>
                        <a:t>$710</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5"/>
                  </a:ext>
                </a:extLst>
              </a:tr>
              <a:tr h="617311">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Amount of deficit or surplus financing:</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u="none" dirty="0">
                          <a:effectLst/>
                          <a:latin typeface="Arial" panose="020B0604020202020204" pitchFamily="34" charset="0"/>
                          <a:ea typeface="Times New Roman" panose="02020603050405020304" pitchFamily="18" charset="0"/>
                          <a:cs typeface="Arial" panose="020B0604020202020204" pitchFamily="34" charset="0"/>
                        </a:rPr>
                        <a:t>−$298</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6"/>
                  </a:ext>
                </a:extLst>
              </a:tr>
              <a:tr h="41154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If deficit (negative), draw on line of credit</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$298</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7"/>
                  </a:ext>
                </a:extLst>
              </a:tr>
              <a:tr h="41154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If surplus (positive), pay special dividend</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39923" marR="3992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$0</a:t>
                      </a:r>
                    </a:p>
                  </a:txBody>
                  <a:tcPr marL="85435" marR="8543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53079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Updated Balance Sheets</a:t>
            </a:r>
          </a:p>
        </p:txBody>
      </p:sp>
      <p:graphicFrame>
        <p:nvGraphicFramePr>
          <p:cNvPr id="8" name="Table 2" descr="A table shows updated balance sheets. Assets are cash and accts. rec. and inventories of 2019 are $90, and 1260 and 1440 Input are 1 percent 14 percent 16 percent basis for 2020 forecast is multiplies 2020 sales and 2020 sales and 2020 sales 2020 are $ 100 and 1400 and 1600, assets are total C A and net fixed assets of 2019 is $2790 and 3600 Input is 40 percent basis for 2020 forecast is multiplies 2020 sales 2020 is $3100 and 4000, assets are total assets of 2019 $6390 2020 is $7100, liabilities and equity, accts. pay. and accruals and line of credit of 2019 are $1620, and 0 input is 18 percent basis for 2020 forecast is multiplies 2020 sales and add L O C if fin. Deficit 2020 is $1800 and 298, assets are total C L $ 1620, and 1800 basis for 2020 forecast is no change 2020 is $2098 and 1800, assets are total liabilities and common stock and retained earnings of 2019 is $3420 and $2100 and $870 basis for 2020 forecast is no change and old R E plus add. To R E 2020 is $3898 and $2100 and $1102, assets are total common equity of 2019 is $2970 2020 is $3202, total liabs. and equity of 2019 is $6390 2020 is $7100, check: T A – T L and equ.">
            <a:extLst>
              <a:ext uri="{FF2B5EF4-FFF2-40B4-BE49-F238E27FC236}">
                <a16:creationId xmlns:a16="http://schemas.microsoft.com/office/drawing/2014/main" id="{B2AF82D8-4310-4DCA-9847-B0C5D295AF53}"/>
              </a:ext>
            </a:extLst>
          </p:cNvPr>
          <p:cNvGraphicFramePr>
            <a:graphicFrameLocks noGrp="1"/>
          </p:cNvGraphicFramePr>
          <p:nvPr>
            <p:ph idx="1"/>
            <p:extLst>
              <p:ext uri="{D42A27DB-BD31-4B8C-83A1-F6EECF244321}">
                <p14:modId xmlns:p14="http://schemas.microsoft.com/office/powerpoint/2010/main" val="573928331"/>
              </p:ext>
            </p:extLst>
          </p:nvPr>
        </p:nvGraphicFramePr>
        <p:xfrm>
          <a:off x="1638300" y="886788"/>
          <a:ext cx="8915400" cy="5084424"/>
        </p:xfrm>
        <a:graphic>
          <a:graphicData uri="http://schemas.openxmlformats.org/drawingml/2006/table">
            <a:tbl>
              <a:tblPr firstRow="1" firstCol="1" bandRow="1"/>
              <a:tblGrid>
                <a:gridCol w="3089496">
                  <a:extLst>
                    <a:ext uri="{9D8B030D-6E8A-4147-A177-3AD203B41FA5}">
                      <a16:colId xmlns:a16="http://schemas.microsoft.com/office/drawing/2014/main" val="1128804935"/>
                    </a:ext>
                  </a:extLst>
                </a:gridCol>
                <a:gridCol w="970984">
                  <a:extLst>
                    <a:ext uri="{9D8B030D-6E8A-4147-A177-3AD203B41FA5}">
                      <a16:colId xmlns:a16="http://schemas.microsoft.com/office/drawing/2014/main" val="228740885"/>
                    </a:ext>
                  </a:extLst>
                </a:gridCol>
                <a:gridCol w="882713">
                  <a:extLst>
                    <a:ext uri="{9D8B030D-6E8A-4147-A177-3AD203B41FA5}">
                      <a16:colId xmlns:a16="http://schemas.microsoft.com/office/drawing/2014/main" val="2345565229"/>
                    </a:ext>
                  </a:extLst>
                </a:gridCol>
                <a:gridCol w="3001223">
                  <a:extLst>
                    <a:ext uri="{9D8B030D-6E8A-4147-A177-3AD203B41FA5}">
                      <a16:colId xmlns:a16="http://schemas.microsoft.com/office/drawing/2014/main" val="2549669429"/>
                    </a:ext>
                  </a:extLst>
                </a:gridCol>
                <a:gridCol w="970984">
                  <a:extLst>
                    <a:ext uri="{9D8B030D-6E8A-4147-A177-3AD203B41FA5}">
                      <a16:colId xmlns:a16="http://schemas.microsoft.com/office/drawing/2014/main" val="4181366676"/>
                    </a:ext>
                  </a:extLst>
                </a:gridCol>
              </a:tblGrid>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Assets</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2019</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Input</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Basis for 2020 Forecast</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2020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F01"/>
                    </a:solidFill>
                  </a:tcPr>
                </a:tc>
                <a:extLst>
                  <a:ext uri="{0D108BD9-81ED-4DB2-BD59-A6C34878D82A}">
                    <a16:rowId xmlns:a16="http://schemas.microsoft.com/office/drawing/2014/main" val="3555072266"/>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Cash</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     90</a:t>
                      </a:r>
                      <a:endParaRPr lang="en-US" sz="1800">
                        <a:solidFill>
                          <a:sysClr val="windowText" lastClr="000000"/>
                        </a:solidFill>
                        <a:effectLst/>
                        <a:latin typeface="Airal"/>
                        <a:ea typeface="Times New Roman" panose="02020603050405020304" pitchFamily="18" charset="0"/>
                      </a:endParaRPr>
                    </a:p>
                  </a:txBody>
                  <a:tcPr marL="79444" marR="79444"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  ×   2020 Sales </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    100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978697337"/>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Accts. rec.</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1,260</a:t>
                      </a:r>
                      <a:endParaRPr lang="en-US" sz="1800">
                        <a:solidFill>
                          <a:sysClr val="windowText" lastClr="000000"/>
                        </a:solidFill>
                        <a:effectLst/>
                        <a:latin typeface="Airal"/>
                        <a:ea typeface="Times New Roman" panose="02020603050405020304" pitchFamily="18" charset="0"/>
                      </a:endParaRPr>
                    </a:p>
                  </a:txBody>
                  <a:tcPr marL="79444" marR="79444"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iral"/>
                        </a:rPr>
                        <a:t>14%</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  ×   2020 Sales </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1,400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539494208"/>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Inventories</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1,440</a:t>
                      </a:r>
                      <a:endParaRPr lang="en-US" sz="1800">
                        <a:solidFill>
                          <a:sysClr val="windowText" lastClr="000000"/>
                        </a:solidFill>
                        <a:effectLst/>
                        <a:latin typeface="Airal"/>
                        <a:ea typeface="Times New Roman" panose="02020603050405020304" pitchFamily="18" charset="0"/>
                      </a:endParaRPr>
                    </a:p>
                  </a:txBody>
                  <a:tcPr marL="79444" marR="79444"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16%</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  ×   2020 Sales </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1,600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3384486968"/>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Total CA</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$2,790</a:t>
                      </a:r>
                      <a:endParaRPr lang="en-US" sz="1800">
                        <a:solidFill>
                          <a:sysClr val="windowText" lastClr="000000"/>
                        </a:solidFill>
                        <a:effectLst/>
                        <a:latin typeface="Airal"/>
                        <a:ea typeface="Times New Roman" panose="02020603050405020304" pitchFamily="18" charset="0"/>
                      </a:endParaRPr>
                    </a:p>
                  </a:txBody>
                  <a:tcPr marL="79444" marR="79444"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$3,100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524470914"/>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Net fixed assets</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iral"/>
                        </a:rPr>
                        <a:t>3,600</a:t>
                      </a:r>
                      <a:endParaRPr lang="en-US" sz="1800" dirty="0">
                        <a:solidFill>
                          <a:sysClr val="windowText" lastClr="000000"/>
                        </a:solidFill>
                        <a:effectLst/>
                        <a:latin typeface="Airal"/>
                        <a:ea typeface="Times New Roman" panose="02020603050405020304" pitchFamily="18" charset="0"/>
                      </a:endParaRPr>
                    </a:p>
                  </a:txBody>
                  <a:tcPr marL="79444" marR="79444"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40%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  ×   2020 Sales </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4,000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1752243021"/>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Total assets</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dirty="0">
                          <a:solidFill>
                            <a:sysClr val="windowText" lastClr="000000"/>
                          </a:solidFill>
                          <a:effectLst/>
                          <a:latin typeface="Airal"/>
                        </a:rPr>
                        <a:t>$6,390</a:t>
                      </a:r>
                      <a:endParaRPr lang="en-US" sz="1800" dirty="0">
                        <a:solidFill>
                          <a:sysClr val="windowText" lastClr="000000"/>
                        </a:solidFill>
                        <a:effectLst/>
                        <a:latin typeface="Airal"/>
                        <a:ea typeface="Times New Roman" panose="02020603050405020304" pitchFamily="18" charset="0"/>
                      </a:endParaRPr>
                    </a:p>
                  </a:txBody>
                  <a:tcPr marL="79444" marR="79444"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a:solidFill>
                            <a:sysClr val="windowText" lastClr="000000"/>
                          </a:solidFill>
                          <a:effectLst/>
                          <a:latin typeface="Airal"/>
                        </a:rPr>
                        <a:t>$7,100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730910041"/>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Liabilities and equity</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3512565520"/>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Accts. pay. &amp; accruals</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$1,620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18%</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  ×   2020 Sales </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$1,800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698103002"/>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Line of credit</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iral"/>
                        </a:rPr>
                        <a:t>        0</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Add LOC if fin. deficit</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iral"/>
                        </a:rPr>
                        <a:t>     298</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4138713024"/>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Total CL</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iral"/>
                        </a:rPr>
                        <a:t>$1,620</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iral"/>
                        </a:rPr>
                        <a:t>$2,098</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2556204483"/>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Long-term debt</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  1,800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No Change</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1,800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2196052467"/>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Total liabilities</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$3,420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iral"/>
                        </a:rPr>
                        <a:t>$3,898</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280974036"/>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Common stock</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$2,100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No Change</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a:solidFill>
                            <a:sysClr val="windowText" lastClr="000000"/>
                          </a:solidFill>
                          <a:effectLst/>
                          <a:latin typeface="Airal"/>
                        </a:rPr>
                        <a:t>$2,100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3518817061"/>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Retained earnings</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   870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 Old RE + Add. to RE</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1,102</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945678486"/>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Total common equity</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a:solidFill>
                            <a:sysClr val="windowText" lastClr="000000"/>
                          </a:solidFill>
                          <a:effectLst/>
                          <a:latin typeface="Airal"/>
                        </a:rPr>
                        <a:t>$2,970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solidFill>
                          <a:sysClr val="windowText" lastClr="000000"/>
                        </a:solidFill>
                        <a:effectLst/>
                        <a:latin typeface="Airal"/>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sng" dirty="0">
                          <a:solidFill>
                            <a:sysClr val="windowText" lastClr="000000"/>
                          </a:solidFill>
                          <a:effectLst/>
                          <a:latin typeface="Airal"/>
                        </a:rPr>
                        <a:t>$3,202</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2423175051"/>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a:solidFill>
                            <a:sysClr val="windowText" lastClr="000000"/>
                          </a:solidFill>
                          <a:effectLst/>
                          <a:latin typeface="Airal"/>
                        </a:rPr>
                        <a:t>Total liabs. &amp; equity</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a:solidFill>
                            <a:sysClr val="windowText" lastClr="000000"/>
                          </a:solidFill>
                          <a:effectLst/>
                          <a:latin typeface="Airal"/>
                        </a:rPr>
                        <a:t>$6,390</a:t>
                      </a:r>
                      <a:endParaRPr lang="en-US" sz="180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u="dbl" dirty="0">
                          <a:solidFill>
                            <a:sysClr val="windowText" lastClr="000000"/>
                          </a:solidFill>
                          <a:effectLst/>
                          <a:latin typeface="Airal"/>
                        </a:rPr>
                        <a:t>$7,100</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20000"/>
                      </a:srgbClr>
                    </a:solidFill>
                  </a:tcPr>
                </a:tc>
                <a:extLst>
                  <a:ext uri="{0D108BD9-81ED-4DB2-BD59-A6C34878D82A}">
                    <a16:rowId xmlns:a16="http://schemas.microsoft.com/office/drawing/2014/main" val="3785731231"/>
                  </a:ext>
                </a:extLst>
              </a:tr>
              <a:tr h="28246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endParaRPr lang="en-US" sz="1800">
                        <a:solidFill>
                          <a:sysClr val="windowText" lastClr="000000"/>
                        </a:solidFill>
                        <a:effectLst/>
                        <a:latin typeface="Airal"/>
                      </a:endParaRPr>
                    </a:p>
                  </a:txBody>
                  <a:tcPr marL="79444" marR="79444"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a:solidFill>
                          <a:sysClr val="windowText" lastClr="000000"/>
                        </a:solidFill>
                        <a:effectLst/>
                        <a:latin typeface="Airal"/>
                      </a:endParaRPr>
                    </a:p>
                  </a:txBody>
                  <a:tcPr marL="79444" marR="79444"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solidFill>
                            <a:sysClr val="windowText" lastClr="000000"/>
                          </a:solidFill>
                          <a:effectLst/>
                          <a:latin typeface="Airal"/>
                        </a:rPr>
                        <a:t>Check: TA − TL &amp; </a:t>
                      </a:r>
                      <a:r>
                        <a:rPr lang="en-US" sz="1800" dirty="0" err="1">
                          <a:solidFill>
                            <a:sysClr val="windowText" lastClr="000000"/>
                          </a:solidFill>
                          <a:effectLst/>
                          <a:latin typeface="Airal"/>
                        </a:rPr>
                        <a:t>Equ</a:t>
                      </a:r>
                      <a:r>
                        <a:rPr lang="en-US" sz="1800" dirty="0">
                          <a:solidFill>
                            <a:sysClr val="windowText" lastClr="000000"/>
                          </a:solidFill>
                          <a:effectLst/>
                          <a:latin typeface="Airal"/>
                        </a:rPr>
                        <a:t>.</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solidFill>
                            <a:sysClr val="windowText" lastClr="000000"/>
                          </a:solidFill>
                          <a:effectLst/>
                          <a:latin typeface="Airal"/>
                        </a:rPr>
                        <a:t>$0</a:t>
                      </a:r>
                      <a:endParaRPr lang="en-US" sz="1800" dirty="0">
                        <a:solidFill>
                          <a:sysClr val="windowText" lastClr="000000"/>
                        </a:solidFill>
                        <a:effectLst/>
                        <a:latin typeface="Airal"/>
                        <a:ea typeface="Times New Roman" panose="02020603050405020304" pitchFamily="18" charset="0"/>
                      </a:endParaRPr>
                    </a:p>
                  </a:txBody>
                  <a:tcPr marL="79444" marR="79444"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CF01">
                        <a:tint val="40000"/>
                      </a:srgbClr>
                    </a:solidFill>
                  </a:tcPr>
                </a:tc>
                <a:extLst>
                  <a:ext uri="{0D108BD9-81ED-4DB2-BD59-A6C34878D82A}">
                    <a16:rowId xmlns:a16="http://schemas.microsoft.com/office/drawing/2014/main" val="1094444955"/>
                  </a:ext>
                </a:extLst>
              </a:tr>
            </a:tbl>
          </a:graphicData>
        </a:graphic>
      </p:graphicFrame>
    </p:spTree>
    <p:extLst>
      <p:ext uri="{BB962C8B-B14F-4D97-AF65-F5344CB8AC3E}">
        <p14:creationId xmlns:p14="http://schemas.microsoft.com/office/powerpoint/2010/main" val="39065011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Income Statements?</a:t>
            </a:r>
          </a:p>
        </p:txBody>
      </p:sp>
      <p:sp>
        <p:nvSpPr>
          <p:cNvPr id="3" name="Content Placeholder 2"/>
          <p:cNvSpPr>
            <a:spLocks noGrp="1"/>
          </p:cNvSpPr>
          <p:nvPr>
            <p:ph idx="1"/>
          </p:nvPr>
        </p:nvSpPr>
        <p:spPr/>
        <p:txBody>
          <a:bodyPr/>
          <a:lstStyle/>
          <a:p>
            <a:r>
              <a:rPr lang="en-US" dirty="0"/>
              <a:t>No. Preliminary income statements will not change because of assumption that line of credit was added at end of year.</a:t>
            </a:r>
          </a:p>
          <a:p>
            <a:r>
              <a:rPr lang="en-US" dirty="0"/>
              <a:t>What would happen if the line of credit was added earlier in year?  See next slide.</a:t>
            </a:r>
          </a:p>
        </p:txBody>
      </p:sp>
    </p:spTree>
    <p:extLst>
      <p:ext uri="{BB962C8B-B14F-4D97-AF65-F5344CB8AC3E}">
        <p14:creationId xmlns:p14="http://schemas.microsoft.com/office/powerpoint/2010/main" val="3095486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 of Adding Line of Credit During Year Instead of at End of Year—Financing Feedback!</a:t>
            </a:r>
          </a:p>
        </p:txBody>
      </p:sp>
      <p:pic>
        <p:nvPicPr>
          <p:cNvPr id="2050" name="Picture 2" descr="A cycle illustration shows the impact of adding the line of credit during the year instead of at the end of year financing feedback. Increase L O C denote Interest expense denote net income falls denote reinvested income falls denotes financing deficit worsens again increas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0861" y="1411066"/>
            <a:ext cx="8610279" cy="4558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101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Financing Feedback-Solutions</a:t>
            </a:r>
          </a:p>
        </p:txBody>
      </p:sp>
      <p:sp>
        <p:nvSpPr>
          <p:cNvPr id="3" name="Content Placeholder 2"/>
          <p:cNvSpPr>
            <a:spLocks noGrp="1"/>
          </p:cNvSpPr>
          <p:nvPr>
            <p:ph idx="1"/>
          </p:nvPr>
        </p:nvSpPr>
        <p:spPr/>
        <p:txBody>
          <a:bodyPr/>
          <a:lstStyle/>
          <a:p>
            <a:pPr>
              <a:lnSpc>
                <a:spcPct val="80000"/>
              </a:lnSpc>
            </a:pPr>
            <a:r>
              <a:rPr lang="en-US" sz="2800" dirty="0"/>
              <a:t>Repeat process, iterate until balance sheet balances.</a:t>
            </a:r>
          </a:p>
          <a:p>
            <a:pPr lvl="1">
              <a:lnSpc>
                <a:spcPct val="80000"/>
              </a:lnSpc>
            </a:pPr>
            <a:r>
              <a:rPr lang="en-US" sz="2400" dirty="0"/>
              <a:t>Manually.</a:t>
            </a:r>
          </a:p>
          <a:p>
            <a:pPr lvl="1">
              <a:lnSpc>
                <a:spcPct val="80000"/>
              </a:lnSpc>
            </a:pPr>
            <a:r>
              <a:rPr lang="en-US" sz="2400" dirty="0"/>
              <a:t>Using </a:t>
            </a:r>
            <a:r>
              <a:rPr lang="en-US" sz="2400" i="1" dirty="0"/>
              <a:t>Excel</a:t>
            </a:r>
            <a:r>
              <a:rPr lang="en-US" sz="2400" dirty="0"/>
              <a:t>’ Iteration feature.</a:t>
            </a:r>
          </a:p>
          <a:p>
            <a:pPr lvl="1">
              <a:lnSpc>
                <a:spcPct val="80000"/>
              </a:lnSpc>
            </a:pPr>
            <a:r>
              <a:rPr lang="en-US" sz="2400" dirty="0"/>
              <a:t>But </a:t>
            </a:r>
            <a:r>
              <a:rPr lang="en-US" sz="2400" i="1" dirty="0"/>
              <a:t>Excel </a:t>
            </a:r>
            <a:r>
              <a:rPr lang="en-US" sz="2400" dirty="0"/>
              <a:t>sometimes breaks down and fails.</a:t>
            </a:r>
          </a:p>
          <a:p>
            <a:pPr>
              <a:lnSpc>
                <a:spcPct val="80000"/>
              </a:lnSpc>
            </a:pPr>
            <a:r>
              <a:rPr lang="en-US" sz="2800" dirty="0"/>
              <a:t>Use </a:t>
            </a:r>
            <a:r>
              <a:rPr lang="en-US" sz="2800" i="1" dirty="0"/>
              <a:t>Excel</a:t>
            </a:r>
            <a:r>
              <a:rPr lang="en-US" sz="2800" dirty="0"/>
              <a:t> Goal Seek to find amount of LOC that makes balance sheets balance.</a:t>
            </a:r>
          </a:p>
          <a:p>
            <a:pPr>
              <a:lnSpc>
                <a:spcPct val="80000"/>
              </a:lnSpc>
            </a:pPr>
            <a:r>
              <a:rPr lang="en-US" sz="2800" dirty="0"/>
              <a:t>Use simple formula to adjust the LOC so that the adjusted amount of financing incorporates financing feedback; see the tab </a:t>
            </a:r>
            <a:r>
              <a:rPr lang="en-US" sz="2800" b="1" i="1" dirty="0"/>
              <a:t>2. </a:t>
            </a:r>
            <a:r>
              <a:rPr lang="en-US" sz="2800" b="1" i="1" dirty="0" err="1"/>
              <a:t>FinFeedback</a:t>
            </a:r>
            <a:r>
              <a:rPr lang="en-US" sz="2800" dirty="0"/>
              <a:t> in the file </a:t>
            </a:r>
            <a:r>
              <a:rPr lang="en-US" sz="2800" b="1" i="1" dirty="0"/>
              <a:t>Ch12 Mini Case.xlsx</a:t>
            </a:r>
            <a:r>
              <a:rPr lang="en-US" sz="2800" dirty="0"/>
              <a:t> or see </a:t>
            </a:r>
            <a:r>
              <a:rPr lang="en-US" sz="2800" b="1" i="1" dirty="0"/>
              <a:t>CFO Model</a:t>
            </a:r>
            <a:r>
              <a:rPr lang="en-US" sz="2800" dirty="0"/>
              <a:t> in </a:t>
            </a:r>
            <a:r>
              <a:rPr lang="en-US" sz="2800" b="1" i="1" dirty="0"/>
              <a:t>Ch12 Tool Kit.xlsx</a:t>
            </a:r>
            <a:r>
              <a:rPr lang="en-US" sz="2800" dirty="0"/>
              <a:t> for examples.</a:t>
            </a:r>
            <a:endParaRPr lang="en-US" sz="2800" b="1" i="1" dirty="0"/>
          </a:p>
        </p:txBody>
      </p:sp>
    </p:spTree>
    <p:extLst>
      <p:ext uri="{BB962C8B-B14F-4D97-AF65-F5344CB8AC3E}">
        <p14:creationId xmlns:p14="http://schemas.microsoft.com/office/powerpoint/2010/main" val="23805851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Alternatives to Drawing on LOC</a:t>
            </a:r>
          </a:p>
        </p:txBody>
      </p:sp>
      <p:sp>
        <p:nvSpPr>
          <p:cNvPr id="3" name="Content Placeholder 2"/>
          <p:cNvSpPr>
            <a:spLocks noGrp="1"/>
          </p:cNvSpPr>
          <p:nvPr>
            <p:ph idx="1"/>
          </p:nvPr>
        </p:nvSpPr>
        <p:spPr/>
        <p:txBody>
          <a:bodyPr/>
          <a:lstStyle/>
          <a:p>
            <a:r>
              <a:rPr lang="en-US" sz="2800" dirty="0"/>
              <a:t>Cut dividends.</a:t>
            </a:r>
          </a:p>
          <a:p>
            <a:r>
              <a:rPr lang="en-US" sz="2800" dirty="0"/>
              <a:t>Add long-term debt.</a:t>
            </a:r>
          </a:p>
          <a:p>
            <a:r>
              <a:rPr lang="en-US" sz="2800" dirty="0"/>
              <a:t>Issue common stock.</a:t>
            </a:r>
          </a:p>
          <a:p>
            <a:r>
              <a:rPr lang="en-US" sz="2800" dirty="0"/>
              <a:t>Cut back on growth in operating plan.</a:t>
            </a:r>
          </a:p>
          <a:p>
            <a:r>
              <a:rPr lang="en-US" sz="2800" dirty="0"/>
              <a:t>Improve operating plan.</a:t>
            </a:r>
          </a:p>
          <a:p>
            <a:r>
              <a:rPr lang="en-US" sz="2800" dirty="0"/>
              <a:t>Financial planning is an iterative process—if plan isn’t acceptable, then the company can make changes.</a:t>
            </a:r>
          </a:p>
        </p:txBody>
      </p:sp>
    </p:spTree>
    <p:extLst>
      <p:ext uri="{BB962C8B-B14F-4D97-AF65-F5344CB8AC3E}">
        <p14:creationId xmlns:p14="http://schemas.microsoft.com/office/powerpoint/2010/main" val="3779016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Planned Improvements </a:t>
            </a:r>
          </a:p>
        </p:txBody>
      </p:sp>
      <p:sp>
        <p:nvSpPr>
          <p:cNvPr id="3" name="Content Placeholder 2"/>
          <p:cNvSpPr>
            <a:spLocks noGrp="1"/>
          </p:cNvSpPr>
          <p:nvPr>
            <p:ph idx="1"/>
          </p:nvPr>
        </p:nvSpPr>
        <p:spPr/>
        <p:txBody>
          <a:bodyPr/>
          <a:lstStyle/>
          <a:p>
            <a:r>
              <a:rPr lang="en-US" dirty="0"/>
              <a:t>Reduce operating costs (excluding depreciation)/sales to 89.4%</a:t>
            </a:r>
          </a:p>
          <a:p>
            <a:pPr lvl="1"/>
            <a:r>
              <a:rPr lang="en-US" dirty="0"/>
              <a:t>Cost: $40</a:t>
            </a:r>
          </a:p>
          <a:p>
            <a:r>
              <a:rPr lang="en-US" dirty="0"/>
              <a:t>Reduce inventories/sales = 14%</a:t>
            </a:r>
          </a:p>
          <a:p>
            <a:pPr lvl="1"/>
            <a:r>
              <a:rPr lang="en-US" dirty="0"/>
              <a:t>Cost: $10</a:t>
            </a:r>
          </a:p>
          <a:p>
            <a:r>
              <a:rPr lang="en-US" dirty="0"/>
              <a:t>Reduce next fixed assets/sales = 38%</a:t>
            </a:r>
          </a:p>
          <a:p>
            <a:pPr lvl="1"/>
            <a:r>
              <a:rPr lang="en-US" dirty="0"/>
              <a:t>Cost: $20</a:t>
            </a:r>
          </a:p>
          <a:p>
            <a:r>
              <a:rPr lang="en-US" dirty="0"/>
              <a:t>Total costs: $50</a:t>
            </a:r>
          </a:p>
        </p:txBody>
      </p:sp>
    </p:spTree>
    <p:extLst>
      <p:ext uri="{BB962C8B-B14F-4D97-AF65-F5344CB8AC3E}">
        <p14:creationId xmlns:p14="http://schemas.microsoft.com/office/powerpoint/2010/main" val="1884597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Improvements in Operating Plan</a:t>
            </a:r>
            <a:br>
              <a:rPr lang="en-US" dirty="0"/>
            </a:br>
            <a:r>
              <a:rPr lang="en-US" dirty="0"/>
              <a:t>(Ignoring costs of improvements)</a:t>
            </a:r>
          </a:p>
        </p:txBody>
      </p:sp>
      <p:graphicFrame>
        <p:nvGraphicFramePr>
          <p:cNvPr id="6" name="Table 2" descr="A table shows improvement in the operating plan of ignoring the costs of improvements. Scenario: Improve of N O P A T for actual of 2019 is $90 forecast of 2020 is $510 2021 is $551 2022 is $578 2023 is $607, Scenario: Improve of N O W C for actual of 2019 is $620 forecast for 2020 is $1100 2021 is $1188 2022 is $1247 2023 is $1310, Scenario: Improve total op. capital for actual of 2019 is $1120 forecast of 2020 is $4900 2021 is $5292 2022 is $5557 2023 is $5834, Scenario: Improve of F C F for forecast of 2020 is $380 2021 is $159 2022 is $314 2023 is $329, Scenario: Improve of growth in F C F forecast of 2021 is minus 58.2 percent 2022 is 97.6 percent in 2023 is 5.0 percent, Scenario: Improve of R O I C for actual of 2019 is 8.0 percent forecast from 2020 to 2023 is 10.4 percent."/>
          <p:cNvGraphicFramePr>
            <a:graphicFrameLocks noGrp="1"/>
          </p:cNvGraphicFramePr>
          <p:nvPr>
            <p:ph idx="1"/>
            <p:extLst>
              <p:ext uri="{D42A27DB-BD31-4B8C-83A1-F6EECF244321}">
                <p14:modId xmlns:p14="http://schemas.microsoft.com/office/powerpoint/2010/main" val="47970911"/>
              </p:ext>
            </p:extLst>
          </p:nvPr>
        </p:nvGraphicFramePr>
        <p:xfrm>
          <a:off x="838200" y="1317623"/>
          <a:ext cx="10193155" cy="3683760"/>
        </p:xfrm>
        <a:graphic>
          <a:graphicData uri="http://schemas.openxmlformats.org/drawingml/2006/table">
            <a:tbl>
              <a:tblPr firstRow="1" firstCol="1" bandRow="1"/>
              <a:tblGrid>
                <a:gridCol w="2959769">
                  <a:extLst>
                    <a:ext uri="{9D8B030D-6E8A-4147-A177-3AD203B41FA5}">
                      <a16:colId xmlns:a16="http://schemas.microsoft.com/office/drawing/2014/main" val="20000"/>
                    </a:ext>
                  </a:extLst>
                </a:gridCol>
                <a:gridCol w="1381226">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460470">
                <a:tc>
                  <a:txBody>
                    <a:bodyPr/>
                    <a:lstStyle/>
                    <a:p>
                      <a:pPr marL="0" marR="0" indent="0" algn="ctr">
                        <a:spcBef>
                          <a:spcPts val="0"/>
                        </a:spcBef>
                        <a:spcAft>
                          <a:spcPts val="0"/>
                        </a:spcAft>
                      </a:pPr>
                      <a:r>
                        <a:rPr lang="en-US" sz="2400" b="1" dirty="0">
                          <a:solidFill>
                            <a:schemeClr val="tx1"/>
                          </a:solidFill>
                          <a:effectLst/>
                          <a:latin typeface="Arial" panose="020B0604020202020204" pitchFamily="34" charset="0"/>
                          <a:cs typeface="Arial" panose="020B0604020202020204" pitchFamily="34" charset="0"/>
                        </a:rPr>
                        <a:t>Scenario:</a:t>
                      </a:r>
                      <a:r>
                        <a:rPr lang="en-US" sz="2400" b="1" baseline="0" dirty="0">
                          <a:solidFill>
                            <a:schemeClr val="tx1"/>
                          </a:solidFill>
                          <a:effectLst/>
                          <a:latin typeface="Arial" panose="020B0604020202020204" pitchFamily="34" charset="0"/>
                          <a:cs typeface="Arial" panose="020B0604020202020204" pitchFamily="34" charset="0"/>
                        </a:rPr>
                        <a:t> </a:t>
                      </a:r>
                      <a:r>
                        <a:rPr lang="en-US" sz="2400" b="1" dirty="0">
                          <a:solidFill>
                            <a:schemeClr val="tx1"/>
                          </a:solidFill>
                          <a:effectLst/>
                          <a:latin typeface="Arial" panose="020B0604020202020204" pitchFamily="34" charset="0"/>
                          <a:cs typeface="Arial" panose="020B0604020202020204" pitchFamily="34" charset="0"/>
                        </a:rPr>
                        <a:t>Improve</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effectLst/>
                          <a:latin typeface="Arial" panose="020B0604020202020204" pitchFamily="34" charset="0"/>
                          <a:cs typeface="Arial" panose="020B0604020202020204" pitchFamily="34" charset="0"/>
                        </a:rPr>
                        <a:t>Actual</a:t>
                      </a:r>
                      <a:endParaRPr lang="en-US" sz="2400" b="1"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r>
                        <a:rPr lang="en-US" sz="2400" b="1" dirty="0">
                          <a:solidFill>
                            <a:schemeClr val="tx1"/>
                          </a:solidFill>
                          <a:effectLst/>
                          <a:latin typeface="Arial" panose="020B0604020202020204" pitchFamily="34" charset="0"/>
                          <a:cs typeface="Arial" panose="020B0604020202020204" pitchFamily="34" charset="0"/>
                        </a:rPr>
                        <a:t>Forecast</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85205" marR="85205"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460470">
                <a:tc>
                  <a:txBody>
                    <a:bodyPr/>
                    <a:lstStyle/>
                    <a:p>
                      <a:pPr marL="0" marR="0" indent="0">
                        <a:spcBef>
                          <a:spcPts val="0"/>
                        </a:spcBef>
                        <a:spcAft>
                          <a:spcPts val="0"/>
                        </a:spcAft>
                      </a:pP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2019</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2020</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2021</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2022</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2023</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1"/>
                  </a:ext>
                </a:extLst>
              </a:tr>
              <a:tr h="46047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NOPAT</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$90</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$510</a:t>
                      </a:r>
                    </a:p>
                  </a:txBody>
                  <a:tcPr marL="0" marR="0"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$551</a:t>
                      </a:r>
                    </a:p>
                  </a:txBody>
                  <a:tcPr marL="0" marR="0"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$578</a:t>
                      </a:r>
                    </a:p>
                  </a:txBody>
                  <a:tcPr marL="0" marR="0"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$607</a:t>
                      </a:r>
                    </a:p>
                  </a:txBody>
                  <a:tcPr marL="85205" marR="85205"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46047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NOWC</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$620</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$1,100</a:t>
                      </a:r>
                    </a:p>
                  </a:txBody>
                  <a:tcPr marL="0" marR="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$1,188</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$1,247</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$1,310</a:t>
                      </a:r>
                    </a:p>
                  </a:txBody>
                  <a:tcPr marL="85205" marR="8520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46047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Total op. capital</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$1,120</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$4,900</a:t>
                      </a:r>
                    </a:p>
                  </a:txBody>
                  <a:tcPr marL="0" marR="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$5,292</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$5,557</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$5,834</a:t>
                      </a:r>
                    </a:p>
                  </a:txBody>
                  <a:tcPr marL="85205" marR="8520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46047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FCF </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indent="0"/>
                      <a:endParaRPr lang="en-US" sz="2400" dirty="0">
                        <a:effectLst/>
                        <a:latin typeface="Arial" panose="020B0604020202020204" pitchFamily="34" charset="0"/>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$380</a:t>
                      </a:r>
                    </a:p>
                  </a:txBody>
                  <a:tcPr marL="0" marR="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$159</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$314</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$329</a:t>
                      </a:r>
                    </a:p>
                  </a:txBody>
                  <a:tcPr marL="85205" marR="8520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46047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Growth in FCF</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 </a:t>
                      </a:r>
                    </a:p>
                  </a:txBody>
                  <a:tcPr marL="0" marR="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-58.2%</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97.6%</a:t>
                      </a:r>
                    </a:p>
                  </a:txBody>
                  <a:tcPr marL="0" marR="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5.0%</a:t>
                      </a:r>
                    </a:p>
                  </a:txBody>
                  <a:tcPr marL="85205" marR="8520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46047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0">
                        <a:spcBef>
                          <a:spcPts val="0"/>
                        </a:spcBef>
                        <a:spcAft>
                          <a:spcPts val="0"/>
                        </a:spcAft>
                      </a:pPr>
                      <a:r>
                        <a:rPr lang="en-US" sz="2400" dirty="0">
                          <a:solidFill>
                            <a:schemeClr val="tx1"/>
                          </a:solidFill>
                          <a:effectLst/>
                          <a:latin typeface="Arial" panose="020B0604020202020204" pitchFamily="34" charset="0"/>
                          <a:cs typeface="Arial" panose="020B0604020202020204" pitchFamily="34" charset="0"/>
                        </a:rPr>
                        <a:t>ROIC</a:t>
                      </a:r>
                      <a:endParaRPr lang="en-US" sz="2400" dirty="0">
                        <a:solidFill>
                          <a:schemeClr val="tx1"/>
                        </a:solidFill>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a:spcBef>
                          <a:spcPts val="0"/>
                        </a:spcBef>
                        <a:spcAft>
                          <a:spcPts val="0"/>
                        </a:spcAft>
                      </a:pPr>
                      <a:r>
                        <a:rPr lang="en-US" sz="2400" dirty="0">
                          <a:effectLst/>
                          <a:latin typeface="Arial" panose="020B0604020202020204" pitchFamily="34" charset="0"/>
                          <a:cs typeface="Arial" panose="020B0604020202020204" pitchFamily="34" charset="0"/>
                        </a:rPr>
                        <a:t>8.0%</a:t>
                      </a:r>
                      <a:endParaRPr lang="en-US" sz="2400" dirty="0">
                        <a:effectLst/>
                        <a:latin typeface="Arial" panose="020B0604020202020204" pitchFamily="34" charset="0"/>
                        <a:ea typeface="Times New Roman"/>
                        <a:cs typeface="Arial" panose="020B0604020202020204" pitchFamily="34" charset="0"/>
                      </a:endParaRPr>
                    </a:p>
                  </a:txBody>
                  <a:tcPr marL="44845" marR="448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10.4%</a:t>
                      </a:r>
                    </a:p>
                  </a:txBody>
                  <a:tcPr marL="85205" marR="85205"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a:effectLst/>
                          <a:latin typeface="Arial" panose="020B0604020202020204" pitchFamily="34" charset="0"/>
                          <a:ea typeface="Times New Roman" panose="02020603050405020304" pitchFamily="18" charset="0"/>
                          <a:cs typeface="Arial" panose="020B0604020202020204" pitchFamily="34" charset="0"/>
                        </a:rPr>
                        <a:t>10.4%</a:t>
                      </a:r>
                    </a:p>
                  </a:txBody>
                  <a:tcPr marL="85205" marR="85205"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10.4%</a:t>
                      </a:r>
                    </a:p>
                  </a:txBody>
                  <a:tcPr marL="85205" marR="85205"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10.4%</a:t>
                      </a:r>
                    </a:p>
                  </a:txBody>
                  <a:tcPr marL="85205" marR="85205"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bl>
          </a:graphicData>
        </a:graphic>
      </p:graphicFrame>
      <p:sp>
        <p:nvSpPr>
          <p:cNvPr id="4" name="Content Placeholder 3"/>
          <p:cNvSpPr>
            <a:spLocks noGrp="1"/>
          </p:cNvSpPr>
          <p:nvPr>
            <p:ph idx="10"/>
          </p:nvPr>
        </p:nvSpPr>
        <p:spPr>
          <a:xfrm>
            <a:off x="838200" y="5268685"/>
            <a:ext cx="10515600" cy="1201508"/>
          </a:xfrm>
        </p:spPr>
        <p:txBody>
          <a:bodyPr/>
          <a:lstStyle/>
          <a:p>
            <a:r>
              <a:rPr lang="en-US" sz="2800" dirty="0"/>
              <a:t>New ROIC of 10.4% is higher than WACC of 10%--big improvement.</a:t>
            </a:r>
          </a:p>
        </p:txBody>
      </p:sp>
    </p:spTree>
    <p:extLst>
      <p:ext uri="{BB962C8B-B14F-4D97-AF65-F5344CB8AC3E}">
        <p14:creationId xmlns:p14="http://schemas.microsoft.com/office/powerpoint/2010/main" val="16958264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Estimated Intrinsic Value</a:t>
            </a:r>
            <a:br>
              <a:rPr lang="en-US" dirty="0"/>
            </a:br>
            <a:r>
              <a:rPr lang="en-US" dirty="0"/>
              <a:t>(Ignoring cost of improvements)</a:t>
            </a:r>
          </a:p>
        </p:txBody>
      </p:sp>
      <p:graphicFrame>
        <p:nvGraphicFramePr>
          <p:cNvPr id="8" name="Table 2" descr="A table shows new estimated intrinsic value of ignoring the cost of improvements. Scenario: improve of horizon value: is H V subscript 2023 equals $ 1598 and value of operations: present value of HV plus present value of F C F is $1132 and $182, value of operations equals $1314 for value of operations plus S T investments is $ 1314 and $ 0, est. total intrinsic value minus all debt of $1314 with $500, minus preferred stock of $0, est. The intrinsic value of equity divided with the number of shares of $814 with 10, est. intrinsic stock price equals $81.37."/>
          <p:cNvGraphicFramePr>
            <a:graphicFrameLocks noGrp="1"/>
          </p:cNvGraphicFramePr>
          <p:nvPr>
            <p:ph idx="1"/>
            <p:extLst>
              <p:ext uri="{D42A27DB-BD31-4B8C-83A1-F6EECF244321}">
                <p14:modId xmlns:p14="http://schemas.microsoft.com/office/powerpoint/2010/main" val="3662050612"/>
              </p:ext>
            </p:extLst>
          </p:nvPr>
        </p:nvGraphicFramePr>
        <p:xfrm>
          <a:off x="838200" y="1317625"/>
          <a:ext cx="9303257" cy="3470148"/>
        </p:xfrm>
        <a:graphic>
          <a:graphicData uri="http://schemas.openxmlformats.org/drawingml/2006/table">
            <a:tbl>
              <a:tblPr firstRow="1" bandRow="1"/>
              <a:tblGrid>
                <a:gridCol w="3503676">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615192">
                  <a:extLst>
                    <a:ext uri="{9D8B030D-6E8A-4147-A177-3AD203B41FA5}">
                      <a16:colId xmlns:a16="http://schemas.microsoft.com/office/drawing/2014/main" val="20002"/>
                    </a:ext>
                  </a:extLst>
                </a:gridCol>
                <a:gridCol w="1087109">
                  <a:extLst>
                    <a:ext uri="{9D8B030D-6E8A-4147-A177-3AD203B41FA5}">
                      <a16:colId xmlns:a16="http://schemas.microsoft.com/office/drawing/2014/main" val="20003"/>
                    </a:ext>
                  </a:extLst>
                </a:gridCol>
              </a:tblGrid>
              <a:tr h="376183">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solidFill>
                            <a:schemeClr val="tx1"/>
                          </a:solidFill>
                          <a:effectLst/>
                          <a:latin typeface="Arial" panose="020B0604020202020204" pitchFamily="34" charset="0"/>
                          <a:cs typeface="Arial" panose="020B0604020202020204" pitchFamily="34" charset="0"/>
                        </a:rPr>
                        <a:t>Scenario: Improve</a:t>
                      </a:r>
                      <a:endParaRPr lang="en-US" sz="2200" b="1" dirty="0">
                        <a:solidFill>
                          <a:schemeClr val="tx1"/>
                        </a:solidFill>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lnSpc>
                          <a:spcPct val="115000"/>
                        </a:lnSpc>
                        <a:spcBef>
                          <a:spcPts val="0"/>
                        </a:spcBef>
                        <a:spcAft>
                          <a:spcPts val="0"/>
                        </a:spcAft>
                      </a:pP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lnSpc>
                          <a:spcPct val="115000"/>
                        </a:lnSpc>
                        <a:spcBef>
                          <a:spcPts val="0"/>
                        </a:spcBef>
                        <a:spcAft>
                          <a:spcPts val="0"/>
                        </a:spcAft>
                      </a:pP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p>
                      <a:pPr marL="0" marR="0" algn="r">
                        <a:spcBef>
                          <a:spcPts val="0"/>
                        </a:spcBef>
                        <a:spcAft>
                          <a:spcPts val="0"/>
                        </a:spcAft>
                      </a:pPr>
                      <a:endParaRPr lang="en-US" sz="2200" dirty="0">
                        <a:effectLst/>
                        <a:latin typeface="Arial" panose="020B0604020202020204" pitchFamily="34" charset="0"/>
                        <a:ea typeface="Times New Roman"/>
                        <a:cs typeface="Arial" panose="020B0604020202020204" pitchFamily="34" charset="0"/>
                      </a:endParaRPr>
                    </a:p>
                  </a:txBody>
                  <a:tcPr marL="81355" marR="81355" marT="0" marB="0">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nSpc>
                          <a:spcPct val="115000"/>
                        </a:lnSpc>
                        <a:spcBef>
                          <a:spcPts val="0"/>
                        </a:spcBef>
                        <a:spcAft>
                          <a:spcPts val="0"/>
                        </a:spcAft>
                      </a:pPr>
                      <a:r>
                        <a:rPr lang="en-US" sz="2200" b="1" dirty="0">
                          <a:effectLst/>
                          <a:latin typeface="Arial" panose="020B0604020202020204" pitchFamily="34" charset="0"/>
                          <a:cs typeface="Arial" panose="020B0604020202020204" pitchFamily="34" charset="0"/>
                        </a:rPr>
                        <a:t>Horizon Value:</a:t>
                      </a:r>
                      <a:endParaRPr lang="en-US" sz="2200" b="1"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 </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Value of operations</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$1,314</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 </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 </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u="sng" dirty="0">
                          <a:effectLst/>
                          <a:latin typeface="Arial" panose="020B0604020202020204" pitchFamily="34" charset="0"/>
                          <a:cs typeface="Arial" panose="020B0604020202020204" pitchFamily="34" charset="0"/>
                        </a:rPr>
                        <a:t>+  ST investments</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a:cs typeface="Arial" panose="020B0604020202020204" pitchFamily="34" charset="0"/>
                        </a:rPr>
                        <a:t>$0</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2200" kern="1200" baseline="0" dirty="0">
                          <a:solidFill>
                            <a:schemeClr val="dk1"/>
                          </a:solidFill>
                          <a:effectLst/>
                          <a:latin typeface="Arial" panose="020B0604020202020204" pitchFamily="34" charset="0"/>
                          <a:ea typeface="+mn-ea"/>
                          <a:cs typeface="Arial" panose="020B0604020202020204" pitchFamily="34" charset="0"/>
                        </a:rPr>
                        <a:t>HV</a:t>
                      </a:r>
                      <a:r>
                        <a:rPr lang="en-US" sz="2200" kern="1200" baseline="-25000" dirty="0">
                          <a:solidFill>
                            <a:schemeClr val="dk1"/>
                          </a:solidFill>
                          <a:effectLst/>
                          <a:latin typeface="Arial" panose="020B0604020202020204" pitchFamily="34" charset="0"/>
                          <a:ea typeface="+mn-ea"/>
                          <a:cs typeface="Arial" panose="020B0604020202020204" pitchFamily="34" charset="0"/>
                        </a:rPr>
                        <a:t>2023</a:t>
                      </a:r>
                      <a:r>
                        <a:rPr lang="en-US" sz="2200" kern="1200" baseline="0" dirty="0">
                          <a:solidFill>
                            <a:schemeClr val="dk1"/>
                          </a:solidFill>
                          <a:effectLst/>
                          <a:latin typeface="Arial" panose="020B0604020202020204" pitchFamily="34" charset="0"/>
                          <a:ea typeface="+mn-ea"/>
                          <a:cs typeface="Arial" panose="020B0604020202020204" pitchFamily="34" charset="0"/>
                        </a:rPr>
                        <a:t> =</a:t>
                      </a:r>
                      <a:endParaRPr lang="en-US" sz="2200" kern="1200" dirty="0">
                        <a:solidFill>
                          <a:schemeClr val="dk1"/>
                        </a:solidFill>
                        <a:effectLst/>
                        <a:latin typeface="Arial" panose="020B0604020202020204" pitchFamily="34" charset="0"/>
                        <a:ea typeface="+mn-ea"/>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$1,598</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Est. total intrinsic value</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$1,314</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 </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 </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 All debt</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$500</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l">
                        <a:lnSpc>
                          <a:spcPct val="115000"/>
                        </a:lnSpc>
                        <a:spcBef>
                          <a:spcPts val="0"/>
                        </a:spcBef>
                        <a:spcAft>
                          <a:spcPts val="0"/>
                        </a:spcAft>
                      </a:pPr>
                      <a:r>
                        <a:rPr lang="en-US" sz="2200" b="1" dirty="0">
                          <a:effectLst/>
                          <a:latin typeface="Arial" panose="020B0604020202020204" pitchFamily="34" charset="0"/>
                          <a:cs typeface="Arial" panose="020B0604020202020204" pitchFamily="34" charset="0"/>
                        </a:rPr>
                        <a:t>Value of Operations:</a:t>
                      </a:r>
                      <a:endParaRPr lang="en-US" sz="2200" b="1"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 </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u="sng" dirty="0">
                          <a:effectLst/>
                          <a:latin typeface="Arial" panose="020B0604020202020204" pitchFamily="34" charset="0"/>
                          <a:cs typeface="Arial" panose="020B0604020202020204" pitchFamily="34" charset="0"/>
                        </a:rPr>
                        <a:t>− Preferred stock</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a:cs typeface="Arial" panose="020B0604020202020204" pitchFamily="34" charset="0"/>
                        </a:rPr>
                        <a:t>$0</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Present value of HV</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$1,132</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Est. intrinsic value of equity</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$814</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u="sng" dirty="0">
                          <a:effectLst/>
                          <a:latin typeface="Arial" panose="020B0604020202020204" pitchFamily="34" charset="0"/>
                          <a:cs typeface="Arial" panose="020B0604020202020204" pitchFamily="34" charset="0"/>
                        </a:rPr>
                        <a:t>+ Present value of FCF</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a:cs typeface="Arial" panose="020B0604020202020204" pitchFamily="34" charset="0"/>
                        </a:rPr>
                        <a:t>$182</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u="sng" dirty="0">
                          <a:effectLst/>
                          <a:latin typeface="Arial" panose="020B0604020202020204" pitchFamily="34" charset="0"/>
                          <a:cs typeface="Arial" panose="020B0604020202020204" pitchFamily="34" charset="0"/>
                        </a:rPr>
                        <a:t>÷ Number of shares</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a:cs typeface="Arial" panose="020B0604020202020204" pitchFamily="34" charset="0"/>
                        </a:rPr>
                        <a:t>10</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376183">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Value of operations =</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b">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$1,314</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lnSpc>
                          <a:spcPct val="115000"/>
                        </a:lnSpc>
                        <a:spcBef>
                          <a:spcPts val="0"/>
                        </a:spcBef>
                        <a:spcAft>
                          <a:spcPts val="0"/>
                        </a:spcAft>
                      </a:pPr>
                      <a:r>
                        <a:rPr lang="en-US" sz="2200" dirty="0">
                          <a:effectLst/>
                          <a:latin typeface="Arial" panose="020B0604020202020204" pitchFamily="34" charset="0"/>
                          <a:cs typeface="Arial" panose="020B0604020202020204" pitchFamily="34" charset="0"/>
                        </a:rPr>
                        <a:t>Est. intrinsic stock price =</a:t>
                      </a:r>
                      <a:endParaRPr lang="en-US" sz="2200" dirty="0">
                        <a:effectLst/>
                        <a:latin typeface="Arial" panose="020B0604020202020204" pitchFamily="34" charset="0"/>
                        <a:ea typeface="Times New Roman"/>
                        <a:cs typeface="Arial" panose="020B0604020202020204" pitchFamily="34" charset="0"/>
                      </a:endParaRPr>
                    </a:p>
                  </a:txBody>
                  <a:tcPr marL="41508" marR="41508"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a:cs typeface="Arial" panose="020B0604020202020204" pitchFamily="34" charset="0"/>
                        </a:rPr>
                        <a:t>$81.37</a:t>
                      </a:r>
                    </a:p>
                  </a:txBody>
                  <a:tcPr marL="81355" marR="81355" marT="0" marB="0">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bl>
          </a:graphicData>
        </a:graphic>
      </p:graphicFrame>
      <p:sp>
        <p:nvSpPr>
          <p:cNvPr id="4" name="Content Placeholder 3"/>
          <p:cNvSpPr>
            <a:spLocks noGrp="1"/>
          </p:cNvSpPr>
          <p:nvPr>
            <p:ph idx="10"/>
          </p:nvPr>
        </p:nvSpPr>
        <p:spPr>
          <a:xfrm>
            <a:off x="838200" y="4891314"/>
            <a:ext cx="11353800" cy="1201508"/>
          </a:xfrm>
        </p:spPr>
        <p:txBody>
          <a:bodyPr/>
          <a:lstStyle/>
          <a:p>
            <a:pPr marL="0" indent="0" algn="r">
              <a:spcAft>
                <a:spcPts val="0"/>
              </a:spcAft>
              <a:buNone/>
            </a:pPr>
            <a:r>
              <a:rPr lang="en-US" sz="2800" dirty="0"/>
              <a:t>Improvement in value of operations: $1,314 − $958 = $356</a:t>
            </a:r>
          </a:p>
          <a:p>
            <a:pPr marL="0" indent="0" algn="r">
              <a:spcAft>
                <a:spcPts val="0"/>
              </a:spcAft>
              <a:buNone/>
            </a:pPr>
            <a:r>
              <a:rPr lang="en-US" sz="2800" dirty="0"/>
              <a:t>Cost of improvements =   $50</a:t>
            </a:r>
          </a:p>
          <a:p>
            <a:pPr marL="0" indent="0">
              <a:spcAft>
                <a:spcPts val="0"/>
              </a:spcAft>
              <a:buNone/>
            </a:pPr>
            <a:r>
              <a:rPr lang="en-US" sz="2800" dirty="0"/>
              <a:t>Company should make improvements.</a:t>
            </a:r>
          </a:p>
        </p:txBody>
      </p:sp>
    </p:spTree>
    <p:extLst>
      <p:ext uri="{BB962C8B-B14F-4D97-AF65-F5344CB8AC3E}">
        <p14:creationId xmlns:p14="http://schemas.microsoft.com/office/powerpoint/2010/main" val="3113326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Income Statement Reflecting Improvements</a:t>
            </a:r>
          </a:p>
        </p:txBody>
      </p:sp>
      <p:graphicFrame>
        <p:nvGraphicFramePr>
          <p:cNvPr id="9" name="Table 2" descr="A table shows new income statement reflecting improvements. Sales and op. costs within parenthesis excl. depr. and depreciation of 2019 is $9000.9, and 8100.9 and 360.0 input is 1.111, and 89.4 percent and 10 percent basis for 2020 forecast is multiplies 2019 sales and 2020 sales and 2020 net fixed assets 2020 is $10000 and 8940 and 380, E B I T and less: interest on L T D and interest on L O C of 2019 is $540.0 and 144.0, and 0 input is 8 percent and 8 percent basis for 2020 forecast is multiplies avg bonds and multiplies beginning L O C 2020 is $ 680 and 144 and 0, pretax earnings and taxes within parenthesis 40 percent of 2019 is 396.0 and 99.0 input is 25 percent basis for 2020 forecast is multiplies pretax earnings 2020 is $536 and 134, net income of 2019 is $297.0 2020 is $402, regular dividends of 2019 is $100.0 input is 110 percent basis for 2020 forecast is multiplied 2017 dividend 2020 is $110, special dividends of 2019 is $0.0 basis for 2020 forecast is pay if financing surplus 2020 is $ 162, addition to R E 2019 is $197.0 basis for 2020 forecast is net income – dividends 2020 is $130."/>
          <p:cNvGraphicFramePr>
            <a:graphicFrameLocks noGrp="1"/>
          </p:cNvGraphicFramePr>
          <p:nvPr>
            <p:ph idx="1"/>
            <p:extLst>
              <p:ext uri="{D42A27DB-BD31-4B8C-83A1-F6EECF244321}">
                <p14:modId xmlns:p14="http://schemas.microsoft.com/office/powerpoint/2010/main" val="3848495779"/>
              </p:ext>
            </p:extLst>
          </p:nvPr>
        </p:nvGraphicFramePr>
        <p:xfrm>
          <a:off x="800100" y="1056028"/>
          <a:ext cx="10591800" cy="4802213"/>
        </p:xfrm>
        <a:graphic>
          <a:graphicData uri="http://schemas.openxmlformats.org/drawingml/2006/table">
            <a:tbl>
              <a:tblPr firstRow="1" firstCol="1" bandRow="1"/>
              <a:tblGrid>
                <a:gridCol w="325901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222131">
                  <a:extLst>
                    <a:ext uri="{9D8B030D-6E8A-4147-A177-3AD203B41FA5}">
                      <a16:colId xmlns:a16="http://schemas.microsoft.com/office/drawing/2014/main" val="20002"/>
                    </a:ext>
                  </a:extLst>
                </a:gridCol>
                <a:gridCol w="3405908">
                  <a:extLst>
                    <a:ext uri="{9D8B030D-6E8A-4147-A177-3AD203B41FA5}">
                      <a16:colId xmlns:a16="http://schemas.microsoft.com/office/drawing/2014/main" val="20003"/>
                    </a:ext>
                  </a:extLst>
                </a:gridCol>
                <a:gridCol w="1380771">
                  <a:extLst>
                    <a:ext uri="{9D8B030D-6E8A-4147-A177-3AD203B41FA5}">
                      <a16:colId xmlns:a16="http://schemas.microsoft.com/office/drawing/2014/main" val="20004"/>
                    </a:ext>
                  </a:extLst>
                </a:gridCol>
              </a:tblGrid>
              <a:tr h="54461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endParaRPr lang="en-US" sz="2200" dirty="0">
                        <a:solidFill>
                          <a:schemeClr val="tx1"/>
                        </a:solidFill>
                        <a:effectLst/>
                        <a:latin typeface="Arial" panose="020B0604020202020204" pitchFamily="34" charset="0"/>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2019</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Input</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Basis for 2020 Forecast</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2020</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32590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Sales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$9,000.9</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1.111</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2019 Sales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 $10,000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412728">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Op. costs (excl. depr.)</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8,100.9</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89.4%</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2020 Sales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    8,940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no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32590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Depreciation</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panose="02020603050405020304" pitchFamily="18" charset="0"/>
                          <a:cs typeface="Arial" panose="020B0604020202020204" pitchFamily="34" charset="0"/>
                        </a:rPr>
                        <a:t>     360.0</a:t>
                      </a:r>
                      <a:endParaRPr lang="en-US" sz="2200" dirty="0">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10%</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2020 Net fixed assets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no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        380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366639">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EBIT</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   540.0</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 $    680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32590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Less: Interest on LTD</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144.0</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8%</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Avg bonds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        144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no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32590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         Interest on LOC</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panose="02020603050405020304" pitchFamily="18" charset="0"/>
                          <a:cs typeface="Arial" panose="020B0604020202020204" pitchFamily="34" charset="0"/>
                        </a:rPr>
                        <a:t>          0</a:t>
                      </a:r>
                      <a:endParaRPr lang="en-US" sz="2200" dirty="0">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8%</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Beginning LOC</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no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200" u="sng" dirty="0">
                          <a:effectLst/>
                          <a:latin typeface="Arial" panose="020B0604020202020204" pitchFamily="34" charset="0"/>
                          <a:ea typeface="Times New Roman" panose="02020603050405020304" pitchFamily="18" charset="0"/>
                          <a:cs typeface="Arial" panose="020B0604020202020204" pitchFamily="34" charset="0"/>
                        </a:rPr>
                        <a:t>          0</a:t>
                      </a:r>
                      <a:r>
                        <a:rPr lang="en-US" sz="2200" dirty="0">
                          <a:solidFill>
                            <a:sysClr val="windowText" lastClr="000000"/>
                          </a:solidFill>
                          <a:effectLst/>
                          <a:latin typeface="Arial" panose="020B0604020202020204" pitchFamily="34" charset="0"/>
                          <a:cs typeface="Arial" panose="020B0604020202020204" pitchFamily="34" charset="0"/>
                        </a:rPr>
                        <a:t>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366639">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Pretax earnings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   396.0</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 $    536 </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32590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Taxes (40%)</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panose="02020603050405020304" pitchFamily="18" charset="0"/>
                          <a:cs typeface="Arial" panose="020B0604020202020204" pitchFamily="34" charset="0"/>
                        </a:rPr>
                        <a:t>       99.0</a:t>
                      </a:r>
                      <a:endParaRPr lang="en-US" sz="2200" dirty="0">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25%</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Pretax earnings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no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sng" dirty="0">
                          <a:effectLst/>
                          <a:latin typeface="Arial" panose="020B0604020202020204" pitchFamily="34" charset="0"/>
                          <a:ea typeface="Times New Roman" panose="02020603050405020304" pitchFamily="18" charset="0"/>
                          <a:cs typeface="Arial" panose="020B0604020202020204" pitchFamily="34" charset="0"/>
                        </a:rPr>
                        <a:t>      134</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366639">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Net income</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dbl" dirty="0">
                          <a:effectLst/>
                          <a:latin typeface="Arial" panose="020B0604020202020204" pitchFamily="34" charset="0"/>
                          <a:ea typeface="Times New Roman" panose="02020603050405020304" pitchFamily="18" charset="0"/>
                          <a:cs typeface="Arial" panose="020B0604020202020204" pitchFamily="34" charset="0"/>
                        </a:rPr>
                        <a:t>$   297.0</a:t>
                      </a:r>
                      <a:endParaRPr lang="en-US" sz="2200" dirty="0">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u="dbl" dirty="0">
                          <a:effectLst/>
                          <a:latin typeface="Arial" panose="020B0604020202020204" pitchFamily="34" charset="0"/>
                          <a:ea typeface="Times New Roman" panose="02020603050405020304" pitchFamily="18" charset="0"/>
                          <a:cs typeface="Arial" panose="020B0604020202020204" pitchFamily="34" charset="0"/>
                        </a:rPr>
                        <a:t>$    402</a:t>
                      </a:r>
                      <a:endParaRPr lang="en-US" sz="2200" dirty="0">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r h="325902">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Regular dividends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$100.0</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110%</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200" dirty="0">
                          <a:effectLst/>
                          <a:latin typeface="Arial" panose="020B0604020202020204" pitchFamily="34" charset="0"/>
                          <a:cs typeface="Arial" panose="020B0604020202020204" pitchFamily="34" charset="0"/>
                        </a:rPr>
                        <a:t>×  2017 Dividend</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$110</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0"/>
                  </a:ext>
                </a:extLst>
              </a:tr>
              <a:tr h="366639">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Special dividends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$0.0</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Pay if financing surplus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$162</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11"/>
                  </a:ext>
                </a:extLst>
              </a:tr>
              <a:tr h="366639">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Addition to RE</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91660" marR="916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$197.0</a:t>
                      </a:r>
                    </a:p>
                  </a:txBody>
                  <a:tcPr marL="91660" marR="91660"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2200" dirty="0">
                        <a:effectLst/>
                        <a:latin typeface="Arial" panose="020B0604020202020204" pitchFamily="34" charset="0"/>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14300" algn="r">
                        <a:spcBef>
                          <a:spcPts val="0"/>
                        </a:spcBef>
                        <a:spcAft>
                          <a:spcPts val="0"/>
                        </a:spcAft>
                      </a:pPr>
                      <a:r>
                        <a:rPr lang="en-US" sz="2200" dirty="0">
                          <a:effectLst/>
                          <a:latin typeface="Arial" panose="020B0604020202020204" pitchFamily="34" charset="0"/>
                          <a:cs typeface="Arial" panose="020B0604020202020204" pitchFamily="34" charset="0"/>
                        </a:rPr>
                        <a:t>Net income – Dividends</a:t>
                      </a:r>
                      <a:endParaRPr lang="en-US" sz="2200" dirty="0">
                        <a:effectLst/>
                        <a:latin typeface="Arial" panose="020B0604020202020204" pitchFamily="34" charset="0"/>
                        <a:ea typeface="Times New Roman"/>
                        <a:cs typeface="Arial" panose="020B0604020202020204" pitchFamily="34" charset="0"/>
                      </a:endParaRPr>
                    </a:p>
                  </a:txBody>
                  <a:tcPr marL="91660" marR="9166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solidFill>
                            <a:sysClr val="windowText" lastClr="000000"/>
                          </a:solidFill>
                          <a:effectLst/>
                          <a:latin typeface="Arial" panose="020B0604020202020204" pitchFamily="34" charset="0"/>
                          <a:cs typeface="Arial" panose="020B0604020202020204" pitchFamily="34" charset="0"/>
                        </a:rPr>
                        <a:t>$130</a:t>
                      </a:r>
                      <a:endParaRPr lang="en-US" sz="22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91660" marR="91660"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907782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Balance Sheets Reflecting Improvements</a:t>
            </a:r>
          </a:p>
        </p:txBody>
      </p:sp>
      <p:graphicFrame>
        <p:nvGraphicFramePr>
          <p:cNvPr id="6" name="Table 2" descr="A table shows new balance sheets reflecting improvements. Assets of cash for 2019 is $90 Input is 1 percent Basis for 2020 forecast is multiplies 2020 sales 2020 is $100, Assets of accts. rec. for 2019 is 1260 Input is 14 percent Basis for 2020 forecast is multiplies 2020 sales 2020 is 1400, Assets of inventories for 2019 is 1440 Input is 14 percent Basis for 2020 forecast is multiplies 2020 sales 2020 is 1400, Assets of total C A for 2019 is $ 2790 and 2020 is $2900, Assets of net fixed assets for 2019 is 3600 Input is 38 percent Basis for 2020 forecast is multiplies 2020 sales 2020 is 3800, Assets of total assets for 2019 is $6390, and 2020 is $ 6700, Liabilities and equity is none, Assets of accts. pay. And accruals for 2019 is $1620 Input is 4 percent Basis for 2020 forecast is multiplies 2020 sales 2020 is $1800, Assets of the line of credit for Basis for 2020 forecast is added L O C if fin. deficit, assets of total C L for 2019 is $1620, and 2020 is $1800, Assets of long-term debt for 2019 is 1800 Basis for 2020 forecast is no change 2020 is 1800, Assets of total liabilities for 2019 is $3420, and 2020 is $3600, Assets of common stock for 2019 is $2100 Basis for 2020 forecast is no change 2020 is 2100, Assets of retained earnings for 2019 is 870 Basis for 2020 forecast is old R E plus add. To R E 2020 is 1000, Assets of total common equity for 2019 is $2970, and 2020 is $3100, Assets of total liabs. and equity for 2019 is $6390, and 2020 is $6700, check: T A ndash T L and equ. is $0."/>
          <p:cNvGraphicFramePr>
            <a:graphicFrameLocks noGrp="1"/>
          </p:cNvGraphicFramePr>
          <p:nvPr>
            <p:ph idx="1"/>
            <p:extLst>
              <p:ext uri="{D42A27DB-BD31-4B8C-83A1-F6EECF244321}">
                <p14:modId xmlns:p14="http://schemas.microsoft.com/office/powerpoint/2010/main" val="375181965"/>
              </p:ext>
            </p:extLst>
          </p:nvPr>
        </p:nvGraphicFramePr>
        <p:xfrm>
          <a:off x="1705934" y="1028377"/>
          <a:ext cx="8780132" cy="5148109"/>
        </p:xfrm>
        <a:graphic>
          <a:graphicData uri="http://schemas.openxmlformats.org/drawingml/2006/table">
            <a:tbl>
              <a:tblPr firstRow="1" firstCol="1" bandRow="1"/>
              <a:tblGrid>
                <a:gridCol w="2651760">
                  <a:extLst>
                    <a:ext uri="{9D8B030D-6E8A-4147-A177-3AD203B41FA5}">
                      <a16:colId xmlns:a16="http://schemas.microsoft.com/office/drawing/2014/main" val="20000"/>
                    </a:ext>
                  </a:extLst>
                </a:gridCol>
                <a:gridCol w="1138126">
                  <a:extLst>
                    <a:ext uri="{9D8B030D-6E8A-4147-A177-3AD203B41FA5}">
                      <a16:colId xmlns:a16="http://schemas.microsoft.com/office/drawing/2014/main" val="20001"/>
                    </a:ext>
                  </a:extLst>
                </a:gridCol>
                <a:gridCol w="875482">
                  <a:extLst>
                    <a:ext uri="{9D8B030D-6E8A-4147-A177-3AD203B41FA5}">
                      <a16:colId xmlns:a16="http://schemas.microsoft.com/office/drawing/2014/main" val="20002"/>
                    </a:ext>
                  </a:extLst>
                </a:gridCol>
                <a:gridCol w="2976638">
                  <a:extLst>
                    <a:ext uri="{9D8B030D-6E8A-4147-A177-3AD203B41FA5}">
                      <a16:colId xmlns:a16="http://schemas.microsoft.com/office/drawing/2014/main" val="20003"/>
                    </a:ext>
                  </a:extLst>
                </a:gridCol>
                <a:gridCol w="1138126">
                  <a:extLst>
                    <a:ext uri="{9D8B030D-6E8A-4147-A177-3AD203B41FA5}">
                      <a16:colId xmlns:a16="http://schemas.microsoft.com/office/drawing/2014/main" val="20004"/>
                    </a:ext>
                  </a:extLst>
                </a:gridCol>
              </a:tblGrid>
              <a:tr h="36576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Assets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dirty="0">
                          <a:solidFill>
                            <a:schemeClr val="tx1"/>
                          </a:solidFill>
                          <a:effectLst/>
                          <a:latin typeface="Airal"/>
                        </a:rPr>
                        <a:t>2019</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dirty="0">
                          <a:solidFill>
                            <a:schemeClr val="tx1"/>
                          </a:solidFill>
                          <a:effectLst/>
                          <a:latin typeface="Airal"/>
                        </a:rPr>
                        <a:t>Input</a:t>
                      </a:r>
                      <a:endParaRPr lang="en-US" sz="1800" dirty="0">
                        <a:solidFill>
                          <a:schemeClr val="tx1"/>
                        </a:solidFill>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Basis for 2020 Forecast</a:t>
                      </a:r>
                      <a:endParaRPr lang="en-US" sz="1800" dirty="0">
                        <a:solidFill>
                          <a:schemeClr val="tx1"/>
                        </a:solidFill>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1800" dirty="0">
                          <a:solidFill>
                            <a:schemeClr val="tx1"/>
                          </a:solidFill>
                          <a:effectLst/>
                          <a:latin typeface="Airal"/>
                        </a:rPr>
                        <a:t>2020</a:t>
                      </a:r>
                      <a:endParaRPr lang="en-US" sz="1800" dirty="0">
                        <a:solidFill>
                          <a:schemeClr val="tx1"/>
                        </a:solidFill>
                        <a:effectLst/>
                        <a:latin typeface="Airal"/>
                        <a:ea typeface="Times New Roman"/>
                        <a:cs typeface="Times New Roman"/>
                      </a:endParaRP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10000"/>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Cash</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90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rPr>
                        <a:t>1%</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  ×   2020 Sales </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1"/>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Accts. rec.</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1,260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rPr>
                        <a:t>14%</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  ×   2020 Sales </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1,400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2"/>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Inventories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1,440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rPr>
                        <a:t>14%</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  ×   2020 Sales </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1,400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3"/>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Total CA</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$ 2,790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$ 2,900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4"/>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Net fixed assets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ea typeface="Times New Roman" panose="02020603050405020304" pitchFamily="18" charset="0"/>
                        </a:rPr>
                        <a:t>    3,600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rPr>
                        <a:t>38%</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  ×   2020 Sales </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3,800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5"/>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Total assets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$ 6,390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$ 6,700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6"/>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Liabilities and equity</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endParaRPr lang="en-US" sz="1800" dirty="0">
                        <a:effectLst/>
                        <a:latin typeface="Airal"/>
                        <a:ea typeface="Times New Roman" panose="02020603050405020304" pitchFamily="18" charset="0"/>
                      </a:endParaRP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endParaRPr lang="en-US" sz="1800" dirty="0">
                        <a:effectLst/>
                        <a:latin typeface="Airal"/>
                        <a:ea typeface="Times New Roman" panose="02020603050405020304" pitchFamily="18" charset="0"/>
                      </a:endParaRP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7"/>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Accts. pay. &amp; accruals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$ 1,620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rPr>
                        <a:t>4%</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  ×   2020 Sales </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$ 1,800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8"/>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Line of credit</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ea typeface="Times New Roman" panose="02020603050405020304" pitchFamily="18" charset="0"/>
                        </a:rPr>
                        <a:t>         -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Add LOC if fin. deficit</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9"/>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Total CL</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$ 1,620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$ 1,800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0"/>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Long-term debt</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1,800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No Change</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1,800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11"/>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Total liabilities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$ 3,420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$ 3,600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2"/>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Common stock</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$ 2,100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No Change</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2,100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13"/>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Retained earnings</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870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rPr>
                        <a:t> Old RE + Add. to RE</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1,000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4"/>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Total common equity</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a:effectLst/>
                          <a:latin typeface="Airal"/>
                          <a:ea typeface="Times New Roman" panose="02020603050405020304" pitchFamily="18" charset="0"/>
                        </a:rPr>
                        <a:t> $ 2,970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$ 3,100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15"/>
                  </a:ext>
                </a:extLst>
              </a:tr>
              <a:tr h="280154">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1800" dirty="0">
                          <a:solidFill>
                            <a:schemeClr val="tx1"/>
                          </a:solidFill>
                          <a:effectLst/>
                          <a:latin typeface="Airal"/>
                        </a:rPr>
                        <a:t>Total liabs. &amp; equity</a:t>
                      </a:r>
                      <a:endParaRPr lang="en-US" sz="1800" dirty="0">
                        <a:solidFill>
                          <a:schemeClr val="tx1"/>
                        </a:solidFill>
                        <a:effectLst/>
                        <a:latin typeface="Airal"/>
                        <a:ea typeface="Times New Roman"/>
                        <a:cs typeface="Times New Roman"/>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1800" dirty="0">
                          <a:effectLst/>
                          <a:latin typeface="Airal"/>
                          <a:ea typeface="Times New Roman" panose="02020603050405020304" pitchFamily="18" charset="0"/>
                        </a:rPr>
                        <a:t> $ 6,390 </a:t>
                      </a: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1800" dirty="0">
                          <a:effectLst/>
                          <a:latin typeface="Airal"/>
                          <a:ea typeface="Times New Roman" panose="02020603050405020304" pitchFamily="18" charset="0"/>
                        </a:rPr>
                        <a:t>$ 6,700 </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16"/>
                  </a:ext>
                </a:extLst>
              </a:tr>
              <a:tr h="29988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endParaRPr lang="en-US" sz="1800" dirty="0">
                        <a:solidFill>
                          <a:schemeClr val="tx1"/>
                        </a:solidFill>
                        <a:effectLst/>
                        <a:latin typeface="Airal"/>
                      </a:endParaRPr>
                    </a:p>
                  </a:txBody>
                  <a:tcPr marL="78793" marR="787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endParaRPr lang="en-US" sz="1800" dirty="0">
                        <a:effectLst/>
                        <a:latin typeface="Airal"/>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rPr>
                        <a:t>Check: TA − TL &amp; Equ.</a:t>
                      </a:r>
                      <a:endParaRPr lang="en-US" sz="1800" dirty="0">
                        <a:effectLst/>
                        <a:latin typeface="Airal"/>
                        <a:ea typeface="Times New Roman"/>
                        <a:cs typeface="Times New Roman"/>
                      </a:endParaRPr>
                    </a:p>
                  </a:txBody>
                  <a:tcPr marL="78793" marR="78793"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1800" dirty="0">
                          <a:effectLst/>
                          <a:latin typeface="Airal"/>
                          <a:ea typeface="Times New Roman" panose="02020603050405020304" pitchFamily="18" charset="0"/>
                        </a:rPr>
                        <a:t>$0</a:t>
                      </a:r>
                    </a:p>
                  </a:txBody>
                  <a:tcPr marL="78793" marR="78793"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11176979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and Eliminate Financing Deficit or Surplus (2 of 2)</a:t>
            </a:r>
          </a:p>
        </p:txBody>
      </p:sp>
      <p:graphicFrame>
        <p:nvGraphicFramePr>
          <p:cNvPr id="7" name="Table 2" descr="A table shows identify and eliminated financing deficit or surplus. Increase in spontaneous liabilities within parenthesis accts. pay. and accruals is $ 180, Plus increase in planned long-term debt and common stock is $0, Minus previous line of credit * is $0, Plus net income minus regular common dividends is $ 292, Increase in financing is $472, Minus increase in total assets is $310, Amount of deficit or surplus financing: is $162, If deficit within parenthesis negative, draw on line of credit is $0, If surplus within parenthesis positive, pay special dividend is $180."/>
          <p:cNvGraphicFramePr>
            <a:graphicFrameLocks noGrp="1"/>
          </p:cNvGraphicFramePr>
          <p:nvPr>
            <p:ph idx="1"/>
            <p:extLst>
              <p:ext uri="{D42A27DB-BD31-4B8C-83A1-F6EECF244321}">
                <p14:modId xmlns:p14="http://schemas.microsoft.com/office/powerpoint/2010/main" val="1569826819"/>
              </p:ext>
            </p:extLst>
          </p:nvPr>
        </p:nvGraphicFramePr>
        <p:xfrm>
          <a:off x="920433" y="1306514"/>
          <a:ext cx="10351135" cy="4244973"/>
        </p:xfrm>
        <a:graphic>
          <a:graphicData uri="http://schemas.openxmlformats.org/drawingml/2006/table">
            <a:tbl>
              <a:tblPr firstRow="1" firstCol="1" bandRow="1"/>
              <a:tblGrid>
                <a:gridCol w="9045586">
                  <a:extLst>
                    <a:ext uri="{9D8B030D-6E8A-4147-A177-3AD203B41FA5}">
                      <a16:colId xmlns:a16="http://schemas.microsoft.com/office/drawing/2014/main" val="20000"/>
                    </a:ext>
                  </a:extLst>
                </a:gridCol>
                <a:gridCol w="1305549">
                  <a:extLst>
                    <a:ext uri="{9D8B030D-6E8A-4147-A177-3AD203B41FA5}">
                      <a16:colId xmlns:a16="http://schemas.microsoft.com/office/drawing/2014/main" val="20001"/>
                    </a:ext>
                  </a:extLst>
                </a:gridCol>
              </a:tblGrid>
              <a:tr h="60642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Increase in spontaneous liabilities (accts. pay. and accruals)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$180</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0"/>
                  </a:ext>
                </a:extLst>
              </a:tr>
              <a:tr h="404283">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 Increase in planned long-term debt and common stock</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$0</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1"/>
                  </a:ext>
                </a:extLst>
              </a:tr>
              <a:tr h="404283">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u="none" dirty="0">
                          <a:solidFill>
                            <a:schemeClr val="tx1"/>
                          </a:solidFill>
                          <a:effectLst/>
                          <a:latin typeface="Arial" panose="020B0604020202020204" pitchFamily="34" charset="0"/>
                          <a:cs typeface="Arial" panose="020B0604020202020204" pitchFamily="34" charset="0"/>
                        </a:rPr>
                        <a:t>− Previous line of credit*</a:t>
                      </a:r>
                      <a:endParaRPr lang="en-US" sz="2200" u="none"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$0</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2"/>
                  </a:ext>
                </a:extLst>
              </a:tr>
              <a:tr h="404283">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u="sng" dirty="0">
                          <a:solidFill>
                            <a:schemeClr val="tx1"/>
                          </a:solidFill>
                          <a:effectLst/>
                          <a:latin typeface="Arial" panose="020B0604020202020204" pitchFamily="34" charset="0"/>
                          <a:cs typeface="Arial" panose="020B0604020202020204" pitchFamily="34" charset="0"/>
                        </a:rPr>
                        <a:t>+ Net income minus regular common dividends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a:effectLst/>
                          <a:latin typeface="Arial" panose="020B0604020202020204" pitchFamily="34" charset="0"/>
                          <a:ea typeface="Times New Roman" panose="02020603050405020304" pitchFamily="18" charset="0"/>
                          <a:cs typeface="Arial" panose="020B0604020202020204" pitchFamily="34" charset="0"/>
                        </a:rPr>
                        <a:t>$292</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3"/>
                  </a:ext>
                </a:extLst>
              </a:tr>
              <a:tr h="404283">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Increase in financing</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$472</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4"/>
                  </a:ext>
                </a:extLst>
              </a:tr>
              <a:tr h="60642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u="sng" dirty="0">
                          <a:solidFill>
                            <a:schemeClr val="tx1"/>
                          </a:solidFill>
                          <a:effectLst/>
                          <a:latin typeface="Arial" panose="020B0604020202020204" pitchFamily="34" charset="0"/>
                          <a:cs typeface="Arial" panose="020B0604020202020204" pitchFamily="34" charset="0"/>
                        </a:rPr>
                        <a:t>− Increase in total assets</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$310</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5"/>
                  </a:ext>
                </a:extLst>
              </a:tr>
              <a:tr h="60642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Amount of deficit or surplus financing:</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$162</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6"/>
                  </a:ext>
                </a:extLst>
              </a:tr>
              <a:tr h="404283">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If deficit (negative), draw on line of credit</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$0</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10007"/>
                  </a:ext>
                </a:extLst>
              </a:tr>
              <a:tr h="404283">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indent="114300">
                        <a:spcBef>
                          <a:spcPts val="0"/>
                        </a:spcBef>
                        <a:spcAft>
                          <a:spcPts val="0"/>
                        </a:spcAft>
                      </a:pPr>
                      <a:r>
                        <a:rPr lang="en-US" sz="2200" dirty="0">
                          <a:solidFill>
                            <a:schemeClr val="tx1"/>
                          </a:solidFill>
                          <a:effectLst/>
                          <a:latin typeface="Arial" panose="020B0604020202020204" pitchFamily="34" charset="0"/>
                          <a:cs typeface="Arial" panose="020B0604020202020204" pitchFamily="34" charset="0"/>
                        </a:rPr>
                        <a:t>If surplus (positive), pay special dividend</a:t>
                      </a:r>
                      <a:endParaRPr lang="en-US" sz="2200" dirty="0">
                        <a:solidFill>
                          <a:schemeClr val="tx1"/>
                        </a:solidFill>
                        <a:effectLst/>
                        <a:latin typeface="Arial" panose="020B0604020202020204" pitchFamily="34" charset="0"/>
                        <a:ea typeface="Times New Roman"/>
                        <a:cs typeface="Arial" panose="020B0604020202020204" pitchFamily="34" charset="0"/>
                      </a:endParaRPr>
                    </a:p>
                  </a:txBody>
                  <a:tcPr marL="39219" marR="39219" marT="0" marB="0" anchor="ct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27000" algn="r">
                        <a:spcBef>
                          <a:spcPts val="0"/>
                        </a:spcBef>
                        <a:spcAft>
                          <a:spcPts val="0"/>
                        </a:spcAft>
                      </a:pPr>
                      <a:r>
                        <a:rPr lang="en-US" sz="2200" dirty="0">
                          <a:effectLst/>
                          <a:latin typeface="Arial" panose="020B0604020202020204" pitchFamily="34" charset="0"/>
                          <a:ea typeface="Times New Roman" panose="02020603050405020304" pitchFamily="18" charset="0"/>
                          <a:cs typeface="Arial" panose="020B0604020202020204" pitchFamily="34" charset="0"/>
                        </a:rPr>
                        <a:t>$180</a:t>
                      </a:r>
                    </a:p>
                  </a:txBody>
                  <a:tcPr marL="83928" marR="83928" marT="0" marB="0" anchor="ct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262444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Effect of Improvement Plan</a:t>
            </a:r>
          </a:p>
        </p:txBody>
      </p:sp>
      <p:graphicFrame>
        <p:nvGraphicFramePr>
          <p:cNvPr id="6" name="Table 2" descr="A table shows the new effect of the improvement plan. Value of operations of improve is $5662 no change is $3683 net change in value is $1980, cost of improvement of improve is minus $70, and net change in value is minus $70, the total value of improve is $5592 no change is $3683 net change in value is $1910.">
            <a:extLst>
              <a:ext uri="{FF2B5EF4-FFF2-40B4-BE49-F238E27FC236}">
                <a16:creationId xmlns:a16="http://schemas.microsoft.com/office/drawing/2014/main" id="{978671DD-290D-4B24-AB0F-55EFBF4F64B5}"/>
              </a:ext>
            </a:extLst>
          </p:cNvPr>
          <p:cNvGraphicFramePr>
            <a:graphicFrameLocks noGrp="1"/>
          </p:cNvGraphicFramePr>
          <p:nvPr>
            <p:ph idx="1"/>
            <p:extLst>
              <p:ext uri="{D42A27DB-BD31-4B8C-83A1-F6EECF244321}">
                <p14:modId xmlns:p14="http://schemas.microsoft.com/office/powerpoint/2010/main" val="4193705042"/>
              </p:ext>
            </p:extLst>
          </p:nvPr>
        </p:nvGraphicFramePr>
        <p:xfrm>
          <a:off x="719534" y="2286000"/>
          <a:ext cx="10752932" cy="2263775"/>
        </p:xfrm>
        <a:graphic>
          <a:graphicData uri="http://schemas.openxmlformats.org/drawingml/2006/table">
            <a:tbl>
              <a:tblPr firstRow="1" firstCol="1" bandRow="1"/>
              <a:tblGrid>
                <a:gridCol w="3985520">
                  <a:extLst>
                    <a:ext uri="{9D8B030D-6E8A-4147-A177-3AD203B41FA5}">
                      <a16:colId xmlns:a16="http://schemas.microsoft.com/office/drawing/2014/main" val="501178921"/>
                    </a:ext>
                  </a:extLst>
                </a:gridCol>
                <a:gridCol w="2013484">
                  <a:extLst>
                    <a:ext uri="{9D8B030D-6E8A-4147-A177-3AD203B41FA5}">
                      <a16:colId xmlns:a16="http://schemas.microsoft.com/office/drawing/2014/main" val="1503715229"/>
                    </a:ext>
                  </a:extLst>
                </a:gridCol>
                <a:gridCol w="1951159">
                  <a:extLst>
                    <a:ext uri="{9D8B030D-6E8A-4147-A177-3AD203B41FA5}">
                      <a16:colId xmlns:a16="http://schemas.microsoft.com/office/drawing/2014/main" val="3823956446"/>
                    </a:ext>
                  </a:extLst>
                </a:gridCol>
                <a:gridCol w="2802769">
                  <a:extLst>
                    <a:ext uri="{9D8B030D-6E8A-4147-A177-3AD203B41FA5}">
                      <a16:colId xmlns:a16="http://schemas.microsoft.com/office/drawing/2014/main" val="1103960600"/>
                    </a:ext>
                  </a:extLst>
                </a:gridCol>
              </a:tblGrid>
              <a:tr h="905510">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endParaRPr lang="en-US" sz="2800" dirty="0">
                        <a:solidFill>
                          <a:sysClr val="windowText" lastClr="000000"/>
                        </a:solidFill>
                        <a:effectLst/>
                        <a:latin typeface="Arial" panose="020B0604020202020204" pitchFamily="34"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800" dirty="0">
                          <a:solidFill>
                            <a:sysClr val="windowText" lastClr="000000"/>
                          </a:solidFill>
                          <a:effectLst/>
                          <a:latin typeface="Arial" panose="020B0604020202020204" pitchFamily="34" charset="0"/>
                          <a:cs typeface="Arial" panose="020B0604020202020204" pitchFamily="34" charset="0"/>
                        </a:rPr>
                        <a:t>Improve</a:t>
                      </a:r>
                      <a:endParaRPr lang="en-US" sz="2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800" dirty="0">
                          <a:solidFill>
                            <a:sysClr val="windowText" lastClr="000000"/>
                          </a:solidFill>
                          <a:effectLst/>
                          <a:latin typeface="Arial" panose="020B0604020202020204" pitchFamily="34" charset="0"/>
                          <a:cs typeface="Arial" panose="020B0604020202020204" pitchFamily="34" charset="0"/>
                        </a:rPr>
                        <a:t>No Change</a:t>
                      </a:r>
                      <a:endParaRPr lang="en-US" sz="2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ctr">
                        <a:spcBef>
                          <a:spcPts val="0"/>
                        </a:spcBef>
                        <a:spcAft>
                          <a:spcPts val="0"/>
                        </a:spcAft>
                      </a:pPr>
                      <a:r>
                        <a:rPr lang="en-US" sz="2800" dirty="0">
                          <a:solidFill>
                            <a:sysClr val="windowText" lastClr="000000"/>
                          </a:solidFill>
                          <a:effectLst/>
                          <a:latin typeface="Arial" panose="020B0604020202020204" pitchFamily="34" charset="0"/>
                          <a:cs typeface="Arial" panose="020B0604020202020204" pitchFamily="34" charset="0"/>
                        </a:rPr>
                        <a:t>Net Change in Value</a:t>
                      </a:r>
                      <a:endParaRPr lang="en-US" sz="2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solidFill>
                  </a:tcPr>
                </a:tc>
                <a:extLst>
                  <a:ext uri="{0D108BD9-81ED-4DB2-BD59-A6C34878D82A}">
                    <a16:rowId xmlns:a16="http://schemas.microsoft.com/office/drawing/2014/main" val="219004272"/>
                  </a:ext>
                </a:extLst>
              </a:tr>
              <a:tr h="45275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Value of operations</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$5,662</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$3,683</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$1,980</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3650191598"/>
                  </a:ext>
                </a:extLst>
              </a:tr>
              <a:tr h="45275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Cost of Improvement</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solidFill>
                            <a:sysClr val="windowText" lastClr="000000"/>
                          </a:solidFill>
                          <a:effectLst/>
                          <a:latin typeface="Arial" panose="020B0604020202020204" pitchFamily="34" charset="0"/>
                          <a:cs typeface="Arial" panose="020B0604020202020204" pitchFamily="34" charset="0"/>
                        </a:rPr>
                        <a:t>-$70</a:t>
                      </a:r>
                      <a:endParaRPr lang="en-US" sz="2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spcBef>
                          <a:spcPts val="0"/>
                        </a:spcBef>
                        <a:spcAft>
                          <a:spcPts val="0"/>
                        </a:spcAft>
                      </a:pPr>
                      <a:r>
                        <a:rPr lang="en-US" sz="2800" dirty="0">
                          <a:solidFill>
                            <a:sysClr val="windowText" lastClr="000000"/>
                          </a:solidFill>
                          <a:effectLst/>
                          <a:latin typeface="Arial" panose="020B0604020202020204" pitchFamily="34" charset="0"/>
                          <a:cs typeface="Arial" panose="020B0604020202020204" pitchFamily="34" charset="0"/>
                        </a:rPr>
                        <a:t> </a:t>
                      </a:r>
                      <a:endParaRPr lang="en-US" sz="2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dirty="0">
                          <a:solidFill>
                            <a:sysClr val="windowText" lastClr="000000"/>
                          </a:solidFill>
                          <a:effectLst/>
                          <a:latin typeface="Arial" panose="020B0604020202020204" pitchFamily="34" charset="0"/>
                          <a:cs typeface="Arial" panose="020B0604020202020204" pitchFamily="34" charset="0"/>
                        </a:rPr>
                        <a:t>-$70</a:t>
                      </a:r>
                      <a:endParaRPr lang="en-US" sz="2800" dirty="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7BB01">
                        <a:tint val="20000"/>
                      </a:srgbClr>
                    </a:solidFill>
                  </a:tcPr>
                </a:tc>
                <a:extLst>
                  <a:ext uri="{0D108BD9-81ED-4DB2-BD59-A6C34878D82A}">
                    <a16:rowId xmlns:a16="http://schemas.microsoft.com/office/drawing/2014/main" val="3380089534"/>
                  </a:ext>
                </a:extLst>
              </a:tr>
              <a:tr h="452755">
                <a:tc>
                  <a:txBody>
                    <a:bodyPr/>
                    <a:lstStyle>
                      <a:lvl1pPr marL="0" algn="l" defTabSz="914400" rtl="0" eaLnBrk="1" latinLnBrk="0" hangingPunct="1">
                        <a:defRPr sz="1800" b="1" kern="1200">
                          <a:solidFill>
                            <a:schemeClr val="lt1"/>
                          </a:solidFill>
                          <a:latin typeface="Tahoma"/>
                          <a:ea typeface=""/>
                          <a:cs typeface=""/>
                        </a:defRPr>
                      </a:lvl1pPr>
                      <a:lvl2pPr marL="457200" algn="l" defTabSz="914400" rtl="0" eaLnBrk="1" latinLnBrk="0" hangingPunct="1">
                        <a:defRPr sz="1800" b="1" kern="1200">
                          <a:solidFill>
                            <a:schemeClr val="lt1"/>
                          </a:solidFill>
                          <a:latin typeface="Tahoma"/>
                          <a:ea typeface=""/>
                          <a:cs typeface=""/>
                        </a:defRPr>
                      </a:lvl2pPr>
                      <a:lvl3pPr marL="914400" algn="l" defTabSz="914400" rtl="0" eaLnBrk="1" latinLnBrk="0" hangingPunct="1">
                        <a:defRPr sz="1800" b="1" kern="1200">
                          <a:solidFill>
                            <a:schemeClr val="lt1"/>
                          </a:solidFill>
                          <a:latin typeface="Tahoma"/>
                          <a:ea typeface=""/>
                          <a:cs typeface=""/>
                        </a:defRPr>
                      </a:lvl3pPr>
                      <a:lvl4pPr marL="1371600" algn="l" defTabSz="914400" rtl="0" eaLnBrk="1" latinLnBrk="0" hangingPunct="1">
                        <a:defRPr sz="1800" b="1" kern="1200">
                          <a:solidFill>
                            <a:schemeClr val="lt1"/>
                          </a:solidFill>
                          <a:latin typeface="Tahoma"/>
                          <a:ea typeface=""/>
                          <a:cs typeface=""/>
                        </a:defRPr>
                      </a:lvl4pPr>
                      <a:lvl5pPr marL="1828800" algn="l" defTabSz="914400" rtl="0" eaLnBrk="1" latinLnBrk="0" hangingPunct="1">
                        <a:defRPr sz="1800" b="1" kern="1200">
                          <a:solidFill>
                            <a:schemeClr val="lt1"/>
                          </a:solidFill>
                          <a:latin typeface="Tahoma"/>
                          <a:ea typeface=""/>
                          <a:cs typeface=""/>
                        </a:defRPr>
                      </a:lvl5pPr>
                      <a:lvl6pPr marL="2286000" algn="l" defTabSz="914400" rtl="0" eaLnBrk="1" latinLnBrk="0" hangingPunct="1">
                        <a:defRPr sz="1800" b="1" kern="1200">
                          <a:solidFill>
                            <a:schemeClr val="lt1"/>
                          </a:solidFill>
                          <a:latin typeface="Tahoma"/>
                          <a:ea typeface=""/>
                          <a:cs typeface=""/>
                        </a:defRPr>
                      </a:lvl6pPr>
                      <a:lvl7pPr marL="2743200" algn="l" defTabSz="914400" rtl="0" eaLnBrk="1" latinLnBrk="0" hangingPunct="1">
                        <a:defRPr sz="1800" b="1" kern="1200">
                          <a:solidFill>
                            <a:schemeClr val="lt1"/>
                          </a:solidFill>
                          <a:latin typeface="Tahoma"/>
                          <a:ea typeface=""/>
                          <a:cs typeface=""/>
                        </a:defRPr>
                      </a:lvl7pPr>
                      <a:lvl8pPr marL="3200400" algn="l" defTabSz="914400" rtl="0" eaLnBrk="1" latinLnBrk="0" hangingPunct="1">
                        <a:defRPr sz="1800" b="1" kern="1200">
                          <a:solidFill>
                            <a:schemeClr val="lt1"/>
                          </a:solidFill>
                          <a:latin typeface="Tahoma"/>
                          <a:ea typeface=""/>
                          <a:cs typeface=""/>
                        </a:defRPr>
                      </a:lvl8pPr>
                      <a:lvl9pPr marL="3657600" algn="l" defTabSz="914400" rtl="0" eaLnBrk="1" latinLnBrk="0" hangingPunct="1">
                        <a:defRPr sz="1800" b="1" kern="1200">
                          <a:solidFill>
                            <a:schemeClr val="lt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Total value</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BB01"/>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$5,592</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algn="r">
                        <a:spcBef>
                          <a:spcPts val="0"/>
                        </a:spcBef>
                        <a:spcAft>
                          <a:spcPts val="0"/>
                        </a:spcAft>
                      </a:pPr>
                      <a:r>
                        <a:rPr lang="en-US" sz="2800">
                          <a:solidFill>
                            <a:sysClr val="windowText" lastClr="000000"/>
                          </a:solidFill>
                          <a:effectLst/>
                          <a:latin typeface="Arial" panose="020B0604020202020204" pitchFamily="34" charset="0"/>
                          <a:cs typeface="Arial" panose="020B0604020202020204" pitchFamily="34" charset="0"/>
                        </a:rPr>
                        <a:t>$3,683</a:t>
                      </a:r>
                      <a:endParaRPr lang="en-US" sz="2800">
                        <a:solidFill>
                          <a:sysClr val="windowText" lastClr="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152400" algn="r">
                        <a:spcBef>
                          <a:spcPts val="0"/>
                        </a:spcBef>
                        <a:spcAft>
                          <a:spcPts val="0"/>
                        </a:spcAft>
                      </a:pPr>
                      <a:r>
                        <a:rPr lang="en-US" sz="2800" b="1" dirty="0">
                          <a:solidFill>
                            <a:srgbClr val="0000CC"/>
                          </a:solidFill>
                          <a:effectLst/>
                          <a:latin typeface="Arial" panose="020B0604020202020204" pitchFamily="34" charset="0"/>
                          <a:cs typeface="Arial" panose="020B0604020202020204" pitchFamily="34" charset="0"/>
                        </a:rPr>
                        <a:t>$1,910</a:t>
                      </a:r>
                      <a:endParaRPr lang="en-US" sz="2800" b="1" dirty="0">
                        <a:solidFill>
                          <a:srgbClr val="0000CC"/>
                        </a:solidFill>
                        <a:effectLst/>
                        <a:latin typeface="Arial" panose="020B0604020202020204" pitchFamily="34" charset="0"/>
                        <a:ea typeface="Times New Roman" panose="02020603050405020304" pitchFamily="18" charset="0"/>
                        <a:cs typeface="Arial" panose="020B0604020202020204" pitchFamily="34" charset="0"/>
                      </a:endParaRPr>
                    </a:p>
                  </a:txBody>
                  <a:tcPr marL="101870" marR="101870" marT="0" marB="0" anchor="b">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BB01">
                        <a:tint val="40000"/>
                      </a:srgbClr>
                    </a:solidFill>
                  </a:tcPr>
                </a:tc>
                <a:extLst>
                  <a:ext uri="{0D108BD9-81ED-4DB2-BD59-A6C34878D82A}">
                    <a16:rowId xmlns:a16="http://schemas.microsoft.com/office/drawing/2014/main" val="1406369805"/>
                  </a:ext>
                </a:extLst>
              </a:tr>
            </a:tbl>
          </a:graphicData>
        </a:graphic>
      </p:graphicFrame>
    </p:spTree>
    <p:extLst>
      <p:ext uri="{BB962C8B-B14F-4D97-AF65-F5344CB8AC3E}">
        <p14:creationId xmlns:p14="http://schemas.microsoft.com/office/powerpoint/2010/main" val="867503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Alternatives to Paying Special Dividend</a:t>
            </a:r>
          </a:p>
        </p:txBody>
      </p:sp>
      <p:sp>
        <p:nvSpPr>
          <p:cNvPr id="3" name="Content Placeholder 2"/>
          <p:cNvSpPr>
            <a:spLocks noGrp="1"/>
          </p:cNvSpPr>
          <p:nvPr>
            <p:ph idx="1"/>
          </p:nvPr>
        </p:nvSpPr>
        <p:spPr/>
        <p:txBody>
          <a:bodyPr/>
          <a:lstStyle/>
          <a:p>
            <a:r>
              <a:rPr lang="en-US" dirty="0"/>
              <a:t>Repurchase stock</a:t>
            </a:r>
          </a:p>
          <a:p>
            <a:r>
              <a:rPr lang="en-US" dirty="0"/>
              <a:t>Repay debt</a:t>
            </a:r>
          </a:p>
          <a:p>
            <a:r>
              <a:rPr lang="en-US" dirty="0"/>
              <a:t>Purchase marketable securities</a:t>
            </a:r>
          </a:p>
        </p:txBody>
      </p:sp>
    </p:spTree>
    <p:extLst>
      <p:ext uri="{BB962C8B-B14F-4D97-AF65-F5344CB8AC3E}">
        <p14:creationId xmlns:p14="http://schemas.microsoft.com/office/powerpoint/2010/main" val="1209654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Modifying the Forecasting Model</a:t>
            </a:r>
          </a:p>
        </p:txBody>
      </p:sp>
      <p:sp>
        <p:nvSpPr>
          <p:cNvPr id="3" name="Content Placeholder 2"/>
          <p:cNvSpPr>
            <a:spLocks noGrp="1"/>
          </p:cNvSpPr>
          <p:nvPr>
            <p:ph idx="1"/>
          </p:nvPr>
        </p:nvSpPr>
        <p:spPr/>
        <p:txBody>
          <a:bodyPr/>
          <a:lstStyle/>
          <a:p>
            <a:r>
              <a:rPr lang="en-US" dirty="0"/>
              <a:t>Multi-year projections of financial statements.</a:t>
            </a:r>
          </a:p>
          <a:p>
            <a:r>
              <a:rPr lang="en-US" dirty="0"/>
              <a:t>Maintain target capital structure each year.</a:t>
            </a:r>
          </a:p>
          <a:p>
            <a:r>
              <a:rPr lang="en-US" dirty="0"/>
              <a:t>For examples, see </a:t>
            </a:r>
            <a:r>
              <a:rPr lang="en-US" b="1" i="1" dirty="0"/>
              <a:t>Ch12 Tool Kit.xlsx</a:t>
            </a:r>
            <a:r>
              <a:rPr lang="en-US" dirty="0"/>
              <a:t> and look at the worksheet </a:t>
            </a:r>
            <a:r>
              <a:rPr lang="en-US" b="1" i="1" dirty="0"/>
              <a:t>CFO Model</a:t>
            </a:r>
            <a:r>
              <a:rPr lang="en-US" dirty="0"/>
              <a:t>.</a:t>
            </a:r>
          </a:p>
        </p:txBody>
      </p:sp>
    </p:spTree>
    <p:extLst>
      <p:ext uri="{BB962C8B-B14F-4D97-AF65-F5344CB8AC3E}">
        <p14:creationId xmlns:p14="http://schemas.microsoft.com/office/powerpoint/2010/main" val="1011552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Variations on the Percent of Sales</a:t>
            </a:r>
          </a:p>
        </p:txBody>
      </p:sp>
      <p:sp>
        <p:nvSpPr>
          <p:cNvPr id="3" name="Content Placeholder 2"/>
          <p:cNvSpPr>
            <a:spLocks noGrp="1"/>
          </p:cNvSpPr>
          <p:nvPr>
            <p:ph idx="1"/>
          </p:nvPr>
        </p:nvSpPr>
        <p:spPr/>
        <p:txBody>
          <a:bodyPr/>
          <a:lstStyle/>
          <a:p>
            <a:r>
              <a:rPr lang="en-US" dirty="0"/>
              <a:t>In some situations, it might not be appropriate to model operating ratios as a percent of sales:</a:t>
            </a:r>
          </a:p>
          <a:p>
            <a:pPr lvl="1"/>
            <a:r>
              <a:rPr lang="en-US" dirty="0"/>
              <a:t>Economies of scale</a:t>
            </a:r>
          </a:p>
          <a:p>
            <a:pPr lvl="1"/>
            <a:r>
              <a:rPr lang="en-US" dirty="0"/>
              <a:t>Nonlinearity</a:t>
            </a:r>
          </a:p>
          <a:p>
            <a:pPr lvl="1"/>
            <a:r>
              <a:rPr lang="en-US" dirty="0"/>
              <a:t>Lumpy assets acquisitions.</a:t>
            </a:r>
          </a:p>
          <a:p>
            <a:r>
              <a:rPr lang="en-US" dirty="0"/>
              <a:t>See following slides.</a:t>
            </a:r>
          </a:p>
        </p:txBody>
      </p:sp>
    </p:spTree>
    <p:extLst>
      <p:ext uri="{BB962C8B-B14F-4D97-AF65-F5344CB8AC3E}">
        <p14:creationId xmlns:p14="http://schemas.microsoft.com/office/powerpoint/2010/main" val="38092895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Ratio Relationships: Constant A*/S Ratios</a:t>
            </a:r>
          </a:p>
        </p:txBody>
      </p:sp>
      <p:pic>
        <p:nvPicPr>
          <p:cNvPr id="3074" name="Picture 2" descr="A graph shows the constant ratios. The x axis shows sales from 0 to 400 with the increment of 200 and the y axis shows inventories from 0 to 200 with an increment of 100. A slanting line passes from 0 and extends upward. Two dashed line passes from 200 in x axis to 100 in y axis labeled as 100/200 equals 0.50 equals 50 percent, and 400 dollars to 200 dollars labeled as 200/400 equals 0.50 equals 50 perc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2804" y="945744"/>
            <a:ext cx="9446393" cy="4966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7901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Economies of Scale in A*/S Ratios</a:t>
            </a:r>
          </a:p>
        </p:txBody>
      </p:sp>
      <p:pic>
        <p:nvPicPr>
          <p:cNvPr id="4098" name="Picture 2" descr="A graph shows the Economies of Scale; Declining Ratios. The x axis shows sales from 0 to 400 with the increment of 200 and the y axis shows inventories from 0 to 400 with an increment of 100. A slanting line passes from approximately 200 and extends upward, labeled as base stock. Two dashed line passes from 300 to 200 labeled as 300/200 equals 150 percent, and 400 to 200 labeled as 400/400 equals 100 perc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31644" y="1074728"/>
            <a:ext cx="9728712" cy="511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6782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A*/S Ratios</a:t>
            </a:r>
          </a:p>
        </p:txBody>
      </p:sp>
      <p:pic>
        <p:nvPicPr>
          <p:cNvPr id="5122" name="Picture 2" descr="A graph shows the Curvilinear Relationship. The x axis shows sales from 0 to 400 with the increment of 200 and the y axis shows inventories from 0 to 424. A curve passes from 100 in x axis to 424 in y axis and extends upward. Two dashed line passes from 200 to 300 and 400 to 42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1295400"/>
            <a:ext cx="8214028" cy="4723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617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Ratio Relationships: Lumpy Increments</a:t>
            </a:r>
          </a:p>
        </p:txBody>
      </p:sp>
      <p:pic>
        <p:nvPicPr>
          <p:cNvPr id="6146" name="Picture 2" descr="A graph shows the Lumpy Assets. The x axis shows sales and the y axis shows net plant. A slanting line passes from bottom left to top right and it shows three peaks that resemble a staircase. The outer line labeled as capacity and the inner line labeled as excess capacity (temporar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0458" y="936845"/>
            <a:ext cx="6987904" cy="5159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119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_PPT_Template_Cengage_MPS.potx" id="{6A341ED2-E63B-4177-9AAF-670EA0822A4A}" vid="{9F6311B6-333D-45C7-A3D7-227D14483E8E}"/>
    </a:ext>
  </a:extLst>
</a:theme>
</file>

<file path=docProps/app.xml><?xml version="1.0" encoding="utf-8"?>
<Properties xmlns="http://schemas.openxmlformats.org/officeDocument/2006/extended-properties" xmlns:vt="http://schemas.openxmlformats.org/officeDocument/2006/docPropsVTypes">
  <Template>Accessible_PPT_Template_Cengage_MPS</Template>
  <TotalTime>2538</TotalTime>
  <Words>3916</Words>
  <Application>Microsoft Office PowerPoint</Application>
  <PresentationFormat>Widescreen</PresentationFormat>
  <Paragraphs>1012</Paragraphs>
  <Slides>55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2" baseType="lpstr">
      <vt:lpstr>Airal</vt:lpstr>
      <vt:lpstr>Arial</vt:lpstr>
      <vt:lpstr>Arial</vt:lpstr>
      <vt:lpstr>Cambria Math</vt:lpstr>
      <vt:lpstr>Wingdings</vt:lpstr>
      <vt:lpstr>Office Theme</vt:lpstr>
      <vt:lpstr>Equation</vt:lpstr>
      <vt:lpstr>Corporate Valuation and Financial Planning</vt:lpstr>
      <vt:lpstr>Topics in Chapter</vt:lpstr>
      <vt:lpstr>Intrinsic Value: Financial Forecasting</vt:lpstr>
      <vt:lpstr>Financial Planning Process</vt:lpstr>
      <vt:lpstr>Balance Sheet, Hatfield, 12/31/19Planning Process</vt:lpstr>
      <vt:lpstr>Income Statement, Hatfield, 2019</vt:lpstr>
      <vt:lpstr>Selected Additional Data and Ratios</vt:lpstr>
      <vt:lpstr>Comparison of Hatfield to Industry: Operations</vt:lpstr>
      <vt:lpstr>Comparison of Hatfield to Industry: Leverage and Risk</vt:lpstr>
      <vt:lpstr>Comparison of Hatfield to Industry Using DuPont Equation (1 of 3)</vt:lpstr>
      <vt:lpstr>Comparison of Hatfield to Industry Using DuPont Equation (2 of 3)</vt:lpstr>
      <vt:lpstr>Comparison of Hatfield to Industry Using DuPont Equation (3 of 3)</vt:lpstr>
      <vt:lpstr>The Additional Funds Needed (AFN) Equation</vt:lpstr>
      <vt:lpstr>AFN (Additional Funds Needed) Equation: Key Assumptions</vt:lpstr>
      <vt:lpstr>Definitions of Variables in AFN</vt:lpstr>
      <vt:lpstr>Data Needed for AFN Equation</vt:lpstr>
      <vt:lpstr>Hatfield’s AFN Using AFN Equation</vt:lpstr>
      <vt:lpstr>Key Factors in AFN Equation (1 of 2)</vt:lpstr>
      <vt:lpstr>Key Factors in AFN Equation (2 of 2)</vt:lpstr>
      <vt:lpstr>Self-Supporting Growth Rate (1 of 2)</vt:lpstr>
      <vt:lpstr>Self-Supporting Growth Rate (2 of 2)</vt:lpstr>
      <vt:lpstr>Forecasted Financial Statements: The Basic Approach</vt:lpstr>
      <vt:lpstr>Forecasting Operating Items</vt:lpstr>
      <vt:lpstr>Initial Operating Assumptions for the No Change Scenario</vt:lpstr>
      <vt:lpstr>Assumptions</vt:lpstr>
      <vt:lpstr>Examples of Forecasting Items</vt:lpstr>
      <vt:lpstr>Forecasted Operating Items</vt:lpstr>
      <vt:lpstr>Calculate Forecasted FCF (1 of 2)</vt:lpstr>
      <vt:lpstr>Calculate Forecasted FCF (2 of 2)</vt:lpstr>
      <vt:lpstr>Estimated Intrinsic Value</vt:lpstr>
      <vt:lpstr>Estimated Intrinsic Stock Price versus Market Price</vt:lpstr>
      <vt:lpstr>Forecasted Financial Statements: The Balance Sheet and Income Statement</vt:lpstr>
      <vt:lpstr>Identify and Eliminate the Financing Deficit or Surplus</vt:lpstr>
      <vt:lpstr>Preliminary Income Statement</vt:lpstr>
      <vt:lpstr>Preliminary Balance Sheets</vt:lpstr>
      <vt:lpstr>Identify and Eliminate Financing Deficit or Surplus (1 of 2)</vt:lpstr>
      <vt:lpstr>Updated Balance Sheets</vt:lpstr>
      <vt:lpstr>Update Income Statements?</vt:lpstr>
      <vt:lpstr>Impact of Adding Line of Credit During Year Instead of at End of Year—Financing Feedback!</vt:lpstr>
      <vt:lpstr>Financing Feedback-Solutions</vt:lpstr>
      <vt:lpstr>Alternatives to Drawing on LOC</vt:lpstr>
      <vt:lpstr>Planned Improvements </vt:lpstr>
      <vt:lpstr>Improvements in Operating Plan (Ignoring costs of improvements)</vt:lpstr>
      <vt:lpstr>New Estimated Intrinsic Value (Ignoring cost of improvements)</vt:lpstr>
      <vt:lpstr>New Income Statement Reflecting Improvements</vt:lpstr>
      <vt:lpstr>New Balance Sheets Reflecting Improvements</vt:lpstr>
      <vt:lpstr>Identify and Eliminate Financing Deficit or Surplus (2 of 2)</vt:lpstr>
      <vt:lpstr>Net Effect of Improvement Plan</vt:lpstr>
      <vt:lpstr>Alternatives to Paying Special Dividend</vt:lpstr>
      <vt:lpstr>Modifying the Forecasting Model</vt:lpstr>
      <vt:lpstr>Variations on the Percent of Sales</vt:lpstr>
      <vt:lpstr>Possible Ratio Relationships: Constant A*/S Ratios</vt:lpstr>
      <vt:lpstr>Economies of Scale in A*/S Ratios</vt:lpstr>
      <vt:lpstr>Nonlinear A*/S Ratios</vt:lpstr>
      <vt:lpstr>Possible Ratio Relationships: Lumpy Increments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 kumar. Tripathy</dc:creator>
  <cp:lastModifiedBy>Gordon Elliott Williams</cp:lastModifiedBy>
  <cp:revision>805</cp:revision>
  <dcterms:created xsi:type="dcterms:W3CDTF">2018-12-18T04:30:03Z</dcterms:created>
  <dcterms:modified xsi:type="dcterms:W3CDTF">2021-11-24T23:36:23Z</dcterms:modified>
</cp:coreProperties>
</file>