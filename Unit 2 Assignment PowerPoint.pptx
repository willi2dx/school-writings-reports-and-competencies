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0"/>
  </p:notesMasterIdLst>
  <p:handoutMasterIdLst>
    <p:handoutMasterId r:id="rId21"/>
  </p:handoutMasterIdLst>
  <p:sldIdLst>
    <p:sldId id="410" r:id="rId5"/>
    <p:sldId id="383" r:id="rId6"/>
    <p:sldId id="389" r:id="rId7"/>
    <p:sldId id="391" r:id="rId8"/>
    <p:sldId id="397" r:id="rId9"/>
    <p:sldId id="408" r:id="rId10"/>
    <p:sldId id="407" r:id="rId11"/>
    <p:sldId id="406" r:id="rId12"/>
    <p:sldId id="405" r:id="rId13"/>
    <p:sldId id="404" r:id="rId14"/>
    <p:sldId id="411" r:id="rId15"/>
    <p:sldId id="412" r:id="rId16"/>
    <p:sldId id="413" r:id="rId17"/>
    <p:sldId id="403" r:id="rId18"/>
    <p:sldId id="39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9" autoAdjust="0"/>
    <p:restoredTop sz="96327" autoAdjust="0"/>
  </p:normalViewPr>
  <p:slideViewPr>
    <p:cSldViewPr snapToGrid="0">
      <p:cViewPr varScale="1">
        <p:scale>
          <a:sx n="84" d="100"/>
          <a:sy n="84" d="100"/>
        </p:scale>
        <p:origin x="108" y="69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3/16/2025</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3/16/2025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3576248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C04D-2568-C19F-6211-ABA7996CB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D96A4-D432-FA69-5E46-4DF91D77C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39921-CFBB-DE6F-31EB-81B758CA02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53E3F8-8185-F97B-2F08-1F44FCE2A5AB}"/>
              </a:ext>
            </a:extLst>
          </p:cNvPr>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3727777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2386183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501160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2994759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9</a:t>
            </a:fld>
            <a:endParaRPr lang="en-US" dirty="0"/>
          </a:p>
        </p:txBody>
      </p:sp>
    </p:spTree>
    <p:extLst>
      <p:ext uri="{BB962C8B-B14F-4D97-AF65-F5344CB8AC3E}">
        <p14:creationId xmlns:p14="http://schemas.microsoft.com/office/powerpoint/2010/main" val="40502331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10</a:t>
            </a:fld>
            <a:endParaRPr lang="en-US" dirty="0"/>
          </a:p>
        </p:txBody>
      </p:sp>
    </p:spTree>
    <p:extLst>
      <p:ext uri="{BB962C8B-B14F-4D97-AF65-F5344CB8AC3E}">
        <p14:creationId xmlns:p14="http://schemas.microsoft.com/office/powerpoint/2010/main" val="6345968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D31D3-FCBF-E2E1-5C60-56AA061E4E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887E38-DF13-D94C-4A85-9D07055505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F620E9-C429-9AF4-4907-6D92FCAB11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6DEA84-0D88-4B98-CE6A-FF8D0002E6DD}"/>
              </a:ext>
            </a:extLst>
          </p:cNvPr>
          <p:cNvSpPr>
            <a:spLocks noGrp="1"/>
          </p:cNvSpPr>
          <p:nvPr>
            <p:ph type="sldNum" sz="quarter" idx="5"/>
          </p:nvPr>
        </p:nvSpPr>
        <p:spPr/>
        <p:txBody>
          <a:bodyPr/>
          <a:lstStyle/>
          <a:p>
            <a:fld id="{A89C7E07-3C67-C64C-8DA0-0404F6303970}" type="slidenum">
              <a:rPr lang="en-US" smtClean="0"/>
              <a:t>11</a:t>
            </a:fld>
            <a:endParaRPr lang="en-US" dirty="0"/>
          </a:p>
        </p:txBody>
      </p:sp>
    </p:spTree>
    <p:extLst>
      <p:ext uri="{BB962C8B-B14F-4D97-AF65-F5344CB8AC3E}">
        <p14:creationId xmlns:p14="http://schemas.microsoft.com/office/powerpoint/2010/main" val="28383602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F4630-83E2-50DB-294B-5E3B3E4A4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9F4DB1-4030-EC59-493C-3F85B6A21D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06F007-9506-44BF-4BCE-252B2087FA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FB80B4-26E5-9118-E9BB-AC6E6F5DC0A7}"/>
              </a:ext>
            </a:extLst>
          </p:cNvPr>
          <p:cNvSpPr>
            <a:spLocks noGrp="1"/>
          </p:cNvSpPr>
          <p:nvPr>
            <p:ph type="sldNum" sz="quarter" idx="5"/>
          </p:nvPr>
        </p:nvSpPr>
        <p:spPr/>
        <p:txBody>
          <a:bodyPr/>
          <a:lstStyle/>
          <a:p>
            <a:fld id="{A89C7E07-3C67-C64C-8DA0-0404F6303970}" type="slidenum">
              <a:rPr lang="en-US" smtClean="0"/>
              <a:t>12</a:t>
            </a:fld>
            <a:endParaRPr lang="en-US" dirty="0"/>
          </a:p>
        </p:txBody>
      </p:sp>
    </p:spTree>
    <p:extLst>
      <p:ext uri="{BB962C8B-B14F-4D97-AF65-F5344CB8AC3E}">
        <p14:creationId xmlns:p14="http://schemas.microsoft.com/office/powerpoint/2010/main" val="5769580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DC843-0BF0-7B97-37FC-A8F3CF90AE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B25B27-E63D-4ACC-583A-8C16CD23B6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713B8C-531B-2036-EF0E-468ABBA218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19E39A-B1D3-3E16-6A74-76E3B72A1CCD}"/>
              </a:ext>
            </a:extLst>
          </p:cNvPr>
          <p:cNvSpPr>
            <a:spLocks noGrp="1"/>
          </p:cNvSpPr>
          <p:nvPr>
            <p:ph type="sldNum" sz="quarter" idx="5"/>
          </p:nvPr>
        </p:nvSpPr>
        <p:spPr/>
        <p:txBody>
          <a:bodyPr/>
          <a:lstStyle/>
          <a:p>
            <a:fld id="{A89C7E07-3C67-C64C-8DA0-0404F6303970}" type="slidenum">
              <a:rPr lang="en-US" smtClean="0"/>
              <a:t>13</a:t>
            </a:fld>
            <a:endParaRPr lang="en-US" dirty="0"/>
          </a:p>
        </p:txBody>
      </p:sp>
    </p:spTree>
    <p:extLst>
      <p:ext uri="{BB962C8B-B14F-4D97-AF65-F5344CB8AC3E}">
        <p14:creationId xmlns:p14="http://schemas.microsoft.com/office/powerpoint/2010/main" val="22241535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14</a:t>
            </a:fld>
            <a:endParaRPr lang="en-US" dirty="0"/>
          </a:p>
        </p:txBody>
      </p:sp>
    </p:spTree>
    <p:extLst>
      <p:ext uri="{BB962C8B-B14F-4D97-AF65-F5344CB8AC3E}">
        <p14:creationId xmlns:p14="http://schemas.microsoft.com/office/powerpoint/2010/main" val="5144881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15</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0.gif"/></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3017520" y="411479"/>
            <a:ext cx="8778784" cy="3291840"/>
          </a:xfrm>
        </p:spPr>
        <p:txBody>
          <a:bodyPr/>
          <a:lstStyle/>
          <a:p>
            <a:r>
              <a:rPr lang="en-US" dirty="0"/>
              <a:t>Strategies for Customer Acquisition and Retention</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75310" y="278129"/>
            <a:ext cx="5063490" cy="2354026"/>
          </a:xfrm>
        </p:spPr>
        <p:txBody>
          <a:bodyPr anchor="b">
            <a:normAutofit/>
          </a:bodyPr>
          <a:lstStyle/>
          <a:p>
            <a:r>
              <a:rPr lang="en-US" dirty="0"/>
              <a:t>Agenda</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6"/>
          </p:nvPr>
        </p:nvSpPr>
        <p:spPr>
          <a:xfrm>
            <a:off x="594360" y="3279579"/>
            <a:ext cx="5044440" cy="2994415"/>
          </a:xfrm>
        </p:spPr>
        <p:txBody>
          <a:bodyPr tIns="457200">
            <a:normAutofit/>
          </a:bodyPr>
          <a:lstStyle/>
          <a:p>
            <a:r>
              <a:rPr lang="en-US">
                <a:effectLst/>
              </a:rPr>
              <a:t>For the U.S. Army, "customer acquisition" translates to recruiting qualified individuals to join its ranks. </a:t>
            </a:r>
            <a:endParaRPr lang="en-US" dirty="0"/>
          </a:p>
        </p:txBody>
      </p:sp>
      <p:pic>
        <p:nvPicPr>
          <p:cNvPr id="1026" name="Picture 2" descr="Army to create new specialty, put three-star general in charge of recruiting  to help boost enlistment efforts | Stars and Stripes">
            <a:extLst>
              <a:ext uri="{FF2B5EF4-FFF2-40B4-BE49-F238E27FC236}">
                <a16:creationId xmlns:a16="http://schemas.microsoft.com/office/drawing/2014/main" id="{37957DE6-3BA8-B698-B092-88E3C3E9E4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929" r="29313"/>
          <a:stretch/>
        </p:blipFill>
        <p:spPr bwMode="auto">
          <a:xfrm>
            <a:off x="6096000" y="10"/>
            <a:ext cx="6118225" cy="6857990"/>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Outreach and Community Relations | The United States Army">
            <a:extLst>
              <a:ext uri="{FF2B5EF4-FFF2-40B4-BE49-F238E27FC236}">
                <a16:creationId xmlns:a16="http://schemas.microsoft.com/office/drawing/2014/main" id="{CB672D2F-242B-3786-512F-A4088B16C9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710" r="35528" b="-1"/>
          <a:stretch/>
        </p:blipFill>
        <p:spPr bwMode="auto">
          <a:xfrm>
            <a:off x="20" y="-11113"/>
            <a:ext cx="5791180" cy="6880226"/>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0E02AE9C-BA1D-195E-3B93-A5A0CC03D8F3}"/>
              </a:ext>
            </a:extLst>
          </p:cNvPr>
          <p:cNvSpPr>
            <a:spLocks noGrp="1"/>
          </p:cNvSpPr>
          <p:nvPr>
            <p:ph type="body" sz="quarter" idx="11"/>
          </p:nvPr>
        </p:nvSpPr>
        <p:spPr>
          <a:xfrm>
            <a:off x="6236773" y="974064"/>
            <a:ext cx="5486400" cy="1645920"/>
          </a:xfrm>
        </p:spPr>
        <p:txBody>
          <a:bodyPr>
            <a:normAutofit fontScale="92500" lnSpcReduction="10000"/>
          </a:bodyPr>
          <a:lstStyle/>
          <a:p>
            <a:r>
              <a:rPr lang="en-US" sz="2100" dirty="0">
                <a:solidFill>
                  <a:schemeClr val="tx2">
                    <a:lumMod val="50000"/>
                  </a:schemeClr>
                </a:solidFill>
                <a:effectLst/>
                <a:latin typeface="+mj-lt"/>
              </a:rPr>
              <a:t>Creating awareness begins with strategic outreach. This involves leveraging diverse channels: targeted digital campaigns on social media, partnerships with educational institutions, and community engagement initiatives </a:t>
            </a:r>
            <a:r>
              <a:rPr lang="en-US" sz="2100" i="0" dirty="0">
                <a:solidFill>
                  <a:schemeClr val="tx2">
                    <a:lumMod val="50000"/>
                  </a:schemeClr>
                </a:solidFill>
                <a:effectLst/>
                <a:latin typeface="+mj-lt"/>
              </a:rPr>
              <a:t>(</a:t>
            </a:r>
            <a:r>
              <a:rPr lang="en-US" sz="2100" i="1" dirty="0">
                <a:solidFill>
                  <a:schemeClr val="tx2">
                    <a:lumMod val="50000"/>
                  </a:schemeClr>
                </a:solidFill>
                <a:effectLst/>
                <a:latin typeface="+mj-lt"/>
              </a:rPr>
              <a:t>Outreach and Community Relations | the United States Army</a:t>
            </a:r>
            <a:r>
              <a:rPr lang="en-US" sz="2100" i="0" dirty="0">
                <a:solidFill>
                  <a:schemeClr val="tx2">
                    <a:lumMod val="50000"/>
                  </a:schemeClr>
                </a:solidFill>
                <a:effectLst/>
                <a:latin typeface="+mj-lt"/>
              </a:rPr>
              <a:t>, n.d.).</a:t>
            </a:r>
            <a:br>
              <a:rPr lang="en-US" sz="1600" dirty="0"/>
            </a:br>
            <a:r>
              <a:rPr lang="en-US" sz="2000" dirty="0">
                <a:effectLst/>
              </a:rPr>
              <a:t> .  </a:t>
            </a:r>
            <a:endParaRPr lang="en-US" sz="2000" dirty="0"/>
          </a:p>
        </p:txBody>
      </p:sp>
    </p:spTree>
    <p:extLst>
      <p:ext uri="{BB962C8B-B14F-4D97-AF65-F5344CB8AC3E}">
        <p14:creationId xmlns:p14="http://schemas.microsoft.com/office/powerpoint/2010/main" val="1440871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70BD87D-F7DA-961B-4024-A354DC87D168}"/>
              </a:ext>
            </a:extLst>
          </p:cNvPr>
          <p:cNvSpPr>
            <a:spLocks noGrp="1"/>
          </p:cNvSpPr>
          <p:nvPr>
            <p:ph type="title"/>
          </p:nvPr>
        </p:nvSpPr>
        <p:spPr>
          <a:xfrm>
            <a:off x="575310" y="278129"/>
            <a:ext cx="6487642" cy="2648330"/>
          </a:xfrm>
        </p:spPr>
        <p:txBody>
          <a:bodyPr anchor="b">
            <a:normAutofit/>
          </a:bodyPr>
          <a:lstStyle/>
          <a:p>
            <a:pPr marL="0" indent="0">
              <a:buNone/>
            </a:pPr>
            <a:r>
              <a:rPr lang="en-US" sz="3100" dirty="0">
                <a:effectLst/>
              </a:rPr>
              <a:t>A Business Analyst would emphasize data-driven approaches, analyzing demographic trends and regional data to identify potential recruits. </a:t>
            </a:r>
            <a:endParaRPr lang="en-US" sz="3100" dirty="0"/>
          </a:p>
          <a:p>
            <a:endParaRPr lang="en-US" sz="3100" dirty="0"/>
          </a:p>
        </p:txBody>
      </p:sp>
      <p:pic>
        <p:nvPicPr>
          <p:cNvPr id="3074" name="Picture 2" descr="The Advantages of Data-Driven Decision-Making | HBS Online">
            <a:extLst>
              <a:ext uri="{FF2B5EF4-FFF2-40B4-BE49-F238E27FC236}">
                <a16:creationId xmlns:a16="http://schemas.microsoft.com/office/drawing/2014/main" id="{6D6F44C0-7149-0D60-AA50-AF128CB6764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94359" y="3127063"/>
            <a:ext cx="6238731" cy="2973889"/>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a:off x="6921062" y="369890"/>
            <a:ext cx="5293164" cy="6118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Tree>
    <p:extLst>
      <p:ext uri="{BB962C8B-B14F-4D97-AF65-F5344CB8AC3E}">
        <p14:creationId xmlns:p14="http://schemas.microsoft.com/office/powerpoint/2010/main" val="3200312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33A5-8BE3-D44D-57F3-2EF16137684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91442CD-A26D-1761-8CE7-8BC3075BB4ED}"/>
              </a:ext>
            </a:extLst>
          </p:cNvPr>
          <p:cNvSpPr>
            <a:spLocks noGrp="1"/>
          </p:cNvSpPr>
          <p:nvPr>
            <p:ph type="title"/>
          </p:nvPr>
        </p:nvSpPr>
        <p:spPr>
          <a:xfrm>
            <a:off x="6318885" y="3499667"/>
            <a:ext cx="4939666" cy="2542810"/>
          </a:xfrm>
        </p:spPr>
        <p:txBody>
          <a:bodyPr anchor="b">
            <a:normAutofit/>
          </a:bodyPr>
          <a:lstStyle/>
          <a:p>
            <a:r>
              <a:rPr lang="en-US" sz="1800" dirty="0">
                <a:effectLst/>
              </a:rPr>
              <a:t>CRM systems play a crucial role in managing these interactions, tracking leads, and segmenting audiences for personalized messaging. For example, a CRM could record interactions from online inquiries, career fairs, and recruiter contacts, allowing for tailored follow-ups based on individual interests and qualifications. (https://ascendix.com/blog/who-uses-crm/).</a:t>
            </a:r>
            <a:endParaRPr lang="en-US" sz="1800" dirty="0"/>
          </a:p>
        </p:txBody>
      </p:sp>
      <p:pic>
        <p:nvPicPr>
          <p:cNvPr id="4100" name="Picture 4" descr="Who Uses CRM? Industries that Benefit from CRM the Most">
            <a:extLst>
              <a:ext uri="{FF2B5EF4-FFF2-40B4-BE49-F238E27FC236}">
                <a16:creationId xmlns:a16="http://schemas.microsoft.com/office/drawing/2014/main" id="{D66111B7-63DD-67D5-DA49-F377CE9BC9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9986" r="3" b="23707"/>
          <a:stretch/>
        </p:blipFill>
        <p:spPr bwMode="auto">
          <a:xfrm>
            <a:off x="594359" y="331077"/>
            <a:ext cx="5198269" cy="2479518"/>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pic>
        <p:nvPicPr>
          <p:cNvPr id="4098" name="Picture 2" descr="Personalizing Marketing Campaigns with CRM Data">
            <a:extLst>
              <a:ext uri="{FF2B5EF4-FFF2-40B4-BE49-F238E27FC236}">
                <a16:creationId xmlns:a16="http://schemas.microsoft.com/office/drawing/2014/main" id="{52ABAE86-2782-E5FE-2FDE-479496E1CC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3" b="10061"/>
          <a:stretch/>
        </p:blipFill>
        <p:spPr bwMode="auto">
          <a:xfrm>
            <a:off x="594360" y="2810595"/>
            <a:ext cx="5198269" cy="3319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9059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097449-5B72-ADA0-3B2D-1CBC160D6B90}"/>
              </a:ext>
            </a:extLst>
          </p:cNvPr>
          <p:cNvSpPr>
            <a:spLocks noGrp="1"/>
          </p:cNvSpPr>
          <p:nvPr>
            <p:ph sz="quarter" idx="14"/>
          </p:nvPr>
        </p:nvSpPr>
        <p:spPr>
          <a:xfrm>
            <a:off x="603885" y="584005"/>
            <a:ext cx="2825115" cy="3999060"/>
          </a:xfrm>
        </p:spPr>
        <p:txBody>
          <a:bodyPr>
            <a:normAutofit/>
          </a:bodyPr>
          <a:lstStyle/>
          <a:p>
            <a:r>
              <a:rPr lang="en-US">
                <a:effectLst/>
              </a:rPr>
              <a:t>This ensures that the Army's message resonates with the right audience, fostering a positive initial impression and driving potential recruits towards the next stage (Baldor, 2024). </a:t>
            </a:r>
            <a:endParaRPr lang="en-US" dirty="0"/>
          </a:p>
        </p:txBody>
      </p:sp>
      <p:pic>
        <p:nvPicPr>
          <p:cNvPr id="5129" name="Picture 9" descr="Lawmakers press Pentagon for answers as military recruiting crisis deepens  - POLITICO">
            <a:extLst>
              <a:ext uri="{FF2B5EF4-FFF2-40B4-BE49-F238E27FC236}">
                <a16:creationId xmlns:a16="http://schemas.microsoft.com/office/drawing/2014/main" id="{105444D0-C64F-BD31-3F29-C48FC5F723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5615" r="1" b="8805"/>
          <a:stretch/>
        </p:blipFill>
        <p:spPr bwMode="auto">
          <a:xfrm>
            <a:off x="3670934" y="584005"/>
            <a:ext cx="7926705" cy="3999060"/>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9" name="AutoShape 2" descr="Military recruiting rebounds after several tough years, but challenges  remain | AP News">
            <a:extLst>
              <a:ext uri="{FF2B5EF4-FFF2-40B4-BE49-F238E27FC236}">
                <a16:creationId xmlns:a16="http://schemas.microsoft.com/office/drawing/2014/main" id="{FF7327B2-8674-5315-4246-C864FD6B342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88484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599B60-BF79-A832-6AD4-6C6FC6CE4317}"/>
              </a:ext>
            </a:extLst>
          </p:cNvPr>
          <p:cNvSpPr>
            <a:spLocks noGrp="1"/>
          </p:cNvSpPr>
          <p:nvPr>
            <p:ph type="title"/>
          </p:nvPr>
        </p:nvSpPr>
        <p:spPr>
          <a:xfrm>
            <a:off x="575310" y="278129"/>
            <a:ext cx="5063490" cy="2354026"/>
          </a:xfrm>
        </p:spPr>
        <p:txBody>
          <a:bodyPr anchor="b">
            <a:normAutofit fontScale="90000"/>
          </a:bodyPr>
          <a:lstStyle/>
          <a:p>
            <a:pPr algn="just"/>
            <a:r>
              <a:rPr lang="en-US" sz="1600" dirty="0">
                <a:effectLst/>
                <a:latin typeface="+mn-lt"/>
              </a:rPr>
              <a:t>Customer conversion, in the Army's context, is the process of guiding recruits through the enlistment process. This includes rigorous physical and aptitude testing, background checks, and detailed interviews. A CRM system is essential for managing this complex workflow, ensuring timely communication and tracking each recruit's progress. Business Analysts would use CRM data to identify bottlenecks in the process, such as delays in processing paperwork or scheduling appointments, and recommend process improvements to streamline enlistment </a:t>
            </a:r>
            <a:r>
              <a:rPr lang="en-US" sz="1600" i="0" dirty="0">
                <a:solidFill>
                  <a:srgbClr val="05103E"/>
                </a:solidFill>
                <a:effectLst/>
                <a:latin typeface="+mn-lt"/>
              </a:rPr>
              <a:t>(</a:t>
            </a:r>
            <a:r>
              <a:rPr lang="en-US" sz="1600" i="1" dirty="0">
                <a:solidFill>
                  <a:srgbClr val="05103E"/>
                </a:solidFill>
                <a:effectLst/>
                <a:latin typeface="+mn-lt"/>
              </a:rPr>
              <a:t>A Midlevel Manager’s Guide to the GCSS-Army Conversion</a:t>
            </a:r>
            <a:r>
              <a:rPr lang="en-US" sz="1600" i="0" dirty="0">
                <a:solidFill>
                  <a:srgbClr val="05103E"/>
                </a:solidFill>
                <a:effectLst/>
                <a:latin typeface="+mn-lt"/>
              </a:rPr>
              <a:t>, 2018).</a:t>
            </a:r>
            <a:br>
              <a:rPr lang="en-US" sz="1600" i="0" dirty="0">
                <a:solidFill>
                  <a:srgbClr val="05103E"/>
                </a:solidFill>
                <a:effectLst/>
                <a:latin typeface="+mn-lt"/>
              </a:rPr>
            </a:br>
            <a:br>
              <a:rPr lang="en-US" sz="800" dirty="0"/>
            </a:br>
            <a:r>
              <a:rPr lang="en-US" sz="1400" dirty="0">
                <a:effectLst/>
              </a:rPr>
              <a:t>.</a:t>
            </a:r>
            <a:endParaRPr lang="en-US" sz="1400" dirty="0"/>
          </a:p>
        </p:txBody>
      </p:sp>
      <p:pic>
        <p:nvPicPr>
          <p:cNvPr id="6148" name="Picture 4" descr="11 Things new soldiers complain about during basic training">
            <a:extLst>
              <a:ext uri="{FF2B5EF4-FFF2-40B4-BE49-F238E27FC236}">
                <a16:creationId xmlns:a16="http://schemas.microsoft.com/office/drawing/2014/main" id="{1C0A244B-4642-303C-5E48-0A87BAED60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 b="10398"/>
          <a:stretch/>
        </p:blipFill>
        <p:spPr bwMode="auto">
          <a:xfrm>
            <a:off x="594360" y="3279579"/>
            <a:ext cx="5044440" cy="2994415"/>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pic>
        <p:nvPicPr>
          <p:cNvPr id="6146" name="Picture 2" descr="Army mulls tougher basic training for out-of-shape, undisciplined recruits  | Fox News">
            <a:extLst>
              <a:ext uri="{FF2B5EF4-FFF2-40B4-BE49-F238E27FC236}">
                <a16:creationId xmlns:a16="http://schemas.microsoft.com/office/drawing/2014/main" id="{805BC4FB-A7A8-617A-AB65-E3F1836687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8276" r="41542"/>
          <a:stretch/>
        </p:blipFill>
        <p:spPr bwMode="auto">
          <a:xfrm>
            <a:off x="6096000" y="10"/>
            <a:ext cx="6118225"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8225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F2E863-4A4C-76FE-444A-083F93043389}"/>
              </a:ext>
            </a:extLst>
          </p:cNvPr>
          <p:cNvSpPr>
            <a:spLocks noGrp="1"/>
          </p:cNvSpPr>
          <p:nvPr>
            <p:ph type="title"/>
          </p:nvPr>
        </p:nvSpPr>
        <p:spPr>
          <a:xfrm>
            <a:off x="575310" y="278129"/>
            <a:ext cx="5063490" cy="2354026"/>
          </a:xfrm>
        </p:spPr>
        <p:txBody>
          <a:bodyPr anchor="b">
            <a:normAutofit/>
          </a:bodyPr>
          <a:lstStyle/>
          <a:p>
            <a:pPr marL="0" marR="0"/>
            <a:r>
              <a:rPr lang="en-US" sz="1800">
                <a:effectLst/>
              </a:rPr>
              <a:t>Reporting functionalities within the CRM would provide insights into conversion rates at each stage, highlighting areas where additional resources or support may be needed. For instance, a report could reveal that a significant number of recruits drop out during the medical screening phase, prompting the Army to review and potentially simplify the process (Ingram, 2024).</a:t>
            </a:r>
          </a:p>
          <a:p>
            <a:endParaRPr lang="en-US" sz="1800"/>
          </a:p>
        </p:txBody>
      </p:sp>
      <p:pic>
        <p:nvPicPr>
          <p:cNvPr id="7172" name="Picture 4" descr="New Army recruit starts with a $50K bonus check">
            <a:extLst>
              <a:ext uri="{FF2B5EF4-FFF2-40B4-BE49-F238E27FC236}">
                <a16:creationId xmlns:a16="http://schemas.microsoft.com/office/drawing/2014/main" id="{AE83C0CF-7F21-9EB0-5748-CCF55E9A06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658" r="2586" b="4"/>
          <a:stretch/>
        </p:blipFill>
        <p:spPr bwMode="auto">
          <a:xfrm>
            <a:off x="594360" y="3279579"/>
            <a:ext cx="5044440" cy="2994415"/>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pic>
        <p:nvPicPr>
          <p:cNvPr id="7170" name="Picture 2" descr="Have Improved Resources Increased Military Recruiting and Retention? | RAND">
            <a:extLst>
              <a:ext uri="{FF2B5EF4-FFF2-40B4-BE49-F238E27FC236}">
                <a16:creationId xmlns:a16="http://schemas.microsoft.com/office/drawing/2014/main" id="{2D78BE0B-B9D4-702F-7E37-1E48BA8EF4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32" r="4217" b="-1"/>
          <a:stretch/>
        </p:blipFill>
        <p:spPr bwMode="auto">
          <a:xfrm>
            <a:off x="6096000" y="10"/>
            <a:ext cx="6118225"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364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Michigan National Guard &gt; Resources &gt; Retention">
            <a:extLst>
              <a:ext uri="{FF2B5EF4-FFF2-40B4-BE49-F238E27FC236}">
                <a16:creationId xmlns:a16="http://schemas.microsoft.com/office/drawing/2014/main" id="{C12ADFAD-74AD-54F8-EDFC-03BED24C1E0F}"/>
              </a:ext>
            </a:extLst>
          </p:cNvPr>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l="11979" r="26567" b="-1"/>
          <a:stretch/>
        </p:blipFill>
        <p:spPr bwMode="auto">
          <a:xfrm>
            <a:off x="603885" y="457201"/>
            <a:ext cx="5198269" cy="2305050"/>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4" name="Content Placeholder 3">
            <a:extLst>
              <a:ext uri="{FF2B5EF4-FFF2-40B4-BE49-F238E27FC236}">
                <a16:creationId xmlns:a16="http://schemas.microsoft.com/office/drawing/2014/main" id="{CDB14AAA-1F04-769D-E7F0-4F68C8EB9283}"/>
              </a:ext>
            </a:extLst>
          </p:cNvPr>
          <p:cNvSpPr>
            <a:spLocks noGrp="1"/>
          </p:cNvSpPr>
          <p:nvPr>
            <p:ph sz="quarter" idx="15"/>
          </p:nvPr>
        </p:nvSpPr>
        <p:spPr>
          <a:xfrm>
            <a:off x="594360" y="2810595"/>
            <a:ext cx="5198269" cy="3319513"/>
          </a:xfrm>
        </p:spPr>
        <p:txBody>
          <a:bodyPr>
            <a:normAutofit/>
          </a:bodyPr>
          <a:lstStyle/>
          <a:p>
            <a:pPr algn="just"/>
            <a:r>
              <a:rPr lang="en-US" dirty="0">
                <a:effectLst/>
              </a:rPr>
              <a:t>Customer retention, or soldier retention, is vital for maintaining a strong and experienced force. CRM systems can be used to track soldier performance, training completion, and career progression. Business Analysts would analyze this data to identify factors that contribute to soldier satisfaction and retention. Regular surveys and feedback mechanisms can be integrated into the CRM to gather insights into soldier morale and identify potential issues (U.S. Army Central, n.d.). </a:t>
            </a:r>
            <a:endParaRPr lang="en-US" dirty="0"/>
          </a:p>
        </p:txBody>
      </p:sp>
      <p:pic>
        <p:nvPicPr>
          <p:cNvPr id="8196" name="Picture 4" descr="Sergeant Major Pablo A. Michel, USARCENT Command Career Counselor, Master Sgt. Gloe, Senior Retention Operations Career Counselor, and Sgt. 1st Class Albelardo Gonzalez, USARCENT career counselor, retain the force for U.S. Army Central.">
            <a:extLst>
              <a:ext uri="{FF2B5EF4-FFF2-40B4-BE49-F238E27FC236}">
                <a16:creationId xmlns:a16="http://schemas.microsoft.com/office/drawing/2014/main" id="{C8100EB7-5724-B08B-DB2E-8B2B3FF9BD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0736" y="457201"/>
            <a:ext cx="6257924" cy="55092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7695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Retention Becomes Key to Army Growth | AUSA">
            <a:extLst>
              <a:ext uri="{FF2B5EF4-FFF2-40B4-BE49-F238E27FC236}">
                <a16:creationId xmlns:a16="http://schemas.microsoft.com/office/drawing/2014/main" id="{0861E6B1-4F99-112F-1637-E14664C44636}"/>
              </a:ext>
            </a:extLst>
          </p:cNvPr>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r="3" b="12195"/>
          <a:stretch/>
        </p:blipFill>
        <p:spPr bwMode="auto">
          <a:xfrm>
            <a:off x="603885" y="457201"/>
            <a:ext cx="5198269" cy="230505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4096FB3A-B62C-3DAB-4FD1-B4EBDD650AEF}"/>
              </a:ext>
            </a:extLst>
          </p:cNvPr>
          <p:cNvSpPr>
            <a:spLocks noGrp="1"/>
          </p:cNvSpPr>
          <p:nvPr>
            <p:ph sz="quarter" idx="15"/>
          </p:nvPr>
        </p:nvSpPr>
        <p:spPr>
          <a:xfrm>
            <a:off x="594360" y="2810595"/>
            <a:ext cx="5198269" cy="3319513"/>
          </a:xfrm>
        </p:spPr>
        <p:txBody>
          <a:bodyPr>
            <a:normAutofit/>
          </a:bodyPr>
          <a:lstStyle/>
          <a:p>
            <a:pPr marL="0" marR="0" algn="just"/>
            <a:r>
              <a:rPr lang="en-US" sz="1700" dirty="0">
                <a:effectLst/>
              </a:rPr>
              <a:t>For instance, the CRM could track feedback related to housing, benefits, and career development opportunities. Reporting dashboards can provide real-time insights into retention rates across different units and specialties, allowing commanders to proactively address concerns and implement targeted retention strategies. By understanding the factors that influence soldier retention, the Army can implement programs and policies that foster a positive and supportive environment, reducing churn and ensuring a stable and experienced workforce. </a:t>
            </a:r>
            <a:r>
              <a:rPr lang="en-US" sz="1700" b="0" i="0" dirty="0">
                <a:effectLst/>
              </a:rPr>
              <a:t>(</a:t>
            </a:r>
            <a:r>
              <a:rPr lang="en-US" sz="1700" b="0" i="1" dirty="0">
                <a:effectLst/>
              </a:rPr>
              <a:t>MDW Recognizes Excellence in Army Retention</a:t>
            </a:r>
            <a:r>
              <a:rPr lang="en-US" sz="1700" b="0" i="0" dirty="0">
                <a:effectLst/>
              </a:rPr>
              <a:t>, 2024)</a:t>
            </a:r>
            <a:br>
              <a:rPr lang="en-US" sz="1700" dirty="0"/>
            </a:br>
            <a:endParaRPr lang="en-US" sz="1700" dirty="0">
              <a:effectLst/>
            </a:endParaRPr>
          </a:p>
          <a:p>
            <a:pPr lvl="1"/>
            <a:endParaRPr lang="en-US" sz="1700" dirty="0"/>
          </a:p>
        </p:txBody>
      </p:sp>
    </p:spTree>
    <p:extLst>
      <p:ext uri="{BB962C8B-B14F-4D97-AF65-F5344CB8AC3E}">
        <p14:creationId xmlns:p14="http://schemas.microsoft.com/office/powerpoint/2010/main" val="1850768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CD79B-195C-D687-806B-799DCD51F8E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279BAE-A510-3E6B-202A-4271F59698FA}"/>
              </a:ext>
            </a:extLst>
          </p:cNvPr>
          <p:cNvSpPr>
            <a:spLocks noGrp="1"/>
          </p:cNvSpPr>
          <p:nvPr>
            <p:ph type="title"/>
          </p:nvPr>
        </p:nvSpPr>
        <p:spPr>
          <a:xfrm>
            <a:off x="6318885" y="3499667"/>
            <a:ext cx="4939666" cy="2542810"/>
          </a:xfrm>
        </p:spPr>
        <p:txBody>
          <a:bodyPr anchor="b">
            <a:noAutofit/>
          </a:bodyPr>
          <a:lstStyle/>
          <a:p>
            <a:pPr marL="0" marR="0" algn="just"/>
            <a:r>
              <a:rPr lang="en-US" sz="1800" dirty="0">
                <a:effectLst/>
              </a:rPr>
              <a:t>Reducing customer churn, or soldier attrition, involves addressing the root causes of dissatisfaction and implementing proactive retention strategies. Business Analysts would delve into exit interview data and CRM records to identify patterns and trends that contribute to attrition. For example, analysis might reveal that a significant number of soldiers leave after their first term due to limited career advancement opportunities or family-related issues. </a:t>
            </a:r>
            <a:endParaRPr lang="en-US" sz="1800" dirty="0"/>
          </a:p>
        </p:txBody>
      </p:sp>
      <p:pic>
        <p:nvPicPr>
          <p:cNvPr id="10244" name="Picture 4" descr="The Sgt. Maj. of the Army wants leaders to stop scheduling training just  for the sake of it : r/army">
            <a:extLst>
              <a:ext uri="{FF2B5EF4-FFF2-40B4-BE49-F238E27FC236}">
                <a16:creationId xmlns:a16="http://schemas.microsoft.com/office/drawing/2014/main" id="{9B87DA89-7280-55EB-2D32-FDD8DB88BF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 b="21171"/>
          <a:stretch/>
        </p:blipFill>
        <p:spPr bwMode="auto">
          <a:xfrm>
            <a:off x="603885" y="457201"/>
            <a:ext cx="5198269" cy="2305050"/>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pic>
        <p:nvPicPr>
          <p:cNvPr id="10242" name="Picture 2" descr="Customer churn/attrition and reasons">
            <a:extLst>
              <a:ext uri="{FF2B5EF4-FFF2-40B4-BE49-F238E27FC236}">
                <a16:creationId xmlns:a16="http://schemas.microsoft.com/office/drawing/2014/main" id="{18D0E856-4776-8203-BA2F-AC32448FAF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5137" r="18487" b="-1"/>
          <a:stretch/>
        </p:blipFill>
        <p:spPr bwMode="auto">
          <a:xfrm>
            <a:off x="594360" y="2810595"/>
            <a:ext cx="5198269" cy="3319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028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C5544-D13B-9D58-309D-14F0ED496FE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E46456-AFDD-6371-CBF0-466DE4FA28C1}"/>
              </a:ext>
            </a:extLst>
          </p:cNvPr>
          <p:cNvSpPr>
            <a:spLocks noGrp="1"/>
          </p:cNvSpPr>
          <p:nvPr>
            <p:ph type="title"/>
          </p:nvPr>
        </p:nvSpPr>
        <p:spPr>
          <a:xfrm>
            <a:off x="575310" y="278129"/>
            <a:ext cx="5063490" cy="2354026"/>
          </a:xfrm>
        </p:spPr>
        <p:txBody>
          <a:bodyPr anchor="b">
            <a:normAutofit/>
          </a:bodyPr>
          <a:lstStyle/>
          <a:p>
            <a:pPr marL="0" marR="0" algn="just"/>
            <a:r>
              <a:rPr lang="en-US" sz="2400" dirty="0">
                <a:effectLst/>
              </a:rPr>
              <a:t>The Army can then develop targeted programs, such as mentorship initiatives or flexible deployment options, to address these concerns. CRM systems can be used to track the effectiveness of these programs and make adjustments as needed. </a:t>
            </a:r>
            <a:endParaRPr lang="en-US" sz="2400" dirty="0"/>
          </a:p>
        </p:txBody>
      </p:sp>
      <p:pic>
        <p:nvPicPr>
          <p:cNvPr id="11268" name="Picture 4" descr="TACPs provide vital link between pilots, ground troops &gt; Air Force &gt;  Article Display">
            <a:extLst>
              <a:ext uri="{FF2B5EF4-FFF2-40B4-BE49-F238E27FC236}">
                <a16:creationId xmlns:a16="http://schemas.microsoft.com/office/drawing/2014/main" id="{ABDE3ACC-FF75-93EB-B89E-4844180B7E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 b="10735"/>
          <a:stretch/>
        </p:blipFill>
        <p:spPr bwMode="auto">
          <a:xfrm>
            <a:off x="594360" y="3279579"/>
            <a:ext cx="5044440" cy="2994415"/>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pic>
        <p:nvPicPr>
          <p:cNvPr id="11266" name="Picture 2" descr="Preparing for Military Deployment - Plan My Deployment">
            <a:extLst>
              <a:ext uri="{FF2B5EF4-FFF2-40B4-BE49-F238E27FC236}">
                <a16:creationId xmlns:a16="http://schemas.microsoft.com/office/drawing/2014/main" id="{C74D8920-CC51-3385-3F83-52C849726F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0787"/>
          <a:stretch/>
        </p:blipFill>
        <p:spPr bwMode="auto">
          <a:xfrm>
            <a:off x="6096000" y="10"/>
            <a:ext cx="6118225"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4065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AD563-32A3-AC35-25A8-5444310D0B2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CE5856-DDE7-4259-7AC3-AB5B81493DFC}"/>
              </a:ext>
            </a:extLst>
          </p:cNvPr>
          <p:cNvSpPr>
            <a:spLocks noGrp="1"/>
          </p:cNvSpPr>
          <p:nvPr>
            <p:ph type="title"/>
          </p:nvPr>
        </p:nvSpPr>
        <p:spPr>
          <a:xfrm>
            <a:off x="594360" y="278129"/>
            <a:ext cx="9778365" cy="1494596"/>
          </a:xfrm>
        </p:spPr>
        <p:txBody>
          <a:bodyPr anchor="b">
            <a:normAutofit/>
          </a:bodyPr>
          <a:lstStyle/>
          <a:p>
            <a:pPr marL="0" marR="0"/>
            <a:r>
              <a:rPr lang="en-US" sz="2400">
                <a:effectLst/>
              </a:rPr>
              <a:t>By continuously monitoring and analyzing retention data, the Army can refine its strategies and create a culture of support that fosters long-term commitment. This data driven approach will help the Army to keep its best soldiers, and to improve the overall quality of the force.</a:t>
            </a:r>
          </a:p>
        </p:txBody>
      </p:sp>
      <p:pic>
        <p:nvPicPr>
          <p:cNvPr id="12292" name="Picture 4" descr="As war wanes, how will US military retain its best warriors? - CSMonitor.com">
            <a:extLst>
              <a:ext uri="{FF2B5EF4-FFF2-40B4-BE49-F238E27FC236}">
                <a16:creationId xmlns:a16="http://schemas.microsoft.com/office/drawing/2014/main" id="{F8C1D19C-0143-7E3B-959B-ED02B624FED8}"/>
              </a:ext>
            </a:extLst>
          </p:cNvPr>
          <p:cNvPicPr>
            <a:picLocks noGrp="1" noChangeAspect="1" noChangeArrowheads="1"/>
          </p:cNvPicPr>
          <p:nvPr>
            <p:ph sz="quarter" idx="15"/>
          </p:nvPr>
        </p:nvPicPr>
        <p:blipFill>
          <a:blip r:embed="rId3">
            <a:extLst>
              <a:ext uri="{28A0092B-C50C-407E-A947-70E740481C1C}">
                <a14:useLocalDpi xmlns:a14="http://schemas.microsoft.com/office/drawing/2010/main" val="0"/>
              </a:ext>
            </a:extLst>
          </a:blip>
          <a:srcRect l="16674" r="2" b="2"/>
          <a:stretch/>
        </p:blipFill>
        <p:spPr bwMode="auto">
          <a:xfrm>
            <a:off x="594360" y="2676525"/>
            <a:ext cx="4490827" cy="3597470"/>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pic>
        <p:nvPicPr>
          <p:cNvPr id="12290" name="Picture 2" descr="Changes to Army's retention program slated to begin soon &gt; Joint Base San  Antonio &gt; News">
            <a:extLst>
              <a:ext uri="{FF2B5EF4-FFF2-40B4-BE49-F238E27FC236}">
                <a16:creationId xmlns:a16="http://schemas.microsoft.com/office/drawing/2014/main" id="{CF3B6A11-CAA8-ABF1-31AC-E361ECD422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6674" r="2" b="2"/>
          <a:stretch/>
        </p:blipFill>
        <p:spPr bwMode="auto">
          <a:xfrm>
            <a:off x="5881898" y="2676525"/>
            <a:ext cx="4490827" cy="35974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2474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dirty="0"/>
              <a:t>References</a:t>
            </a:r>
            <a:br>
              <a:rPr lang="en-US" dirty="0"/>
            </a:br>
            <a:endParaRPr lang="en-US" dirty="0"/>
          </a:p>
        </p:txBody>
      </p:sp>
      <p:sp>
        <p:nvSpPr>
          <p:cNvPr id="6" name="TextBox 5">
            <a:extLst>
              <a:ext uri="{FF2B5EF4-FFF2-40B4-BE49-F238E27FC236}">
                <a16:creationId xmlns:a16="http://schemas.microsoft.com/office/drawing/2014/main" id="{C9BCD523-11E5-C1A8-3C0F-80FAC662BB05}"/>
              </a:ext>
            </a:extLst>
          </p:cNvPr>
          <p:cNvSpPr txBox="1"/>
          <p:nvPr/>
        </p:nvSpPr>
        <p:spPr>
          <a:xfrm>
            <a:off x="327660" y="2331720"/>
            <a:ext cx="10972800" cy="3508653"/>
          </a:xfrm>
          <a:prstGeom prst="rect">
            <a:avLst/>
          </a:prstGeom>
          <a:noFill/>
        </p:spPr>
        <p:txBody>
          <a:bodyPr wrap="square" rtlCol="0">
            <a:spAutoFit/>
          </a:bodyPr>
          <a:lstStyle/>
          <a:p>
            <a:r>
              <a:rPr lang="en-US" sz="1200" b="0" i="1" dirty="0">
                <a:solidFill>
                  <a:srgbClr val="05103E"/>
                </a:solidFill>
                <a:effectLst/>
                <a:latin typeface="Times New Roman" panose="02020603050405020304" pitchFamily="18" charset="0"/>
              </a:rPr>
              <a:t>A midlevel manager’s guide to the GCSS-Army conversion</a:t>
            </a:r>
            <a:r>
              <a:rPr lang="en-US" sz="1200" b="0" i="0" dirty="0">
                <a:solidFill>
                  <a:srgbClr val="05103E"/>
                </a:solidFill>
                <a:effectLst/>
                <a:latin typeface="Times New Roman" panose="02020603050405020304" pitchFamily="18" charset="0"/>
              </a:rPr>
              <a:t>. (2018, March 8). www.army.mil. https://www.army.mil/article/201228/a_midlevel_managers_guide_to_the_gcss_army_conversion</a:t>
            </a:r>
          </a:p>
          <a:p>
            <a:endParaRPr lang="en-US" sz="1200" dirty="0">
              <a:solidFill>
                <a:srgbClr val="05103E"/>
              </a:solidFill>
              <a:latin typeface="Times New Roman" panose="02020603050405020304" pitchFamily="18" charset="0"/>
            </a:endParaRPr>
          </a:p>
          <a:p>
            <a:r>
              <a:rPr lang="en-US" sz="1200" b="0" i="0" dirty="0">
                <a:solidFill>
                  <a:srgbClr val="05103E"/>
                </a:solidFill>
                <a:effectLst/>
                <a:latin typeface="Times New Roman" panose="02020603050405020304" pitchFamily="18" charset="0"/>
              </a:rPr>
              <a:t>Baldor, L. (2024, September 26). </a:t>
            </a:r>
            <a:r>
              <a:rPr lang="en-US" sz="1200" b="0" i="1" dirty="0">
                <a:solidFill>
                  <a:srgbClr val="05103E"/>
                </a:solidFill>
                <a:effectLst/>
                <a:latin typeface="Times New Roman" panose="02020603050405020304" pitchFamily="18" charset="0"/>
              </a:rPr>
              <a:t>Military recruiting rebounds after several tough years, but challenges remain | AP News</a:t>
            </a:r>
            <a:r>
              <a:rPr lang="en-US" sz="1200" b="0" i="0" dirty="0">
                <a:solidFill>
                  <a:srgbClr val="05103E"/>
                </a:solidFill>
                <a:effectLst/>
                <a:latin typeface="Times New Roman" panose="02020603050405020304" pitchFamily="18" charset="0"/>
              </a:rPr>
              <a:t>. AP News. https://apnews.com/article/military-recruiting-army-shortfalls-enlist-1611ea378b32826cc4615dc3731f3f70</a:t>
            </a:r>
          </a:p>
          <a:p>
            <a:endParaRPr lang="en-US" sz="1200" dirty="0">
              <a:solidFill>
                <a:srgbClr val="05103E"/>
              </a:solidFill>
              <a:latin typeface="Times New Roman" panose="02020603050405020304" pitchFamily="18" charset="0"/>
            </a:endParaRPr>
          </a:p>
          <a:p>
            <a:r>
              <a:rPr lang="en-US" sz="1200" b="0" i="0" dirty="0">
                <a:solidFill>
                  <a:srgbClr val="05103E"/>
                </a:solidFill>
                <a:effectLst/>
                <a:latin typeface="Times New Roman" panose="02020603050405020304" pitchFamily="18" charset="0"/>
              </a:rPr>
              <a:t>Ingram, A. (2024, December 27). </a:t>
            </a:r>
            <a:r>
              <a:rPr lang="en-US" sz="1200" b="0" i="1" dirty="0">
                <a:solidFill>
                  <a:srgbClr val="05103E"/>
                </a:solidFill>
                <a:effectLst/>
                <a:latin typeface="Times New Roman" panose="02020603050405020304" pitchFamily="18" charset="0"/>
              </a:rPr>
              <a:t>Creating powerful CRM reports: Essential types and how to make them</a:t>
            </a:r>
            <a:r>
              <a:rPr lang="en-US" sz="1200" b="0" i="0" dirty="0">
                <a:solidFill>
                  <a:srgbClr val="05103E"/>
                </a:solidFill>
                <a:effectLst/>
                <a:latin typeface="Times New Roman" panose="02020603050405020304" pitchFamily="18" charset="0"/>
              </a:rPr>
              <a:t>. Bonsai. https://www.hellobonsai.com/blog/crm-report</a:t>
            </a:r>
          </a:p>
          <a:p>
            <a:endParaRPr lang="en-US" sz="1200" dirty="0">
              <a:solidFill>
                <a:srgbClr val="05103E"/>
              </a:solidFill>
              <a:latin typeface="Times New Roman" panose="02020603050405020304" pitchFamily="18" charset="0"/>
            </a:endParaRPr>
          </a:p>
          <a:p>
            <a:r>
              <a:rPr lang="en-US" sz="1200" b="0" i="1" dirty="0">
                <a:solidFill>
                  <a:srgbClr val="05103E"/>
                </a:solidFill>
                <a:effectLst/>
                <a:latin typeface="Times New Roman" panose="02020603050405020304" pitchFamily="18" charset="0"/>
              </a:rPr>
              <a:t>Outreach and Community Relations | The United States Army</a:t>
            </a:r>
            <a:r>
              <a:rPr lang="en-US" sz="1200" b="0" i="0" dirty="0">
                <a:solidFill>
                  <a:srgbClr val="05103E"/>
                </a:solidFill>
                <a:effectLst/>
                <a:latin typeface="Times New Roman" panose="02020603050405020304" pitchFamily="18" charset="0"/>
              </a:rPr>
              <a:t>. (n.d.). Outreach and Community Relations | the United States Army. https://www.army.mil/outreach/</a:t>
            </a:r>
          </a:p>
          <a:p>
            <a:endParaRPr lang="en-US" sz="1200" dirty="0">
              <a:solidFill>
                <a:srgbClr val="05103E"/>
              </a:solidFill>
              <a:latin typeface="Times New Roman" panose="02020603050405020304" pitchFamily="18" charset="0"/>
            </a:endParaRPr>
          </a:p>
          <a:p>
            <a:r>
              <a:rPr lang="en-US" sz="1200" b="0" i="0" dirty="0">
                <a:solidFill>
                  <a:srgbClr val="05103E"/>
                </a:solidFill>
                <a:effectLst/>
                <a:latin typeface="Times New Roman" panose="02020603050405020304" pitchFamily="18" charset="0"/>
              </a:rPr>
              <a:t>U.S. Army Central. (n.d.). </a:t>
            </a:r>
            <a:r>
              <a:rPr lang="en-US" sz="1200" b="0" i="1" dirty="0">
                <a:solidFill>
                  <a:srgbClr val="05103E"/>
                </a:solidFill>
                <a:effectLst/>
                <a:latin typeface="Times New Roman" panose="02020603050405020304" pitchFamily="18" charset="0"/>
              </a:rPr>
              <a:t>U.S. Army Central retention team “above glide.”</a:t>
            </a:r>
            <a:r>
              <a:rPr lang="en-US" sz="1200" b="0" i="0" dirty="0">
                <a:solidFill>
                  <a:srgbClr val="05103E"/>
                </a:solidFill>
                <a:effectLst/>
                <a:latin typeface="Times New Roman" panose="02020603050405020304" pitchFamily="18" charset="0"/>
              </a:rPr>
              <a:t> https://www.usarcent.army.mil/News/Article/3001182/us-army-central-retention-team-above-glide/</a:t>
            </a:r>
          </a:p>
          <a:p>
            <a:endParaRPr lang="en-US" dirty="0">
              <a:solidFill>
                <a:srgbClr val="05103E"/>
              </a:solidFill>
              <a:latin typeface="Times New Roman" panose="02020603050405020304" pitchFamily="18" charset="0"/>
            </a:endParaRPr>
          </a:p>
          <a:p>
            <a:endParaRPr lang="en-US" dirty="0">
              <a:solidFill>
                <a:srgbClr val="05103E"/>
              </a:solidFill>
              <a:latin typeface="Times New Roman" panose="02020603050405020304" pitchFamily="18" charset="0"/>
            </a:endParaRPr>
          </a:p>
          <a:p>
            <a:endParaRPr lang="en-US" dirty="0">
              <a:solidFill>
                <a:srgbClr val="05103E"/>
              </a:solidFill>
              <a:latin typeface="Times New Roman" panose="02020603050405020304" pitchFamily="18" charset="0"/>
            </a:endParaRPr>
          </a:p>
          <a:p>
            <a:endParaRPr lang="en-US" dirty="0">
              <a:solidFill>
                <a:srgbClr val="05103E"/>
              </a:solidFill>
              <a:latin typeface="Times New Roman" panose="02020603050405020304" pitchFamily="18" charset="0"/>
            </a:endParaRPr>
          </a:p>
          <a:p>
            <a:endParaRPr lang="en-US" dirty="0"/>
          </a:p>
        </p:txBody>
      </p:sp>
    </p:spTree>
    <p:extLst>
      <p:ext uri="{BB962C8B-B14F-4D97-AF65-F5344CB8AC3E}">
        <p14:creationId xmlns:p14="http://schemas.microsoft.com/office/powerpoint/2010/main" val="752428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a:xfrm>
            <a:off x="594360" y="411479"/>
            <a:ext cx="5486400" cy="3291840"/>
          </a:xfrm>
        </p:spPr>
        <p:txBody>
          <a:bodyPr/>
          <a:lstStyle/>
          <a:p>
            <a:r>
              <a:rPr lang="en-US" dirty="0"/>
              <a:t>Thank you for viewing my PowerPoint.</a:t>
            </a:r>
          </a:p>
        </p:txBody>
      </p:sp>
      <p:sp>
        <p:nvSpPr>
          <p:cNvPr id="3" name="Text Placeholder 2">
            <a:extLst>
              <a:ext uri="{FF2B5EF4-FFF2-40B4-BE49-F238E27FC236}">
                <a16:creationId xmlns:a16="http://schemas.microsoft.com/office/drawing/2014/main" id="{8BE734F0-2DDD-AF70-F13D-F9E4C1929411}"/>
              </a:ext>
            </a:extLst>
          </p:cNvPr>
          <p:cNvSpPr>
            <a:spLocks noGrp="1"/>
          </p:cNvSpPr>
          <p:nvPr>
            <p:ph type="body" sz="quarter" idx="11"/>
          </p:nvPr>
        </p:nvSpPr>
        <p:spPr>
          <a:xfrm>
            <a:off x="594360" y="4549552"/>
            <a:ext cx="9886950" cy="1988408"/>
          </a:xfrm>
        </p:spPr>
        <p:txBody>
          <a:bodyPr/>
          <a:lstStyle/>
          <a:p>
            <a:r>
              <a:rPr lang="en-US" dirty="0">
                <a:solidFill>
                  <a:schemeClr val="tx2">
                    <a:lumMod val="50000"/>
                  </a:schemeClr>
                </a:solidFill>
              </a:rPr>
              <a:t>Gordon Elliott Williams</a:t>
            </a:r>
          </a:p>
          <a:p>
            <a:pPr algn="l">
              <a:buNone/>
            </a:pPr>
            <a:r>
              <a:rPr lang="en-US" i="0" dirty="0">
                <a:solidFill>
                  <a:schemeClr val="tx2">
                    <a:lumMod val="50000"/>
                  </a:schemeClr>
                </a:solidFill>
                <a:effectLst/>
              </a:rPr>
              <a:t>Unit 2: Strategies for Customer Acquisition and Retention</a:t>
            </a:r>
          </a:p>
          <a:p>
            <a:pPr>
              <a:buNone/>
            </a:pPr>
            <a:r>
              <a:rPr lang="en-US" i="0" dirty="0">
                <a:solidFill>
                  <a:schemeClr val="tx2">
                    <a:lumMod val="50000"/>
                  </a:schemeClr>
                </a:solidFill>
                <a:effectLst/>
              </a:rPr>
              <a:t>BIA540-30 Customer Relationship Management</a:t>
            </a:r>
          </a:p>
          <a:p>
            <a:pPr>
              <a:buNone/>
            </a:pPr>
            <a:r>
              <a:rPr lang="en-US" dirty="0">
                <a:solidFill>
                  <a:schemeClr val="tx2">
                    <a:lumMod val="50000"/>
                  </a:schemeClr>
                </a:solidFill>
              </a:rPr>
              <a:t>Dr. Mike Saxton</a:t>
            </a:r>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3.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{98F22C99-CE2B-4C53-9863-5D24C04839C2}tf78853419_win32</Template>
  <TotalTime>765</TotalTime>
  <Words>925</Words>
  <Application>Microsoft Office PowerPoint</Application>
  <PresentationFormat>Widescreen</PresentationFormat>
  <Paragraphs>47</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Franklin Gothic Book</vt:lpstr>
      <vt:lpstr>Franklin Gothic Demi</vt:lpstr>
      <vt:lpstr>Times New Roman</vt:lpstr>
      <vt:lpstr>Custom</vt:lpstr>
      <vt:lpstr>Strategies for Customer Acquisition and Retention</vt:lpstr>
      <vt:lpstr>Agenda</vt:lpstr>
      <vt:lpstr>PowerPoint Presentation</vt:lpstr>
      <vt:lpstr>A Business Analyst would emphasize data-driven approaches, analyzing demographic trends and regional data to identify potential recruits.  </vt:lpstr>
      <vt:lpstr>CRM systems play a crucial role in managing these interactions, tracking leads, and segmenting audiences for personalized messaging. For example, a CRM could record interactions from online inquiries, career fairs, and recruiter contacts, allowing for tailored follow-ups based on individual interests and qualifications. (https://ascendix.com/blog/who-uses-crm/).</vt:lpstr>
      <vt:lpstr>PowerPoint Presentation</vt:lpstr>
      <vt:lpstr>Customer conversion, in the Army's context, is the process of guiding recruits through the enlistment process. This includes rigorous physical and aptitude testing, background checks, and detailed interviews. A CRM system is essential for managing this complex workflow, ensuring timely communication and tracking each recruit's progress. Business Analysts would use CRM data to identify bottlenecks in the process, such as delays in processing paperwork or scheduling appointments, and recommend process improvements to streamline enlistment (A Midlevel Manager’s Guide to the GCSS-Army Conversion, 2018).  .</vt:lpstr>
      <vt:lpstr>Reporting functionalities within the CRM would provide insights into conversion rates at each stage, highlighting areas where additional resources or support may be needed. For instance, a report could reveal that a significant number of recruits drop out during the medical screening phase, prompting the Army to review and potentially simplify the process (Ingram, 2024). </vt:lpstr>
      <vt:lpstr>PowerPoint Presentation</vt:lpstr>
      <vt:lpstr>PowerPoint Presentation</vt:lpstr>
      <vt:lpstr>Reducing customer churn, or soldier attrition, involves addressing the root causes of dissatisfaction and implementing proactive retention strategies. Business Analysts would delve into exit interview data and CRM records to identify patterns and trends that contribute to attrition. For example, analysis might reveal that a significant number of soldiers leave after their first term due to limited career advancement opportunities or family-related issues. </vt:lpstr>
      <vt:lpstr>The Army can then develop targeted programs, such as mentorship initiatives or flexible deployment options, to address these concerns. CRM systems can be used to track the effectiveness of these programs and make adjustments as needed. </vt:lpstr>
      <vt:lpstr>By continuously monitoring and analyzing retention data, the Army can refine its strategies and create a culture of support that fosters long-term commitment. This data driven approach will help the Army to keep its best soldiers, and to improve the overall quality of the force.</vt:lpstr>
      <vt:lpstr>References </vt:lpstr>
      <vt:lpstr>Thank you for viewing my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Gordon Williams</dc:creator>
  <cp:lastModifiedBy>Gordon Williams</cp:lastModifiedBy>
  <cp:revision>2</cp:revision>
  <dcterms:created xsi:type="dcterms:W3CDTF">2025-03-16T14:58:38Z</dcterms:created>
  <dcterms:modified xsi:type="dcterms:W3CDTF">2025-03-17T03:43:55Z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